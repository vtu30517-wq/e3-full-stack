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Default Extension="jpg" ContentType="image/jpg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  <p:sldId id="391" r:id="rId141"/>
    <p:sldId id="392" r:id="rId142"/>
    <p:sldId id="393" r:id="rId143"/>
    <p:sldId id="394" r:id="rId144"/>
    <p:sldId id="395" r:id="rId145"/>
    <p:sldId id="396" r:id="rId146"/>
    <p:sldId id="397" r:id="rId147"/>
    <p:sldId id="398" r:id="rId148"/>
    <p:sldId id="399" r:id="rId149"/>
    <p:sldId id="400" r:id="rId150"/>
    <p:sldId id="401" r:id="rId151"/>
    <p:sldId id="402" r:id="rId152"/>
    <p:sldId id="403" r:id="rId153"/>
    <p:sldId id="404" r:id="rId154"/>
    <p:sldId id="405" r:id="rId155"/>
    <p:sldId id="406" r:id="rId156"/>
    <p:sldId id="407" r:id="rId157"/>
    <p:sldId id="408" r:id="rId158"/>
    <p:sldId id="409" r:id="rId159"/>
    <p:sldId id="410" r:id="rId160"/>
    <p:sldId id="411" r:id="rId161"/>
    <p:sldId id="412" r:id="rId162"/>
    <p:sldId id="413" r:id="rId163"/>
    <p:sldId id="414" r:id="rId164"/>
    <p:sldId id="415" r:id="rId165"/>
    <p:sldId id="416" r:id="rId166"/>
    <p:sldId id="417" r:id="rId167"/>
    <p:sldId id="418" r:id="rId168"/>
    <p:sldId id="419" r:id="rId169"/>
    <p:sldId id="420" r:id="rId170"/>
    <p:sldId id="421" r:id="rId171"/>
    <p:sldId id="422" r:id="rId172"/>
    <p:sldId id="423" r:id="rId173"/>
    <p:sldId id="424" r:id="rId174"/>
    <p:sldId id="425" r:id="rId175"/>
    <p:sldId id="426" r:id="rId176"/>
    <p:sldId id="427" r:id="rId177"/>
    <p:sldId id="428" r:id="rId178"/>
    <p:sldId id="429" r:id="rId179"/>
    <p:sldId id="430" r:id="rId180"/>
    <p:sldId id="431" r:id="rId181"/>
    <p:sldId id="432" r:id="rId182"/>
    <p:sldId id="433" r:id="rId183"/>
    <p:sldId id="434" r:id="rId184"/>
    <p:sldId id="435" r:id="rId185"/>
    <p:sldId id="436" r:id="rId186"/>
    <p:sldId id="437" r:id="rId187"/>
  </p:sldIdLst>
  <p:sldSz cx="7772400" cy="10058400"/>
  <p:notesSz cx="77724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Relationship Id="rId94" Type="http://schemas.openxmlformats.org/officeDocument/2006/relationships/slide" Target="slides/slide89.xml"/><Relationship Id="rId95" Type="http://schemas.openxmlformats.org/officeDocument/2006/relationships/slide" Target="slides/slide90.xml"/><Relationship Id="rId96" Type="http://schemas.openxmlformats.org/officeDocument/2006/relationships/slide" Target="slides/slide91.xml"/><Relationship Id="rId97" Type="http://schemas.openxmlformats.org/officeDocument/2006/relationships/slide" Target="slides/slide92.xml"/><Relationship Id="rId98" Type="http://schemas.openxmlformats.org/officeDocument/2006/relationships/slide" Target="slides/slide93.xml"/><Relationship Id="rId99" Type="http://schemas.openxmlformats.org/officeDocument/2006/relationships/slide" Target="slides/slide94.xml"/><Relationship Id="rId100" Type="http://schemas.openxmlformats.org/officeDocument/2006/relationships/slide" Target="slides/slide95.xml"/><Relationship Id="rId101" Type="http://schemas.openxmlformats.org/officeDocument/2006/relationships/slide" Target="slides/slide96.xml"/><Relationship Id="rId102" Type="http://schemas.openxmlformats.org/officeDocument/2006/relationships/slide" Target="slides/slide97.xml"/><Relationship Id="rId103" Type="http://schemas.openxmlformats.org/officeDocument/2006/relationships/slide" Target="slides/slide98.xml"/><Relationship Id="rId104" Type="http://schemas.openxmlformats.org/officeDocument/2006/relationships/slide" Target="slides/slide99.xml"/><Relationship Id="rId105" Type="http://schemas.openxmlformats.org/officeDocument/2006/relationships/slide" Target="slides/slide100.xml"/><Relationship Id="rId106" Type="http://schemas.openxmlformats.org/officeDocument/2006/relationships/slide" Target="slides/slide101.xml"/><Relationship Id="rId107" Type="http://schemas.openxmlformats.org/officeDocument/2006/relationships/slide" Target="slides/slide102.xml"/><Relationship Id="rId108" Type="http://schemas.openxmlformats.org/officeDocument/2006/relationships/slide" Target="slides/slide103.xml"/><Relationship Id="rId109" Type="http://schemas.openxmlformats.org/officeDocument/2006/relationships/slide" Target="slides/slide104.xml"/><Relationship Id="rId110" Type="http://schemas.openxmlformats.org/officeDocument/2006/relationships/slide" Target="slides/slide105.xml"/><Relationship Id="rId111" Type="http://schemas.openxmlformats.org/officeDocument/2006/relationships/slide" Target="slides/slide106.xml"/><Relationship Id="rId112" Type="http://schemas.openxmlformats.org/officeDocument/2006/relationships/slide" Target="slides/slide107.xml"/><Relationship Id="rId113" Type="http://schemas.openxmlformats.org/officeDocument/2006/relationships/slide" Target="slides/slide108.xml"/><Relationship Id="rId114" Type="http://schemas.openxmlformats.org/officeDocument/2006/relationships/slide" Target="slides/slide109.xml"/><Relationship Id="rId115" Type="http://schemas.openxmlformats.org/officeDocument/2006/relationships/slide" Target="slides/slide110.xml"/><Relationship Id="rId116" Type="http://schemas.openxmlformats.org/officeDocument/2006/relationships/slide" Target="slides/slide111.xml"/><Relationship Id="rId117" Type="http://schemas.openxmlformats.org/officeDocument/2006/relationships/slide" Target="slides/slide112.xml"/><Relationship Id="rId118" Type="http://schemas.openxmlformats.org/officeDocument/2006/relationships/slide" Target="slides/slide113.xml"/><Relationship Id="rId119" Type="http://schemas.openxmlformats.org/officeDocument/2006/relationships/slide" Target="slides/slide114.xml"/><Relationship Id="rId120" Type="http://schemas.openxmlformats.org/officeDocument/2006/relationships/slide" Target="slides/slide115.xml"/><Relationship Id="rId121" Type="http://schemas.openxmlformats.org/officeDocument/2006/relationships/slide" Target="slides/slide116.xml"/><Relationship Id="rId122" Type="http://schemas.openxmlformats.org/officeDocument/2006/relationships/slide" Target="slides/slide117.xml"/><Relationship Id="rId123" Type="http://schemas.openxmlformats.org/officeDocument/2006/relationships/slide" Target="slides/slide118.xml"/><Relationship Id="rId124" Type="http://schemas.openxmlformats.org/officeDocument/2006/relationships/slide" Target="slides/slide119.xml"/><Relationship Id="rId125" Type="http://schemas.openxmlformats.org/officeDocument/2006/relationships/slide" Target="slides/slide120.xml"/><Relationship Id="rId126" Type="http://schemas.openxmlformats.org/officeDocument/2006/relationships/slide" Target="slides/slide121.xml"/><Relationship Id="rId127" Type="http://schemas.openxmlformats.org/officeDocument/2006/relationships/slide" Target="slides/slide122.xml"/><Relationship Id="rId128" Type="http://schemas.openxmlformats.org/officeDocument/2006/relationships/slide" Target="slides/slide123.xml"/><Relationship Id="rId129" Type="http://schemas.openxmlformats.org/officeDocument/2006/relationships/slide" Target="slides/slide124.xml"/><Relationship Id="rId130" Type="http://schemas.openxmlformats.org/officeDocument/2006/relationships/slide" Target="slides/slide125.xml"/><Relationship Id="rId131" Type="http://schemas.openxmlformats.org/officeDocument/2006/relationships/slide" Target="slides/slide126.xml"/><Relationship Id="rId132" Type="http://schemas.openxmlformats.org/officeDocument/2006/relationships/slide" Target="slides/slide127.xml"/><Relationship Id="rId133" Type="http://schemas.openxmlformats.org/officeDocument/2006/relationships/slide" Target="slides/slide128.xml"/><Relationship Id="rId134" Type="http://schemas.openxmlformats.org/officeDocument/2006/relationships/slide" Target="slides/slide129.xml"/><Relationship Id="rId135" Type="http://schemas.openxmlformats.org/officeDocument/2006/relationships/slide" Target="slides/slide130.xml"/><Relationship Id="rId136" Type="http://schemas.openxmlformats.org/officeDocument/2006/relationships/slide" Target="slides/slide131.xml"/><Relationship Id="rId137" Type="http://schemas.openxmlformats.org/officeDocument/2006/relationships/slide" Target="slides/slide132.xml"/><Relationship Id="rId138" Type="http://schemas.openxmlformats.org/officeDocument/2006/relationships/slide" Target="slides/slide133.xml"/><Relationship Id="rId139" Type="http://schemas.openxmlformats.org/officeDocument/2006/relationships/slide" Target="slides/slide134.xml"/><Relationship Id="rId140" Type="http://schemas.openxmlformats.org/officeDocument/2006/relationships/slide" Target="slides/slide135.xml"/><Relationship Id="rId141" Type="http://schemas.openxmlformats.org/officeDocument/2006/relationships/slide" Target="slides/slide136.xml"/><Relationship Id="rId142" Type="http://schemas.openxmlformats.org/officeDocument/2006/relationships/slide" Target="slides/slide137.xml"/><Relationship Id="rId143" Type="http://schemas.openxmlformats.org/officeDocument/2006/relationships/slide" Target="slides/slide138.xml"/><Relationship Id="rId144" Type="http://schemas.openxmlformats.org/officeDocument/2006/relationships/slide" Target="slides/slide139.xml"/><Relationship Id="rId145" Type="http://schemas.openxmlformats.org/officeDocument/2006/relationships/slide" Target="slides/slide140.xml"/><Relationship Id="rId146" Type="http://schemas.openxmlformats.org/officeDocument/2006/relationships/slide" Target="slides/slide141.xml"/><Relationship Id="rId147" Type="http://schemas.openxmlformats.org/officeDocument/2006/relationships/slide" Target="slides/slide142.xml"/><Relationship Id="rId148" Type="http://schemas.openxmlformats.org/officeDocument/2006/relationships/slide" Target="slides/slide143.xml"/><Relationship Id="rId149" Type="http://schemas.openxmlformats.org/officeDocument/2006/relationships/slide" Target="slides/slide144.xml"/><Relationship Id="rId150" Type="http://schemas.openxmlformats.org/officeDocument/2006/relationships/slide" Target="slides/slide145.xml"/><Relationship Id="rId151" Type="http://schemas.openxmlformats.org/officeDocument/2006/relationships/slide" Target="slides/slide146.xml"/><Relationship Id="rId152" Type="http://schemas.openxmlformats.org/officeDocument/2006/relationships/slide" Target="slides/slide147.xml"/><Relationship Id="rId153" Type="http://schemas.openxmlformats.org/officeDocument/2006/relationships/slide" Target="slides/slide148.xml"/><Relationship Id="rId154" Type="http://schemas.openxmlformats.org/officeDocument/2006/relationships/slide" Target="slides/slide149.xml"/><Relationship Id="rId155" Type="http://schemas.openxmlformats.org/officeDocument/2006/relationships/slide" Target="slides/slide150.xml"/><Relationship Id="rId156" Type="http://schemas.openxmlformats.org/officeDocument/2006/relationships/slide" Target="slides/slide151.xml"/><Relationship Id="rId157" Type="http://schemas.openxmlformats.org/officeDocument/2006/relationships/slide" Target="slides/slide152.xml"/><Relationship Id="rId158" Type="http://schemas.openxmlformats.org/officeDocument/2006/relationships/slide" Target="slides/slide153.xml"/><Relationship Id="rId159" Type="http://schemas.openxmlformats.org/officeDocument/2006/relationships/slide" Target="slides/slide154.xml"/><Relationship Id="rId160" Type="http://schemas.openxmlformats.org/officeDocument/2006/relationships/slide" Target="slides/slide155.xml"/><Relationship Id="rId161" Type="http://schemas.openxmlformats.org/officeDocument/2006/relationships/slide" Target="slides/slide156.xml"/><Relationship Id="rId162" Type="http://schemas.openxmlformats.org/officeDocument/2006/relationships/slide" Target="slides/slide157.xml"/><Relationship Id="rId163" Type="http://schemas.openxmlformats.org/officeDocument/2006/relationships/slide" Target="slides/slide158.xml"/><Relationship Id="rId164" Type="http://schemas.openxmlformats.org/officeDocument/2006/relationships/slide" Target="slides/slide159.xml"/><Relationship Id="rId165" Type="http://schemas.openxmlformats.org/officeDocument/2006/relationships/slide" Target="slides/slide160.xml"/><Relationship Id="rId166" Type="http://schemas.openxmlformats.org/officeDocument/2006/relationships/slide" Target="slides/slide161.xml"/><Relationship Id="rId167" Type="http://schemas.openxmlformats.org/officeDocument/2006/relationships/slide" Target="slides/slide162.xml"/><Relationship Id="rId168" Type="http://schemas.openxmlformats.org/officeDocument/2006/relationships/slide" Target="slides/slide163.xml"/><Relationship Id="rId169" Type="http://schemas.openxmlformats.org/officeDocument/2006/relationships/slide" Target="slides/slide164.xml"/><Relationship Id="rId170" Type="http://schemas.openxmlformats.org/officeDocument/2006/relationships/slide" Target="slides/slide165.xml"/><Relationship Id="rId171" Type="http://schemas.openxmlformats.org/officeDocument/2006/relationships/slide" Target="slides/slide166.xml"/><Relationship Id="rId172" Type="http://schemas.openxmlformats.org/officeDocument/2006/relationships/slide" Target="slides/slide167.xml"/><Relationship Id="rId173" Type="http://schemas.openxmlformats.org/officeDocument/2006/relationships/slide" Target="slides/slide168.xml"/><Relationship Id="rId174" Type="http://schemas.openxmlformats.org/officeDocument/2006/relationships/slide" Target="slides/slide169.xml"/><Relationship Id="rId175" Type="http://schemas.openxmlformats.org/officeDocument/2006/relationships/slide" Target="slides/slide170.xml"/><Relationship Id="rId176" Type="http://schemas.openxmlformats.org/officeDocument/2006/relationships/slide" Target="slides/slide171.xml"/><Relationship Id="rId177" Type="http://schemas.openxmlformats.org/officeDocument/2006/relationships/slide" Target="slides/slide172.xml"/><Relationship Id="rId178" Type="http://schemas.openxmlformats.org/officeDocument/2006/relationships/slide" Target="slides/slide173.xml"/><Relationship Id="rId179" Type="http://schemas.openxmlformats.org/officeDocument/2006/relationships/slide" Target="slides/slide174.xml"/><Relationship Id="rId180" Type="http://schemas.openxmlformats.org/officeDocument/2006/relationships/slide" Target="slides/slide175.xml"/><Relationship Id="rId181" Type="http://schemas.openxmlformats.org/officeDocument/2006/relationships/slide" Target="slides/slide176.xml"/><Relationship Id="rId182" Type="http://schemas.openxmlformats.org/officeDocument/2006/relationships/slide" Target="slides/slide177.xml"/><Relationship Id="rId183" Type="http://schemas.openxmlformats.org/officeDocument/2006/relationships/slide" Target="slides/slide178.xml"/><Relationship Id="rId184" Type="http://schemas.openxmlformats.org/officeDocument/2006/relationships/slide" Target="slides/slide179.xml"/><Relationship Id="rId185" Type="http://schemas.openxmlformats.org/officeDocument/2006/relationships/slide" Target="slides/slide180.xml"/><Relationship Id="rId186" Type="http://schemas.openxmlformats.org/officeDocument/2006/relationships/slide" Target="slides/slide181.xml"/><Relationship Id="rId187" Type="http://schemas.openxmlformats.org/officeDocument/2006/relationships/slide" Target="slides/slide18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32447" y="3118104"/>
            <a:ext cx="6034405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64895" y="5632704"/>
            <a:ext cx="496951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54965" y="2313432"/>
            <a:ext cx="3088195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656139" y="2313432"/>
            <a:ext cx="3088195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4965" y="402336"/>
            <a:ext cx="638937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54965" y="2313432"/>
            <a:ext cx="638937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413762" y="9354312"/>
            <a:ext cx="2271776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54965" y="9354312"/>
            <a:ext cx="1632839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111496" y="9354312"/>
            <a:ext cx="1632839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localhost:3000/addStudent" TargetMode="Externa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localhost:3000/" TargetMode="Externa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localhost:3000/addStudent" TargetMode="Externa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localhost:3000/" TargetMode="Externa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localhost:3000/" TargetMode="External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localhost:3000/" TargetMode="External"/><Relationship Id="rId3" Type="http://schemas.openxmlformats.org/officeDocument/2006/relationships/image" Target="../media/image9.jpg"/></Relationships>
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
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localhost:3000/" TargetMode="External"/><Relationship Id="rId3" Type="http://schemas.openxmlformats.org/officeDocument/2006/relationships/image" Target="../media/image11.jpg"/></Relationships>

</file>

<file path=ppt/slides/_rels/slide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localhost:3000/" TargetMode="External"/></Relationships>

</file>

<file path=ppt/slides/_rels/slide8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

</file>

<file path=ppt/slides/_rels/slide8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localhost:3000/submit" TargetMode="External"/></Relationships>

</file>

<file path=ppt/slides/_rels/slide9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localhost:3000/" TargetMode="External"/></Relationships>

</file>

<file path=ppt/slides/_rels/slide9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

</file>

<file path=ppt/slides/_rels/slide9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localhost:3000/add" TargetMode="External"/><Relationship Id="rId3" Type="http://schemas.openxmlformats.org/officeDocument/2006/relationships/hyperlink" Target="http://localhost:3000/all" TargetMode="External"/></Relationships>

</file>

<file path=ppt/slides/_rels/slide9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localhost:3000/" TargetMode="External"/></Relationships>

</file>

<file path=ppt/slides/_rels/slide9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/Relationships>

</file>

<file path=ppt/slides/_rels/slide9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localhost:3000/" TargetMode="External"/></Relationships>

</file>

<file path=ppt/slides/_rels/slide10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/Relationships>

</file>

<file path=ppt/slides/_rels/slide10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localhost:3000/" TargetMode="External"/></Relationships>

</file>

<file path=ppt/slides/_rels/slide1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jpg"/></Relationships>

</file>

<file path=ppt/slides/_rels/slide1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localhost:3000/" TargetMode="External"/><Relationship Id="rId3" Type="http://schemas.openxmlformats.org/officeDocument/2006/relationships/image" Target="../media/image17.jpg"/></Relationships>

</file>

<file path=ppt/slides/_rels/slide1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localhost:3000/products" TargetMode="External"/></Relationships>

</file>

<file path=ppt/slides/_rels/slide1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jpg"/></Relationships>

</file>

<file path=ppt/slides/_rels/slide1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localhost:3000/products" TargetMode="External"/></Relationships>

</file>

<file path=ppt/slides/_rels/slide1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jpg"/></Relationships>

</file>

<file path=ppt/slides/_rels/slide1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localhost:3001/products" TargetMode="External"/></Relationships>

</file>

<file path=ppt/slides/_rels/slide1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localhost:3002/orders" TargetMode="External"/></Relationships>

</file>

<file path=ppt/slides/_rels/slide1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localhost:3001/" TargetMode="External"/><Relationship Id="rId3" Type="http://schemas.openxmlformats.org/officeDocument/2006/relationships/hyperlink" Target="http://localhost:3001/products" TargetMode="External"/><Relationship Id="rId4" Type="http://schemas.openxmlformats.org/officeDocument/2006/relationships/image" Target="../media/image20.jpg"/></Relationships>

</file>

<file path=ppt/slides/_rels/slide1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jpg"/></Relationships>

</file>

<file path=ppt/slides/_rels/slide1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localhost:4000/" TargetMode="External"/></Relationships>

</file>

<file path=ppt/slides/_rels/slide1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/Relationships>

</file>

<file path=ppt/slides/_rels/slide1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localhost:3001/" TargetMode="External"/><Relationship Id="rId3" Type="http://schemas.openxmlformats.org/officeDocument/2006/relationships/hyperlink" Target="http://localhost:3002/" TargetMode="External"/><Relationship Id="rId4" Type="http://schemas.openxmlformats.org/officeDocument/2006/relationships/hyperlink" Target="http://localhost:5000/products" TargetMode="External"/></Relationships>

</file>

<file path=ppt/slides/_rels/slide1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/Relationships>

</file>

<file path=ppt/slides/_rels/slide1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localhost:3001/products" TargetMode="External"/></Relationships>

</file>

<file path=ppt/slides/_rels/slide1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localhost:3001/products" TargetMode="External"/><Relationship Id="rId3" Type="http://schemas.openxmlformats.org/officeDocument/2006/relationships/hyperlink" Target="http://localhost:3002/orders" TargetMode="External"/></Relationships>

</file>

<file path=ppt/slides/_rels/slide1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jpg"/><Relationship Id="rId3" Type="http://schemas.openxmlformats.org/officeDocument/2006/relationships/image" Target="../media/image25.jpg"/></Relationships>

</file>

<file path=ppt/slides/_rels/slide1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jpg"/></Relationships>

</file>

<file path=ppt/slides/_rels/slide1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localhost:3000/" TargetMode="External"/></Relationships>

</file>

<file path=ppt/slides/_rels/slide1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jpg"/></Relationships>

</file>

<file path=ppt/slides/_rels/slide1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localhost:3000/" TargetMode="External"/></Relationships>

</file>

<file path=ppt/slides/_rels/slide1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jpg"/></Relationships>

</file>

<file path=ppt/slides/_rels/slide1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localhost:3000/" TargetMode="External"/></Relationships>

</file>

<file path=ppt/slides/_rels/slide1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jpg"/></Relationships>

</file>

<file path=ppt/slides/_rels/slide1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localhost:3000/" TargetMode="External"/></Relationships>

</file>

<file path=ppt/slides/_rels/slide1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jpg"/></Relationships>

</file>

<file path=ppt/slides/_rels/slide1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.jpg"/><Relationship Id="rId3" Type="http://schemas.openxmlformats.org/officeDocument/2006/relationships/image" Target="../media/image32.jpg"/></Relationships>

</file>

<file path=ppt/slides/_rels/slide1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localhost:3000/" TargetMode="External"/></Relationships>

</file>

<file path=ppt/slides/_rels/slide1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3.jpg"/></Relationships>

</file>

<file path=ppt/slides/_rels/slide1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localhost:3000/" TargetMode="External"/></Relationships>

</file>

<file path=ppt/slides/_rels/slide18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.jpg"/></Relationships>

</file>

<file path=ppt/slides/_rels/slide18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00849" y="1867449"/>
            <a:ext cx="5850255" cy="535876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algn="ctr" marR="163830">
              <a:lnSpc>
                <a:spcPct val="100000"/>
              </a:lnSpc>
              <a:spcBef>
                <a:spcPts val="484"/>
              </a:spcBef>
            </a:pPr>
            <a:r>
              <a:rPr dirty="0" sz="1700" b="1">
                <a:latin typeface="Times New Roman"/>
                <a:cs typeface="Times New Roman"/>
              </a:rPr>
              <a:t>School</a:t>
            </a:r>
            <a:r>
              <a:rPr dirty="0" sz="1700" spc="-40" b="1">
                <a:latin typeface="Times New Roman"/>
                <a:cs typeface="Times New Roman"/>
              </a:rPr>
              <a:t> </a:t>
            </a:r>
            <a:r>
              <a:rPr dirty="0" sz="1700" b="1">
                <a:latin typeface="Times New Roman"/>
                <a:cs typeface="Times New Roman"/>
              </a:rPr>
              <a:t>of</a:t>
            </a:r>
            <a:r>
              <a:rPr dirty="0" sz="1700" spc="-25" b="1">
                <a:latin typeface="Times New Roman"/>
                <a:cs typeface="Times New Roman"/>
              </a:rPr>
              <a:t> </a:t>
            </a:r>
            <a:r>
              <a:rPr dirty="0" sz="1700" spc="-10" b="1">
                <a:latin typeface="Times New Roman"/>
                <a:cs typeface="Times New Roman"/>
              </a:rPr>
              <a:t>Computing</a:t>
            </a:r>
            <a:endParaRPr sz="1700">
              <a:latin typeface="Times New Roman"/>
              <a:cs typeface="Times New Roman"/>
            </a:endParaRPr>
          </a:p>
          <a:p>
            <a:pPr algn="ctr" marR="169545">
              <a:lnSpc>
                <a:spcPct val="100000"/>
              </a:lnSpc>
              <a:spcBef>
                <a:spcPts val="470"/>
              </a:spcBef>
            </a:pPr>
            <a:r>
              <a:rPr dirty="0" sz="1850" b="1">
                <a:latin typeface="Times New Roman"/>
                <a:cs typeface="Times New Roman"/>
              </a:rPr>
              <a:t>Department</a:t>
            </a:r>
            <a:r>
              <a:rPr dirty="0" sz="1850" spc="60" b="1">
                <a:latin typeface="Times New Roman"/>
                <a:cs typeface="Times New Roman"/>
              </a:rPr>
              <a:t> </a:t>
            </a:r>
            <a:r>
              <a:rPr dirty="0" sz="1850" b="1">
                <a:latin typeface="Times New Roman"/>
                <a:cs typeface="Times New Roman"/>
              </a:rPr>
              <a:t>of</a:t>
            </a:r>
            <a:r>
              <a:rPr dirty="0" sz="1850" spc="70" b="1">
                <a:latin typeface="Times New Roman"/>
                <a:cs typeface="Times New Roman"/>
              </a:rPr>
              <a:t> </a:t>
            </a:r>
            <a:r>
              <a:rPr dirty="0" sz="1850" b="1">
                <a:latin typeface="Times New Roman"/>
                <a:cs typeface="Times New Roman"/>
              </a:rPr>
              <a:t>Computer</a:t>
            </a:r>
            <a:r>
              <a:rPr dirty="0" sz="1850" spc="10" b="1">
                <a:latin typeface="Times New Roman"/>
                <a:cs typeface="Times New Roman"/>
              </a:rPr>
              <a:t> </a:t>
            </a:r>
            <a:r>
              <a:rPr dirty="0" sz="1850" b="1">
                <a:latin typeface="Times New Roman"/>
                <a:cs typeface="Times New Roman"/>
              </a:rPr>
              <a:t>Science</a:t>
            </a:r>
            <a:r>
              <a:rPr dirty="0" sz="1850" spc="70" b="1">
                <a:latin typeface="Times New Roman"/>
                <a:cs typeface="Times New Roman"/>
              </a:rPr>
              <a:t> </a:t>
            </a:r>
            <a:r>
              <a:rPr dirty="0" sz="1850" b="1">
                <a:latin typeface="Times New Roman"/>
                <a:cs typeface="Times New Roman"/>
              </a:rPr>
              <a:t>and</a:t>
            </a:r>
            <a:r>
              <a:rPr dirty="0" sz="1850" spc="65" b="1">
                <a:latin typeface="Times New Roman"/>
                <a:cs typeface="Times New Roman"/>
              </a:rPr>
              <a:t> </a:t>
            </a:r>
            <a:r>
              <a:rPr dirty="0" sz="1850" spc="-10" b="1">
                <a:latin typeface="Times New Roman"/>
                <a:cs typeface="Times New Roman"/>
              </a:rPr>
              <a:t>Engineering</a:t>
            </a:r>
            <a:endParaRPr sz="1850">
              <a:latin typeface="Times New Roman"/>
              <a:cs typeface="Times New Roman"/>
            </a:endParaRPr>
          </a:p>
          <a:p>
            <a:pPr marL="363220">
              <a:lnSpc>
                <a:spcPct val="100000"/>
              </a:lnSpc>
              <a:spcBef>
                <a:spcPts val="1585"/>
              </a:spcBef>
            </a:pPr>
            <a:r>
              <a:rPr dirty="0" sz="1700" spc="-20" b="1">
                <a:latin typeface="Times New Roman"/>
                <a:cs typeface="Times New Roman"/>
              </a:rPr>
              <a:t>ACADEMIC</a:t>
            </a:r>
            <a:r>
              <a:rPr dirty="0" sz="1700" spc="-90" b="1">
                <a:latin typeface="Times New Roman"/>
                <a:cs typeface="Times New Roman"/>
              </a:rPr>
              <a:t> </a:t>
            </a:r>
            <a:r>
              <a:rPr dirty="0" sz="1700" b="1">
                <a:latin typeface="Times New Roman"/>
                <a:cs typeface="Times New Roman"/>
              </a:rPr>
              <a:t>YEAR</a:t>
            </a:r>
            <a:r>
              <a:rPr dirty="0" sz="1700" spc="-25" b="1">
                <a:latin typeface="Times New Roman"/>
                <a:cs typeface="Times New Roman"/>
              </a:rPr>
              <a:t> </a:t>
            </a:r>
            <a:r>
              <a:rPr dirty="0" sz="1700" b="1">
                <a:latin typeface="Times New Roman"/>
                <a:cs typeface="Times New Roman"/>
              </a:rPr>
              <a:t>2025</a:t>
            </a:r>
            <a:r>
              <a:rPr dirty="0" sz="1700" spc="-10" b="1">
                <a:latin typeface="Times New Roman"/>
                <a:cs typeface="Times New Roman"/>
              </a:rPr>
              <a:t> </a:t>
            </a:r>
            <a:r>
              <a:rPr dirty="0" sz="1700" b="1">
                <a:latin typeface="Times New Roman"/>
                <a:cs typeface="Times New Roman"/>
              </a:rPr>
              <a:t>–</a:t>
            </a:r>
            <a:r>
              <a:rPr dirty="0" sz="1700" spc="-20" b="1">
                <a:latin typeface="Times New Roman"/>
                <a:cs typeface="Times New Roman"/>
              </a:rPr>
              <a:t> </a:t>
            </a:r>
            <a:r>
              <a:rPr dirty="0" sz="1700" b="1">
                <a:latin typeface="Times New Roman"/>
                <a:cs typeface="Times New Roman"/>
              </a:rPr>
              <a:t>26</a:t>
            </a:r>
            <a:r>
              <a:rPr dirty="0" sz="1700" spc="-25" b="1">
                <a:latin typeface="Times New Roman"/>
                <a:cs typeface="Times New Roman"/>
              </a:rPr>
              <a:t> </a:t>
            </a:r>
            <a:r>
              <a:rPr dirty="0" sz="1700" spc="-10" b="1">
                <a:latin typeface="Times New Roman"/>
                <a:cs typeface="Times New Roman"/>
              </a:rPr>
              <a:t>(Winter</a:t>
            </a:r>
            <a:r>
              <a:rPr dirty="0" sz="1700" spc="-45" b="1">
                <a:latin typeface="Times New Roman"/>
                <a:cs typeface="Times New Roman"/>
              </a:rPr>
              <a:t> </a:t>
            </a:r>
            <a:r>
              <a:rPr dirty="0" sz="1700" spc="-10" b="1">
                <a:latin typeface="Times New Roman"/>
                <a:cs typeface="Times New Roman"/>
              </a:rPr>
              <a:t>Semester)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1700">
              <a:latin typeface="Times New Roman"/>
              <a:cs typeface="Times New Roman"/>
            </a:endParaRPr>
          </a:p>
          <a:p>
            <a:pPr marL="1176655">
              <a:lnSpc>
                <a:spcPct val="100000"/>
              </a:lnSpc>
            </a:pPr>
            <a:r>
              <a:rPr dirty="0" sz="1850" b="1">
                <a:latin typeface="Times New Roman"/>
                <a:cs typeface="Times New Roman"/>
              </a:rPr>
              <a:t>BONAFIDE</a:t>
            </a:r>
            <a:r>
              <a:rPr dirty="0" sz="1850" spc="75" b="1">
                <a:latin typeface="Times New Roman"/>
                <a:cs typeface="Times New Roman"/>
              </a:rPr>
              <a:t> </a:t>
            </a:r>
            <a:r>
              <a:rPr dirty="0" sz="1850" spc="-10" b="1">
                <a:latin typeface="Times New Roman"/>
                <a:cs typeface="Times New Roman"/>
              </a:rPr>
              <a:t>CERTIFICATE</a:t>
            </a:r>
            <a:endParaRPr sz="1850">
              <a:latin typeface="Times New Roman"/>
              <a:cs typeface="Times New Roman"/>
            </a:endParaRPr>
          </a:p>
          <a:p>
            <a:pPr marL="201295">
              <a:lnSpc>
                <a:spcPct val="100000"/>
              </a:lnSpc>
              <a:spcBef>
                <a:spcPts val="1914"/>
              </a:spcBef>
            </a:pPr>
            <a:r>
              <a:rPr dirty="0" sz="1300" b="1">
                <a:latin typeface="Times New Roman"/>
                <a:cs typeface="Times New Roman"/>
              </a:rPr>
              <a:t>NAME:</a:t>
            </a:r>
            <a:r>
              <a:rPr dirty="0" sz="1300" spc="350" b="1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Arava</a:t>
            </a:r>
            <a:r>
              <a:rPr dirty="0" sz="1300" spc="20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Saisnikitha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1300">
              <a:latin typeface="Times New Roman"/>
              <a:cs typeface="Times New Roman"/>
            </a:endParaRPr>
          </a:p>
          <a:p>
            <a:pPr marL="201295">
              <a:lnSpc>
                <a:spcPct val="100000"/>
              </a:lnSpc>
            </a:pPr>
            <a:r>
              <a:rPr dirty="0" sz="1300" b="1">
                <a:latin typeface="Times New Roman"/>
                <a:cs typeface="Times New Roman"/>
              </a:rPr>
              <a:t>VTU</a:t>
            </a:r>
            <a:r>
              <a:rPr dirty="0" sz="1300" spc="5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NO:</a:t>
            </a:r>
            <a:r>
              <a:rPr dirty="0" sz="1300" spc="15" b="1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VTU28387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20"/>
              </a:spcBef>
            </a:pPr>
            <a:endParaRPr sz="1300">
              <a:latin typeface="Times New Roman"/>
              <a:cs typeface="Times New Roman"/>
            </a:endParaRPr>
          </a:p>
          <a:p>
            <a:pPr marL="201295">
              <a:lnSpc>
                <a:spcPct val="100000"/>
              </a:lnSpc>
            </a:pPr>
            <a:r>
              <a:rPr dirty="0" sz="1300" b="1">
                <a:latin typeface="Times New Roman"/>
                <a:cs typeface="Times New Roman"/>
              </a:rPr>
              <a:t>REG.NO:</a:t>
            </a:r>
            <a:r>
              <a:rPr dirty="0" sz="1300" spc="20" b="1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23UECS2023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1300">
              <a:latin typeface="Times New Roman"/>
              <a:cs typeface="Times New Roman"/>
            </a:endParaRPr>
          </a:p>
          <a:p>
            <a:pPr marL="201295">
              <a:lnSpc>
                <a:spcPct val="100000"/>
              </a:lnSpc>
              <a:spcBef>
                <a:spcPts val="5"/>
              </a:spcBef>
            </a:pPr>
            <a:r>
              <a:rPr dirty="0" sz="1300" b="1">
                <a:latin typeface="Times New Roman"/>
                <a:cs typeface="Times New Roman"/>
              </a:rPr>
              <a:t>BRANCH:</a:t>
            </a:r>
            <a:r>
              <a:rPr dirty="0" sz="1300" spc="15" b="1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COMPUTER</a:t>
            </a:r>
            <a:r>
              <a:rPr dirty="0" sz="1300" spc="1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SCIENCE</a:t>
            </a:r>
            <a:r>
              <a:rPr dirty="0" sz="1300" spc="1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&amp;</a:t>
            </a:r>
            <a:r>
              <a:rPr dirty="0" sz="1300" spc="10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ENGINEERING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sz="1300">
              <a:latin typeface="Times New Roman"/>
              <a:cs typeface="Times New Roman"/>
            </a:endParaRPr>
          </a:p>
          <a:p>
            <a:pPr marL="201295">
              <a:lnSpc>
                <a:spcPct val="100000"/>
              </a:lnSpc>
              <a:spcBef>
                <a:spcPts val="5"/>
              </a:spcBef>
            </a:pPr>
            <a:r>
              <a:rPr dirty="0" sz="1300" b="1">
                <a:latin typeface="Times New Roman"/>
                <a:cs typeface="Times New Roman"/>
              </a:rPr>
              <a:t>YEAR/SEM:</a:t>
            </a:r>
            <a:r>
              <a:rPr dirty="0" sz="1300" spc="20" b="1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III/VI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1300">
              <a:latin typeface="Times New Roman"/>
              <a:cs typeface="Times New Roman"/>
            </a:endParaRPr>
          </a:p>
          <a:p>
            <a:pPr marL="201295">
              <a:lnSpc>
                <a:spcPct val="100000"/>
              </a:lnSpc>
              <a:spcBef>
                <a:spcPts val="5"/>
              </a:spcBef>
            </a:pPr>
            <a:r>
              <a:rPr dirty="0" sz="1300" b="1">
                <a:latin typeface="Times New Roman"/>
                <a:cs typeface="Times New Roman"/>
              </a:rPr>
              <a:t>SLOT:</a:t>
            </a:r>
            <a:r>
              <a:rPr dirty="0" sz="1300" spc="260" b="1">
                <a:latin typeface="Times New Roman"/>
                <a:cs typeface="Times New Roman"/>
              </a:rPr>
              <a:t> </a:t>
            </a:r>
            <a:r>
              <a:rPr dirty="0" sz="1300" spc="-25">
                <a:latin typeface="Times New Roman"/>
                <a:cs typeface="Times New Roman"/>
              </a:rPr>
              <a:t>E3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 marR="5080">
              <a:lnSpc>
                <a:spcPct val="143800"/>
              </a:lnSpc>
              <a:spcBef>
                <a:spcPts val="5"/>
              </a:spcBef>
            </a:pPr>
            <a:r>
              <a:rPr dirty="0" sz="1300">
                <a:latin typeface="Times New Roman"/>
                <a:cs typeface="Times New Roman"/>
              </a:rPr>
              <a:t>Certified</a:t>
            </a:r>
            <a:r>
              <a:rPr dirty="0" sz="1300" spc="4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that</a:t>
            </a:r>
            <a:r>
              <a:rPr dirty="0" sz="1300" spc="44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this</a:t>
            </a:r>
            <a:r>
              <a:rPr dirty="0" sz="1300" spc="434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is</a:t>
            </a:r>
            <a:r>
              <a:rPr dirty="0" sz="1300" spc="44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</a:t>
            </a:r>
            <a:r>
              <a:rPr dirty="0" sz="1300" spc="4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bonafide</a:t>
            </a:r>
            <a:r>
              <a:rPr dirty="0" sz="1300" spc="44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record</a:t>
            </a:r>
            <a:r>
              <a:rPr dirty="0" sz="1300" spc="4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of</a:t>
            </a:r>
            <a:r>
              <a:rPr dirty="0" sz="1300" spc="44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work</a:t>
            </a:r>
            <a:r>
              <a:rPr dirty="0" sz="1300" spc="44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done</a:t>
            </a:r>
            <a:r>
              <a:rPr dirty="0" sz="1300" spc="4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by</a:t>
            </a:r>
            <a:r>
              <a:rPr dirty="0" sz="1300" spc="434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above</a:t>
            </a:r>
            <a:r>
              <a:rPr dirty="0" sz="1300" spc="4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student</a:t>
            </a:r>
            <a:r>
              <a:rPr dirty="0" sz="1300" spc="44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in</a:t>
            </a:r>
            <a:r>
              <a:rPr dirty="0" sz="1300" spc="434">
                <a:latin typeface="Times New Roman"/>
                <a:cs typeface="Times New Roman"/>
              </a:rPr>
              <a:t> </a:t>
            </a:r>
            <a:r>
              <a:rPr dirty="0" sz="1300" spc="-25">
                <a:latin typeface="Times New Roman"/>
                <a:cs typeface="Times New Roman"/>
              </a:rPr>
              <a:t>the </a:t>
            </a:r>
            <a:r>
              <a:rPr dirty="0" sz="1300">
                <a:latin typeface="Times New Roman"/>
                <a:cs typeface="Times New Roman"/>
              </a:rPr>
              <a:t>"</a:t>
            </a:r>
            <a:r>
              <a:rPr dirty="0" sz="1300" b="1">
                <a:latin typeface="Times New Roman"/>
                <a:cs typeface="Times New Roman"/>
              </a:rPr>
              <a:t>10211CS224</a:t>
            </a:r>
            <a:r>
              <a:rPr dirty="0" sz="1300" spc="1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–</a:t>
            </a:r>
            <a:r>
              <a:rPr dirty="0" sz="1300" spc="1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Full</a:t>
            </a:r>
            <a:r>
              <a:rPr dirty="0" sz="1300" spc="-5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Stack</a:t>
            </a:r>
            <a:r>
              <a:rPr dirty="0" sz="1300" spc="-8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Application</a:t>
            </a:r>
            <a:r>
              <a:rPr dirty="0" sz="1300" spc="5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Development</a:t>
            </a:r>
            <a:r>
              <a:rPr dirty="0" sz="1300">
                <a:latin typeface="Times New Roman"/>
                <a:cs typeface="Times New Roman"/>
              </a:rPr>
              <a:t>"</a:t>
            </a:r>
            <a:r>
              <a:rPr dirty="0" sz="1300" spc="-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during</a:t>
            </a:r>
            <a:r>
              <a:rPr dirty="0" sz="1300" spc="-1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the</a:t>
            </a:r>
            <a:r>
              <a:rPr dirty="0" sz="1300" spc="1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year</a:t>
            </a:r>
            <a:r>
              <a:rPr dirty="0" sz="1300" spc="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2025</a:t>
            </a:r>
            <a:r>
              <a:rPr dirty="0" sz="1300" spc="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-</a:t>
            </a:r>
            <a:r>
              <a:rPr dirty="0" sz="1300" spc="-10">
                <a:latin typeface="Times New Roman"/>
                <a:cs typeface="Times New Roman"/>
              </a:rPr>
              <a:t> </a:t>
            </a:r>
            <a:r>
              <a:rPr dirty="0" sz="1300" spc="-25">
                <a:latin typeface="Times New Roman"/>
                <a:cs typeface="Times New Roman"/>
              </a:rPr>
              <a:t>26.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56237" y="7910646"/>
            <a:ext cx="6000750" cy="21145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3937635" algn="l"/>
              </a:tabLst>
            </a:pPr>
            <a:r>
              <a:rPr dirty="0" sz="1200" b="1">
                <a:latin typeface="Times New Roman"/>
                <a:cs typeface="Times New Roman"/>
              </a:rPr>
              <a:t>SIGNATURE</a:t>
            </a:r>
            <a:r>
              <a:rPr dirty="0" sz="1200" spc="-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OF</a:t>
            </a:r>
            <a:r>
              <a:rPr dirty="0" sz="1200" spc="-45" b="1">
                <a:latin typeface="Times New Roman"/>
                <a:cs typeface="Times New Roman"/>
              </a:rPr>
              <a:t> </a:t>
            </a:r>
            <a:r>
              <a:rPr dirty="0" sz="1200" spc="-25" b="1">
                <a:latin typeface="Times New Roman"/>
                <a:cs typeface="Times New Roman"/>
              </a:rPr>
              <a:t>FACULTY</a:t>
            </a:r>
            <a:r>
              <a:rPr dirty="0" sz="1200" spc="-3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INCHARGE</a:t>
            </a:r>
            <a:r>
              <a:rPr dirty="0" sz="1200" b="1">
                <a:latin typeface="Times New Roman"/>
                <a:cs typeface="Times New Roman"/>
              </a:rPr>
              <a:t>	SIGNATURE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OF</a:t>
            </a:r>
            <a:r>
              <a:rPr dirty="0" sz="1200" spc="-5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INCHARGE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89546" y="8348777"/>
            <a:ext cx="638810" cy="1835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000">
                <a:latin typeface="Times New Roman"/>
                <a:cs typeface="Times New Roman"/>
              </a:rPr>
              <a:t>06-05-</a:t>
            </a:r>
            <a:r>
              <a:rPr dirty="0" sz="1000" spc="-20">
                <a:latin typeface="Times New Roman"/>
                <a:cs typeface="Times New Roman"/>
              </a:rPr>
              <a:t>2026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28505" y="8312982"/>
            <a:ext cx="5627370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886960" algn="l"/>
              </a:tabLst>
            </a:pPr>
            <a:r>
              <a:rPr dirty="0" sz="1300" i="1">
                <a:latin typeface="Times New Roman"/>
                <a:cs typeface="Times New Roman"/>
              </a:rPr>
              <a:t>Submitted for</a:t>
            </a:r>
            <a:r>
              <a:rPr dirty="0" sz="1300" spc="15" i="1">
                <a:latin typeface="Times New Roman"/>
                <a:cs typeface="Times New Roman"/>
              </a:rPr>
              <a:t> </a:t>
            </a:r>
            <a:r>
              <a:rPr dirty="0" sz="1300" i="1">
                <a:latin typeface="Times New Roman"/>
                <a:cs typeface="Times New Roman"/>
              </a:rPr>
              <a:t>the</a:t>
            </a:r>
            <a:r>
              <a:rPr dirty="0" sz="1300" spc="-5" i="1">
                <a:latin typeface="Times New Roman"/>
                <a:cs typeface="Times New Roman"/>
              </a:rPr>
              <a:t> </a:t>
            </a:r>
            <a:r>
              <a:rPr dirty="0" sz="1300" i="1">
                <a:latin typeface="Times New Roman"/>
                <a:cs typeface="Times New Roman"/>
              </a:rPr>
              <a:t>Semester</a:t>
            </a:r>
            <a:r>
              <a:rPr dirty="0" sz="1300" spc="15" i="1">
                <a:latin typeface="Times New Roman"/>
                <a:cs typeface="Times New Roman"/>
              </a:rPr>
              <a:t> </a:t>
            </a:r>
            <a:r>
              <a:rPr dirty="0" sz="1300" i="1">
                <a:latin typeface="Times New Roman"/>
                <a:cs typeface="Times New Roman"/>
              </a:rPr>
              <a:t>Model</a:t>
            </a:r>
            <a:r>
              <a:rPr dirty="0" sz="1300" spc="10" i="1">
                <a:latin typeface="Times New Roman"/>
                <a:cs typeface="Times New Roman"/>
              </a:rPr>
              <a:t> </a:t>
            </a:r>
            <a:r>
              <a:rPr dirty="0" sz="1300" i="1">
                <a:latin typeface="Times New Roman"/>
                <a:cs typeface="Times New Roman"/>
              </a:rPr>
              <a:t>Examination</a:t>
            </a:r>
            <a:r>
              <a:rPr dirty="0" sz="1300" spc="15" i="1">
                <a:latin typeface="Times New Roman"/>
                <a:cs typeface="Times New Roman"/>
              </a:rPr>
              <a:t> </a:t>
            </a:r>
            <a:r>
              <a:rPr dirty="0" sz="1300" i="1">
                <a:latin typeface="Times New Roman"/>
                <a:cs typeface="Times New Roman"/>
              </a:rPr>
              <a:t>held</a:t>
            </a:r>
            <a:r>
              <a:rPr dirty="0" sz="1300" spc="10" i="1">
                <a:latin typeface="Times New Roman"/>
                <a:cs typeface="Times New Roman"/>
              </a:rPr>
              <a:t> </a:t>
            </a:r>
            <a:r>
              <a:rPr dirty="0" sz="1300" spc="-25" i="1">
                <a:latin typeface="Times New Roman"/>
                <a:cs typeface="Times New Roman"/>
              </a:rPr>
              <a:t>on</a:t>
            </a:r>
            <a:r>
              <a:rPr dirty="0" sz="1300" i="1">
                <a:latin typeface="Times New Roman"/>
                <a:cs typeface="Times New Roman"/>
              </a:rPr>
              <a:t>	at</a:t>
            </a:r>
            <a:r>
              <a:rPr dirty="0" sz="1300" spc="-20" i="1">
                <a:latin typeface="Times New Roman"/>
                <a:cs typeface="Times New Roman"/>
              </a:rPr>
              <a:t> </a:t>
            </a:r>
            <a:r>
              <a:rPr dirty="0" sz="1300" spc="-40" i="1">
                <a:latin typeface="Times New Roman"/>
                <a:cs typeface="Times New Roman"/>
              </a:rPr>
              <a:t>Vel</a:t>
            </a:r>
            <a:r>
              <a:rPr dirty="0" sz="1300" spc="-10" i="1">
                <a:latin typeface="Times New Roman"/>
                <a:cs typeface="Times New Roman"/>
              </a:rPr>
              <a:t> </a:t>
            </a:r>
            <a:r>
              <a:rPr dirty="0" sz="1300" spc="-20" i="1">
                <a:latin typeface="Times New Roman"/>
                <a:cs typeface="Times New Roman"/>
              </a:rPr>
              <a:t>Tech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85325" y="8539206"/>
            <a:ext cx="479869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i="1">
                <a:latin typeface="Times New Roman"/>
                <a:cs typeface="Times New Roman"/>
              </a:rPr>
              <a:t>Rangarajan</a:t>
            </a:r>
            <a:r>
              <a:rPr dirty="0" sz="1300" spc="5" i="1">
                <a:latin typeface="Times New Roman"/>
                <a:cs typeface="Times New Roman"/>
              </a:rPr>
              <a:t> </a:t>
            </a:r>
            <a:r>
              <a:rPr dirty="0" sz="1300" spc="-35" i="1">
                <a:latin typeface="Times New Roman"/>
                <a:cs typeface="Times New Roman"/>
              </a:rPr>
              <a:t>Dr.</a:t>
            </a:r>
            <a:r>
              <a:rPr dirty="0" sz="1300" i="1">
                <a:latin typeface="Times New Roman"/>
                <a:cs typeface="Times New Roman"/>
              </a:rPr>
              <a:t> Sagunthala</a:t>
            </a:r>
            <a:r>
              <a:rPr dirty="0" sz="1300" spc="10" i="1">
                <a:latin typeface="Times New Roman"/>
                <a:cs typeface="Times New Roman"/>
              </a:rPr>
              <a:t> </a:t>
            </a:r>
            <a:r>
              <a:rPr dirty="0" sz="1300" i="1">
                <a:latin typeface="Times New Roman"/>
                <a:cs typeface="Times New Roman"/>
              </a:rPr>
              <a:t>R</a:t>
            </a:r>
            <a:r>
              <a:rPr dirty="0" sz="1300" spc="-5" i="1">
                <a:latin typeface="Times New Roman"/>
                <a:cs typeface="Times New Roman"/>
              </a:rPr>
              <a:t> </a:t>
            </a:r>
            <a:r>
              <a:rPr dirty="0" sz="1300" i="1">
                <a:latin typeface="Times New Roman"/>
                <a:cs typeface="Times New Roman"/>
              </a:rPr>
              <a:t>&amp; D Institute</a:t>
            </a:r>
            <a:r>
              <a:rPr dirty="0" sz="1300" spc="10" i="1">
                <a:latin typeface="Times New Roman"/>
                <a:cs typeface="Times New Roman"/>
              </a:rPr>
              <a:t> </a:t>
            </a:r>
            <a:r>
              <a:rPr dirty="0" sz="1300" i="1">
                <a:latin typeface="Times New Roman"/>
                <a:cs typeface="Times New Roman"/>
              </a:rPr>
              <a:t>of</a:t>
            </a:r>
            <a:r>
              <a:rPr dirty="0" sz="1300" spc="-5" i="1">
                <a:latin typeface="Times New Roman"/>
                <a:cs typeface="Times New Roman"/>
              </a:rPr>
              <a:t> </a:t>
            </a:r>
            <a:r>
              <a:rPr dirty="0" sz="1300" i="1">
                <a:latin typeface="Times New Roman"/>
                <a:cs typeface="Times New Roman"/>
              </a:rPr>
              <a:t>Science</a:t>
            </a:r>
            <a:r>
              <a:rPr dirty="0" sz="1300" spc="10" i="1">
                <a:latin typeface="Times New Roman"/>
                <a:cs typeface="Times New Roman"/>
              </a:rPr>
              <a:t> </a:t>
            </a:r>
            <a:r>
              <a:rPr dirty="0" sz="1300" i="1">
                <a:latin typeface="Times New Roman"/>
                <a:cs typeface="Times New Roman"/>
              </a:rPr>
              <a:t>and</a:t>
            </a:r>
            <a:r>
              <a:rPr dirty="0" sz="1300" spc="10" i="1">
                <a:latin typeface="Times New Roman"/>
                <a:cs typeface="Times New Roman"/>
              </a:rPr>
              <a:t> </a:t>
            </a:r>
            <a:r>
              <a:rPr dirty="0" sz="1300" spc="-10" i="1">
                <a:latin typeface="Times New Roman"/>
                <a:cs typeface="Times New Roman"/>
              </a:rPr>
              <a:t>Technology.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410748" y="9346981"/>
            <a:ext cx="1002030" cy="21145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200" b="1">
                <a:latin typeface="Times New Roman"/>
                <a:cs typeface="Times New Roman"/>
              </a:rPr>
              <a:t>EXAMINER</a:t>
            </a:r>
            <a:r>
              <a:rPr dirty="0" sz="1200" spc="45" b="1">
                <a:latin typeface="Times New Roman"/>
                <a:cs typeface="Times New Roman"/>
              </a:rPr>
              <a:t> </a:t>
            </a:r>
            <a:r>
              <a:rPr dirty="0" sz="1200" spc="-50" b="1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898137" y="9346981"/>
            <a:ext cx="1002030" cy="21145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200" b="1">
                <a:latin typeface="Times New Roman"/>
                <a:cs typeface="Times New Roman"/>
              </a:rPr>
              <a:t>EXAMINER</a:t>
            </a:r>
            <a:r>
              <a:rPr dirty="0" sz="1200" spc="45" b="1">
                <a:latin typeface="Times New Roman"/>
                <a:cs typeface="Times New Roman"/>
              </a:rPr>
              <a:t> </a:t>
            </a:r>
            <a:r>
              <a:rPr dirty="0" sz="1200" spc="-50" b="1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339336" y="340768"/>
            <a:ext cx="6457950" cy="9380220"/>
            <a:chOff x="339336" y="340768"/>
            <a:chExt cx="6457950" cy="9380220"/>
          </a:xfrm>
        </p:grpSpPr>
        <p:sp>
          <p:nvSpPr>
            <p:cNvPr id="10" name="object 10" descr=""/>
            <p:cNvSpPr/>
            <p:nvPr/>
          </p:nvSpPr>
          <p:spPr>
            <a:xfrm>
              <a:off x="339331" y="340778"/>
              <a:ext cx="6457950" cy="9380220"/>
            </a:xfrm>
            <a:custGeom>
              <a:avLst/>
              <a:gdLst/>
              <a:ahLst/>
              <a:cxnLst/>
              <a:rect l="l" t="t" r="r" b="b"/>
              <a:pathLst>
                <a:path w="6457950" h="9380220">
                  <a:moveTo>
                    <a:pt x="6457416" y="0"/>
                  </a:moveTo>
                  <a:lnTo>
                    <a:pt x="6421628" y="0"/>
                  </a:lnTo>
                  <a:lnTo>
                    <a:pt x="6421628" y="35788"/>
                  </a:lnTo>
                  <a:lnTo>
                    <a:pt x="6421628" y="9343923"/>
                  </a:lnTo>
                  <a:lnTo>
                    <a:pt x="35788" y="9343923"/>
                  </a:lnTo>
                  <a:lnTo>
                    <a:pt x="35788" y="35788"/>
                  </a:lnTo>
                  <a:lnTo>
                    <a:pt x="6421628" y="35788"/>
                  </a:lnTo>
                  <a:lnTo>
                    <a:pt x="6421628" y="0"/>
                  </a:lnTo>
                  <a:lnTo>
                    <a:pt x="35788" y="0"/>
                  </a:lnTo>
                  <a:lnTo>
                    <a:pt x="0" y="0"/>
                  </a:lnTo>
                  <a:lnTo>
                    <a:pt x="0" y="35788"/>
                  </a:lnTo>
                  <a:lnTo>
                    <a:pt x="0" y="9343923"/>
                  </a:lnTo>
                  <a:lnTo>
                    <a:pt x="0" y="9379725"/>
                  </a:lnTo>
                  <a:lnTo>
                    <a:pt x="35788" y="9379725"/>
                  </a:lnTo>
                  <a:lnTo>
                    <a:pt x="6421628" y="9379725"/>
                  </a:lnTo>
                  <a:lnTo>
                    <a:pt x="6457416" y="9379725"/>
                  </a:lnTo>
                  <a:lnTo>
                    <a:pt x="6457416" y="9343923"/>
                  </a:lnTo>
                  <a:lnTo>
                    <a:pt x="6457416" y="35788"/>
                  </a:lnTo>
                  <a:lnTo>
                    <a:pt x="64574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09159" y="690276"/>
              <a:ext cx="860910" cy="876280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98042" y="726617"/>
              <a:ext cx="1238255" cy="811564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4728" y="718811"/>
              <a:ext cx="2216537" cy="85612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5724525" cy="8051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590">
              <a:lnSpc>
                <a:spcPct val="100000"/>
              </a:lnSpc>
              <a:spcBef>
                <a:spcPts val="100"/>
              </a:spcBef>
            </a:pPr>
            <a:r>
              <a:rPr dirty="0" sz="1200" spc="-35" b="1">
                <a:latin typeface="Calibri"/>
                <a:cs typeface="Calibri"/>
              </a:rPr>
              <a:t>Task-</a:t>
            </a:r>
            <a:r>
              <a:rPr dirty="0" sz="1200" b="1">
                <a:latin typeface="Calibri"/>
                <a:cs typeface="Calibri"/>
              </a:rPr>
              <a:t>1: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Student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Registration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&amp;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Data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Storage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System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1200">
              <a:latin typeface="Calibri"/>
              <a:cs typeface="Calibri"/>
            </a:endParaRPr>
          </a:p>
          <a:p>
            <a:pPr marL="18415" marR="5080" indent="-6350">
              <a:lnSpc>
                <a:spcPct val="114199"/>
              </a:lnSpc>
              <a:tabLst>
                <a:tab pos="2214880" algn="l"/>
              </a:tabLst>
            </a:pPr>
            <a:r>
              <a:rPr dirty="0" sz="1200" b="1">
                <a:latin typeface="Calibri"/>
                <a:cs typeface="Calibri"/>
              </a:rPr>
              <a:t>AIM</a:t>
            </a:r>
            <a:r>
              <a:rPr dirty="0" sz="1200">
                <a:latin typeface="Calibri"/>
                <a:cs typeface="Calibri"/>
              </a:rPr>
              <a:t>: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6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develop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Student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Registration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System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allows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enter,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store,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manage </a:t>
            </a:r>
            <a:r>
              <a:rPr dirty="0" sz="1200">
                <a:latin typeface="Calibri"/>
                <a:cs typeface="Calibri"/>
              </a:rPr>
              <a:t>student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details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efficiently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a</a:t>
            </a:r>
            <a:r>
              <a:rPr dirty="0" sz="1200">
                <a:latin typeface="Calibri"/>
                <a:cs typeface="Calibri"/>
              </a:rPr>
              <a:t>	web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interface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MySQL</a:t>
            </a:r>
            <a:r>
              <a:rPr dirty="0" sz="1200" spc="-10">
                <a:latin typeface="Calibri"/>
                <a:cs typeface="Calibri"/>
              </a:rPr>
              <a:t> database.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 b="1">
                <a:latin typeface="Calibri"/>
                <a:cs typeface="Calibri"/>
              </a:rPr>
              <a:t>ALGORITHM: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Step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1: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Start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Step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2: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web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application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(index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page)</a:t>
            </a:r>
            <a:endParaRPr sz="1200">
              <a:latin typeface="Calibri"/>
              <a:cs typeface="Calibri"/>
            </a:endParaRPr>
          </a:p>
          <a:p>
            <a:pPr marL="12700" marR="1731645">
              <a:lnSpc>
                <a:spcPts val="2510"/>
              </a:lnSpc>
              <a:spcBef>
                <a:spcPts val="250"/>
              </a:spcBef>
            </a:pPr>
            <a:r>
              <a:rPr dirty="0" sz="1200">
                <a:latin typeface="Calibri"/>
                <a:cs typeface="Calibri"/>
              </a:rPr>
              <a:t>Step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3: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Display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home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page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option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registration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page </a:t>
            </a:r>
            <a:r>
              <a:rPr dirty="0" sz="1200">
                <a:latin typeface="Calibri"/>
                <a:cs typeface="Calibri"/>
              </a:rPr>
              <a:t>Step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4: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navigates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registration</a:t>
            </a:r>
            <a:r>
              <a:rPr dirty="0" sz="1200" spc="-20">
                <a:latin typeface="Calibri"/>
                <a:cs typeface="Calibri"/>
              </a:rPr>
              <a:t> form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1200">
                <a:latin typeface="Calibri"/>
                <a:cs typeface="Calibri"/>
              </a:rPr>
              <a:t>Step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5: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enters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student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details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(like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name,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ID,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course,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etc.)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Step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6: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Validate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input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fields</a:t>
            </a:r>
            <a:endParaRPr sz="1200">
              <a:latin typeface="Calibri"/>
              <a:cs typeface="Calibri"/>
            </a:endParaRPr>
          </a:p>
          <a:p>
            <a:pPr marL="478790" indent="-228600">
              <a:lnSpc>
                <a:spcPct val="100000"/>
              </a:lnSpc>
              <a:spcBef>
                <a:spcPts val="1070"/>
              </a:spcBef>
              <a:buSzPct val="83333"/>
              <a:buFont typeface="Arial MT"/>
              <a:buChar char="•"/>
              <a:tabLst>
                <a:tab pos="478790" algn="l"/>
              </a:tabLst>
            </a:pPr>
            <a:r>
              <a:rPr dirty="0" sz="1200">
                <a:latin typeface="Calibri"/>
                <a:cs typeface="Calibri"/>
              </a:rPr>
              <a:t>Check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fields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20">
                <a:latin typeface="Calibri"/>
                <a:cs typeface="Calibri"/>
              </a:rPr>
              <a:t> empty</a:t>
            </a:r>
            <a:endParaRPr sz="1200">
              <a:latin typeface="Calibri"/>
              <a:cs typeface="Calibri"/>
            </a:endParaRPr>
          </a:p>
          <a:p>
            <a:pPr marL="478790" indent="-228600">
              <a:lnSpc>
                <a:spcPct val="100000"/>
              </a:lnSpc>
              <a:spcBef>
                <a:spcPts val="1065"/>
              </a:spcBef>
              <a:buSzPct val="83333"/>
              <a:buFont typeface="Arial MT"/>
              <a:buChar char="•"/>
              <a:tabLst>
                <a:tab pos="478790" algn="l"/>
              </a:tabLst>
            </a:pPr>
            <a:r>
              <a:rPr dirty="0" sz="1200">
                <a:latin typeface="Calibri"/>
                <a:cs typeface="Calibri"/>
              </a:rPr>
              <a:t>Ensure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correct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format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Step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7: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Submit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form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server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Step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8: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receives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Node.js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Step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9: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Establish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connection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MySQL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database</a:t>
            </a:r>
            <a:endParaRPr sz="1200">
              <a:latin typeface="Calibri"/>
              <a:cs typeface="Calibri"/>
            </a:endParaRPr>
          </a:p>
          <a:p>
            <a:pPr marL="478790" indent="-228600">
              <a:lnSpc>
                <a:spcPct val="100000"/>
              </a:lnSpc>
              <a:spcBef>
                <a:spcPts val="1065"/>
              </a:spcBef>
              <a:buSzPct val="83333"/>
              <a:buFont typeface="Arial MT"/>
              <a:buChar char="•"/>
              <a:tabLst>
                <a:tab pos="478790" algn="l"/>
              </a:tabLst>
            </a:pPr>
            <a:r>
              <a:rPr dirty="0" sz="1200">
                <a:latin typeface="Calibri"/>
                <a:cs typeface="Calibri"/>
              </a:rPr>
              <a:t>If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connection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fails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→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display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error</a:t>
            </a:r>
            <a:endParaRPr sz="1200">
              <a:latin typeface="Calibri"/>
              <a:cs typeface="Calibri"/>
            </a:endParaRPr>
          </a:p>
          <a:p>
            <a:pPr marL="478790" indent="-228600">
              <a:lnSpc>
                <a:spcPct val="100000"/>
              </a:lnSpc>
              <a:spcBef>
                <a:spcPts val="1070"/>
              </a:spcBef>
              <a:buSzPct val="83333"/>
              <a:buFont typeface="Arial MT"/>
              <a:buChar char="•"/>
              <a:tabLst>
                <a:tab pos="478790" algn="l"/>
              </a:tabLst>
            </a:pPr>
            <a:r>
              <a:rPr dirty="0" sz="1200">
                <a:latin typeface="Calibri"/>
                <a:cs typeface="Calibri"/>
              </a:rPr>
              <a:t>Else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→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proceed</a:t>
            </a:r>
            <a:endParaRPr sz="1200">
              <a:latin typeface="Calibri"/>
              <a:cs typeface="Calibri"/>
            </a:endParaRPr>
          </a:p>
          <a:p>
            <a:pPr marL="12700" marR="2767965">
              <a:lnSpc>
                <a:spcPts val="2510"/>
              </a:lnSpc>
              <a:spcBef>
                <a:spcPts val="245"/>
              </a:spcBef>
            </a:pPr>
            <a:r>
              <a:rPr dirty="0" sz="1200">
                <a:latin typeface="Calibri"/>
                <a:cs typeface="Calibri"/>
              </a:rPr>
              <a:t>Step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10: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Insert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student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database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table </a:t>
            </a:r>
            <a:r>
              <a:rPr dirty="0" sz="1200">
                <a:latin typeface="Calibri"/>
                <a:cs typeface="Calibri"/>
              </a:rPr>
              <a:t>Step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11: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Confirm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successful storage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data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1200">
                <a:latin typeface="Calibri"/>
                <a:cs typeface="Calibri"/>
              </a:rPr>
              <a:t>Step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12: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Display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success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message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user</a:t>
            </a:r>
            <a:endParaRPr sz="1200">
              <a:latin typeface="Calibri"/>
              <a:cs typeface="Calibri"/>
            </a:endParaRPr>
          </a:p>
          <a:p>
            <a:pPr marL="12700" marR="1666239">
              <a:lnSpc>
                <a:spcPct val="174200"/>
              </a:lnSpc>
              <a:spcBef>
                <a:spcPts val="5"/>
              </a:spcBef>
            </a:pPr>
            <a:r>
              <a:rPr dirty="0" sz="1200">
                <a:latin typeface="Calibri"/>
                <a:cs typeface="Calibri"/>
              </a:rPr>
              <a:t>Step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13: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Allow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view/manage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stored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(if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implemented) </a:t>
            </a:r>
            <a:r>
              <a:rPr dirty="0" sz="1200">
                <a:latin typeface="Calibri"/>
                <a:cs typeface="Calibri"/>
              </a:rPr>
              <a:t>Step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14:</a:t>
            </a:r>
            <a:r>
              <a:rPr dirty="0" sz="1200" spc="-20">
                <a:latin typeface="Calibri"/>
                <a:cs typeface="Calibri"/>
              </a:rPr>
              <a:t> Stop</a:t>
            </a:r>
            <a:endParaRPr sz="1200">
              <a:latin typeface="Calibri"/>
              <a:cs typeface="Calibri"/>
            </a:endParaRPr>
          </a:p>
          <a:p>
            <a:pPr marL="12700" marR="4855845">
              <a:lnSpc>
                <a:spcPct val="173300"/>
              </a:lnSpc>
              <a:spcBef>
                <a:spcPts val="10"/>
              </a:spcBef>
            </a:pPr>
            <a:r>
              <a:rPr dirty="0" sz="1200" spc="-10" b="1">
                <a:latin typeface="Calibri"/>
                <a:cs typeface="Calibri"/>
              </a:rPr>
              <a:t>PROGRAM: INDEX.HTML: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&lt;!DOCTYPE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html&gt;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4225925" cy="81680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&lt;html&gt;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&lt;head&gt;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&lt;title&gt;Student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Portal&lt;/title&gt;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&lt;link </a:t>
            </a:r>
            <a:r>
              <a:rPr dirty="0" sz="1200" spc="-10">
                <a:latin typeface="Calibri"/>
                <a:cs typeface="Calibri"/>
              </a:rPr>
              <a:t>rel="stylesheet"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href="style.css"&gt;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&lt;/head&gt;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&lt;body&gt;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&lt;div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class="home-container"&gt;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&lt;h1&gt;Welcome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Student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Portal&lt;/h1&gt;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&lt;p&gt;Register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manage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student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information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easily.&lt;/p&gt;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&lt;a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href="registration.html"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class="start-</a:t>
            </a:r>
            <a:r>
              <a:rPr dirty="0" sz="1200">
                <a:latin typeface="Calibri"/>
                <a:cs typeface="Calibri"/>
              </a:rPr>
              <a:t>btn"&gt;Go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Registration&lt;/a&gt;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&lt;/div&gt;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&lt;/body&gt;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&lt;/html&gt;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 b="1">
                <a:latin typeface="Calibri"/>
                <a:cs typeface="Calibri"/>
              </a:rPr>
              <a:t>REGISTRATION.HTML: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&lt;!DOCTYPE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html&gt;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&lt;html&gt;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&lt;head&gt;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&lt;title&gt;Student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Registration&lt;/title&gt;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&lt;link </a:t>
            </a:r>
            <a:r>
              <a:rPr dirty="0" sz="1200" spc="-10">
                <a:latin typeface="Calibri"/>
                <a:cs typeface="Calibri"/>
              </a:rPr>
              <a:t>rel="stylesheet"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href="style.css"&gt;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&lt;/head&gt;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&lt;body&gt;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&lt;div </a:t>
            </a:r>
            <a:r>
              <a:rPr dirty="0" sz="1200" spc="-10">
                <a:latin typeface="Calibri"/>
                <a:cs typeface="Calibri"/>
              </a:rPr>
              <a:t>class="container"&gt;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&lt;h1&gt;Student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Registration&lt;/h1&gt;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&lt;button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onclick="goHome()"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class="home-btn"&gt;Home&lt;/button&gt;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&lt;form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id="studentForm"&gt;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&lt;label&gt;Name&lt;/label&gt;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4811395" cy="8270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&lt;input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type="text"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id="name"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placeholder="Enter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name"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required&gt;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&lt;label&gt;Email&lt;/label&gt;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&lt;input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type="email"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id="email"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placeholder="Enter</a:t>
            </a:r>
            <a:r>
              <a:rPr dirty="0" sz="1200">
                <a:latin typeface="Calibri"/>
                <a:cs typeface="Calibri"/>
              </a:rPr>
              <a:t> your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email"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required&gt;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&lt;label&gt;Date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Birth&lt;/label&gt;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&lt;input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type="date"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id="dob"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required&gt;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&lt;label&gt;Department&lt;/label&gt;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&lt;select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id="department"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required&gt;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&lt;option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value=""&gt;Select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Department&lt;/option&gt;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&lt;option&gt;CSE&lt;/option&gt;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&lt;option&gt;IT&lt;/option&gt;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&lt;option&gt;ECE&lt;/option&gt;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&lt;option&gt;MECH&lt;/option&gt;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&lt;/select&gt;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&lt;label&gt;Phone&lt;/label&gt;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&lt;input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type="text"</a:t>
            </a:r>
            <a:r>
              <a:rPr dirty="0" sz="1200">
                <a:latin typeface="Calibri"/>
                <a:cs typeface="Calibri"/>
              </a:rPr>
              <a:t> id="phone"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placeholder="Enter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phone number"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required&gt;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&lt;button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type="submit"&gt;Register&lt;/button&gt;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&lt;/form&gt;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&lt;/div&gt;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&lt;script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src="script.js"&gt;&lt;/script&gt;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&lt;/body&gt;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&lt;/html&gt;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STYLE.CSS: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body{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font-</a:t>
            </a:r>
            <a:r>
              <a:rPr dirty="0" sz="1200">
                <a:latin typeface="Calibri"/>
                <a:cs typeface="Calibri"/>
              </a:rPr>
              <a:t>family: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'Segoe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UI',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sans-serif;</a:t>
            </a:r>
            <a:endParaRPr sz="1200">
              <a:latin typeface="Calibri"/>
              <a:cs typeface="Calibri"/>
            </a:endParaRPr>
          </a:p>
          <a:p>
            <a:pPr marL="18415" marR="791845">
              <a:lnSpc>
                <a:spcPct val="173300"/>
              </a:lnSpc>
              <a:spcBef>
                <a:spcPts val="5"/>
              </a:spcBef>
            </a:pPr>
            <a:r>
              <a:rPr dirty="0" sz="1200">
                <a:latin typeface="Calibri"/>
                <a:cs typeface="Calibri"/>
              </a:rPr>
              <a:t>background: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linear-gradient(135deg,#0f2027,#203a43,#2c5364); height:100vh;</a:t>
            </a:r>
            <a:endParaRPr sz="1200">
              <a:latin typeface="Calibri"/>
              <a:cs typeface="Calibri"/>
            </a:endParaRPr>
          </a:p>
          <a:p>
            <a:pPr marL="18415" marR="3451225" indent="-6350">
              <a:lnSpc>
                <a:spcPct val="173300"/>
              </a:lnSpc>
              <a:spcBef>
                <a:spcPts val="860"/>
              </a:spcBef>
            </a:pPr>
            <a:r>
              <a:rPr dirty="0" sz="1200" spc="-10">
                <a:latin typeface="Calibri"/>
                <a:cs typeface="Calibri"/>
              </a:rPr>
              <a:t>display:flex;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justify- content:center;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align-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items:center;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margin:0;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2459990" cy="8253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.container{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width:420px;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padding:35px;</a:t>
            </a:r>
            <a:endParaRPr sz="1200">
              <a:latin typeface="Calibri"/>
              <a:cs typeface="Calibri"/>
            </a:endParaRPr>
          </a:p>
          <a:p>
            <a:pPr marL="18415" marR="174625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background:rgba(255,255,255,0.08); border-radius:18px;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backdrop-filter: blur(10px);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30">
                <a:latin typeface="Calibri"/>
                <a:cs typeface="Calibri"/>
              </a:rPr>
              <a:t>box-</a:t>
            </a:r>
            <a:r>
              <a:rPr dirty="0" sz="1200" spc="-10">
                <a:latin typeface="Calibri"/>
                <a:cs typeface="Calibri"/>
              </a:rPr>
              <a:t>shadow:0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10px </a:t>
            </a:r>
            <a:r>
              <a:rPr dirty="0" sz="1200" spc="-20">
                <a:latin typeface="Calibri"/>
                <a:cs typeface="Calibri"/>
              </a:rPr>
              <a:t>35px </a:t>
            </a:r>
            <a:r>
              <a:rPr dirty="0" sz="1200" spc="-10">
                <a:latin typeface="Calibri"/>
                <a:cs typeface="Calibri"/>
              </a:rPr>
              <a:t>rgba(0,0,0,0.6);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algn="just" marL="18415" marR="1143635" indent="-6350">
              <a:lnSpc>
                <a:spcPct val="173400"/>
              </a:lnSpc>
              <a:spcBef>
                <a:spcPts val="10"/>
              </a:spcBef>
            </a:pPr>
            <a:r>
              <a:rPr dirty="0" sz="1200">
                <a:latin typeface="Calibri"/>
                <a:cs typeface="Calibri"/>
              </a:rPr>
              <a:t>h1{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text-</a:t>
            </a:r>
            <a:r>
              <a:rPr dirty="0" sz="1200" spc="-10">
                <a:latin typeface="Calibri"/>
                <a:cs typeface="Calibri"/>
              </a:rPr>
              <a:t>align:center; color:white;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margin- bottom:25px;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algn="just" marL="18415" marR="1143635" indent="-6350">
              <a:lnSpc>
                <a:spcPct val="173300"/>
              </a:lnSpc>
              <a:spcBef>
                <a:spcPts val="15"/>
              </a:spcBef>
            </a:pPr>
            <a:r>
              <a:rPr dirty="0" sz="1200">
                <a:latin typeface="Calibri"/>
                <a:cs typeface="Calibri"/>
              </a:rPr>
              <a:t>h2{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text-</a:t>
            </a:r>
            <a:r>
              <a:rPr dirty="0" sz="1200" spc="-10">
                <a:latin typeface="Calibri"/>
                <a:cs typeface="Calibri"/>
              </a:rPr>
              <a:t>align:center; color:white;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margin- top:30px;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dirty="0" sz="1200">
                <a:latin typeface="Calibri"/>
                <a:cs typeface="Calibri"/>
              </a:rPr>
              <a:t>form{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display:flex;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65"/>
              </a:spcBef>
            </a:pPr>
            <a:r>
              <a:rPr dirty="0" sz="1200" spc="-25">
                <a:latin typeface="Calibri"/>
                <a:cs typeface="Calibri"/>
              </a:rPr>
              <a:t>flex-</a:t>
            </a:r>
            <a:r>
              <a:rPr dirty="0" sz="1200" spc="-10">
                <a:latin typeface="Calibri"/>
                <a:cs typeface="Calibri"/>
              </a:rPr>
              <a:t>direction:column;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4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1347470" indent="-6350">
              <a:lnSpc>
                <a:spcPct val="173300"/>
              </a:lnSpc>
              <a:spcBef>
                <a:spcPts val="875"/>
              </a:spcBef>
            </a:pPr>
            <a:r>
              <a:rPr dirty="0" sz="1200">
                <a:latin typeface="Calibri"/>
                <a:cs typeface="Calibri"/>
              </a:rPr>
              <a:t>label{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color:#ddd; </a:t>
            </a:r>
            <a:r>
              <a:rPr dirty="0" sz="1200" spc="-25">
                <a:latin typeface="Calibri"/>
                <a:cs typeface="Calibri"/>
              </a:rPr>
              <a:t>font-</a:t>
            </a:r>
            <a:r>
              <a:rPr dirty="0" sz="1200" spc="-10">
                <a:latin typeface="Calibri"/>
                <a:cs typeface="Calibri"/>
              </a:rPr>
              <a:t>size:14px;</a:t>
            </a:r>
            <a:endParaRPr sz="1200">
              <a:latin typeface="Calibri"/>
              <a:cs typeface="Calibri"/>
            </a:endParaRPr>
          </a:p>
          <a:p>
            <a:pPr marL="18415" marR="1193165">
              <a:lnSpc>
                <a:spcPts val="2500"/>
              </a:lnSpc>
              <a:spcBef>
                <a:spcPts val="254"/>
              </a:spcBef>
            </a:pPr>
            <a:r>
              <a:rPr dirty="0" sz="1200" spc="-10">
                <a:latin typeface="Calibri"/>
                <a:cs typeface="Calibri"/>
              </a:rPr>
              <a:t>margin-bottom:5px; margin-top:10px;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853440" indent="-6350">
              <a:lnSpc>
                <a:spcPct val="173300"/>
              </a:lnSpc>
              <a:spcBef>
                <a:spcPts val="15"/>
              </a:spcBef>
            </a:pPr>
            <a:r>
              <a:rPr dirty="0" sz="1200">
                <a:latin typeface="Calibri"/>
                <a:cs typeface="Calibri"/>
              </a:rPr>
              <a:t>input,select{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width:100%; padding:12px;</a:t>
            </a:r>
            <a:endParaRPr sz="1200">
              <a:latin typeface="Calibri"/>
              <a:cs typeface="Calibri"/>
            </a:endParaRPr>
          </a:p>
          <a:p>
            <a:pPr marL="18415" marR="1116965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border:none;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border- radius:8px;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2435860" cy="81495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background:#27496d;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color:white;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font-</a:t>
            </a:r>
            <a:endParaRPr sz="1200">
              <a:latin typeface="Calibri"/>
              <a:cs typeface="Calibri"/>
            </a:endParaRPr>
          </a:p>
          <a:p>
            <a:pPr marL="18415" marR="932180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size:14px;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outline:none; margin-bottom:5px;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5080" indent="-6350">
              <a:lnSpc>
                <a:spcPct val="173300"/>
              </a:lnSpc>
              <a:spcBef>
                <a:spcPts val="15"/>
              </a:spcBef>
            </a:pPr>
            <a:r>
              <a:rPr dirty="0" sz="1200" spc="-10">
                <a:latin typeface="Calibri"/>
                <a:cs typeface="Calibri"/>
              </a:rPr>
              <a:t>input:focus,select:focus{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box-</a:t>
            </a:r>
            <a:r>
              <a:rPr dirty="0" sz="1200" spc="-10">
                <a:latin typeface="Calibri"/>
                <a:cs typeface="Calibri"/>
              </a:rPr>
              <a:t>shadow:0 </a:t>
            </a:r>
            <a:r>
              <a:rPr dirty="0" sz="1200">
                <a:latin typeface="Calibri"/>
                <a:cs typeface="Calibri"/>
              </a:rPr>
              <a:t>0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8px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#00eaff;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background:#2c5d8a;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848994" indent="-6350">
              <a:lnSpc>
                <a:spcPct val="174200"/>
              </a:lnSpc>
              <a:spcBef>
                <a:spcPts val="15"/>
              </a:spcBef>
            </a:pPr>
            <a:r>
              <a:rPr dirty="0" sz="1200">
                <a:latin typeface="Calibri"/>
                <a:cs typeface="Calibri"/>
              </a:rPr>
              <a:t>button{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margin-top:15px; padding:12px;</a:t>
            </a:r>
            <a:endParaRPr sz="1200">
              <a:latin typeface="Calibri"/>
              <a:cs typeface="Calibri"/>
            </a:endParaRPr>
          </a:p>
          <a:p>
            <a:pPr marL="18415" marR="1092835">
              <a:lnSpc>
                <a:spcPts val="2510"/>
              </a:lnSpc>
              <a:spcBef>
                <a:spcPts val="245"/>
              </a:spcBef>
            </a:pPr>
            <a:r>
              <a:rPr dirty="0" sz="1200">
                <a:latin typeface="Calibri"/>
                <a:cs typeface="Calibri"/>
              </a:rPr>
              <a:t>border:none;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border- radius:10px;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795"/>
              </a:spcBef>
            </a:pPr>
            <a:r>
              <a:rPr dirty="0" sz="1200" spc="-10">
                <a:latin typeface="Calibri"/>
                <a:cs typeface="Calibri"/>
              </a:rPr>
              <a:t>background:linear-</a:t>
            </a:r>
            <a:endParaRPr sz="1200">
              <a:latin typeface="Calibri"/>
              <a:cs typeface="Calibri"/>
            </a:endParaRPr>
          </a:p>
          <a:p>
            <a:pPr marL="18415" marR="907415">
              <a:lnSpc>
                <a:spcPct val="173500"/>
              </a:lnSpc>
              <a:spcBef>
                <a:spcPts val="10"/>
              </a:spcBef>
            </a:pPr>
            <a:r>
              <a:rPr dirty="0" sz="1200" spc="-10">
                <a:latin typeface="Calibri"/>
                <a:cs typeface="Calibri"/>
              </a:rPr>
              <a:t>gradient(45deg,#ff4b2b, #ff416c);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color:white;</a:t>
            </a:r>
            <a:endParaRPr sz="1200">
              <a:latin typeface="Calibri"/>
              <a:cs typeface="Calibri"/>
            </a:endParaRPr>
          </a:p>
          <a:p>
            <a:pPr marL="18415" marR="1176655">
              <a:lnSpc>
                <a:spcPct val="173300"/>
              </a:lnSpc>
              <a:spcBef>
                <a:spcPts val="10"/>
              </a:spcBef>
            </a:pPr>
            <a:r>
              <a:rPr dirty="0" sz="1200" spc="-25">
                <a:latin typeface="Calibri"/>
                <a:cs typeface="Calibri"/>
              </a:rPr>
              <a:t>font-</a:t>
            </a:r>
            <a:r>
              <a:rPr dirty="0" sz="1200" spc="-10">
                <a:latin typeface="Calibri"/>
                <a:cs typeface="Calibri"/>
              </a:rPr>
              <a:t>size:16px;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font- </a:t>
            </a:r>
            <a:r>
              <a:rPr dirty="0" sz="1200" spc="-10">
                <a:latin typeface="Calibri"/>
                <a:cs typeface="Calibri"/>
              </a:rPr>
              <a:t>weight:bold;</a:t>
            </a:r>
            <a:endParaRPr sz="1200">
              <a:latin typeface="Calibri"/>
              <a:cs typeface="Calibri"/>
            </a:endParaRPr>
          </a:p>
          <a:p>
            <a:pPr marL="18415" marR="1480185">
              <a:lnSpc>
                <a:spcPct val="172500"/>
              </a:lnSpc>
              <a:spcBef>
                <a:spcPts val="25"/>
              </a:spcBef>
            </a:pPr>
            <a:r>
              <a:rPr dirty="0" sz="1200" spc="-10">
                <a:latin typeface="Calibri"/>
                <a:cs typeface="Calibri"/>
              </a:rPr>
              <a:t>cursor:pointer; transition:0.3s;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158115" indent="-6350">
              <a:lnSpc>
                <a:spcPct val="173300"/>
              </a:lnSpc>
              <a:spcBef>
                <a:spcPts val="15"/>
              </a:spcBef>
            </a:pPr>
            <a:r>
              <a:rPr dirty="0" sz="1200" spc="-10">
                <a:latin typeface="Calibri"/>
                <a:cs typeface="Calibri"/>
              </a:rPr>
              <a:t>button:hover{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transform:scale(1.05); </a:t>
            </a:r>
            <a:r>
              <a:rPr dirty="0" sz="1200" spc="-25">
                <a:latin typeface="Calibri"/>
                <a:cs typeface="Calibri"/>
              </a:rPr>
              <a:t>box-</a:t>
            </a:r>
            <a:r>
              <a:rPr dirty="0" sz="1200" spc="-10">
                <a:latin typeface="Calibri"/>
                <a:cs typeface="Calibri"/>
              </a:rPr>
              <a:t>shadow:0 </a:t>
            </a:r>
            <a:r>
              <a:rPr dirty="0" sz="1200">
                <a:latin typeface="Calibri"/>
                <a:cs typeface="Calibri"/>
              </a:rPr>
              <a:t>0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15px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#ff416c;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#studentList{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margin-</a:t>
            </a:r>
            <a:endParaRPr sz="1200">
              <a:latin typeface="Calibri"/>
              <a:cs typeface="Calibri"/>
            </a:endParaRPr>
          </a:p>
          <a:p>
            <a:pPr marL="18415" marR="728980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top:15px;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text-</a:t>
            </a:r>
            <a:r>
              <a:rPr dirty="0" sz="1200" spc="-10">
                <a:latin typeface="Calibri"/>
                <a:cs typeface="Calibri"/>
              </a:rPr>
              <a:t>align:center; color:white;</a:t>
            </a:r>
            <a:r>
              <a:rPr dirty="0" sz="1200" spc="8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font-</a:t>
            </a:r>
            <a:r>
              <a:rPr dirty="0" sz="1200" spc="-10">
                <a:latin typeface="Calibri"/>
                <a:cs typeface="Calibri"/>
              </a:rPr>
              <a:t>size:15px;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3187700" cy="8256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996315" indent="-6350">
              <a:lnSpc>
                <a:spcPct val="173300"/>
              </a:lnSpc>
              <a:spcBef>
                <a:spcPts val="10"/>
              </a:spcBef>
            </a:pPr>
            <a:r>
              <a:rPr dirty="0" sz="1200" spc="-10">
                <a:latin typeface="Calibri"/>
                <a:cs typeface="Calibri"/>
              </a:rPr>
              <a:t>.home-</a:t>
            </a:r>
            <a:r>
              <a:rPr dirty="0" sz="1200">
                <a:latin typeface="Calibri"/>
                <a:cs typeface="Calibri"/>
              </a:rPr>
              <a:t>container{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text-</a:t>
            </a:r>
            <a:r>
              <a:rPr dirty="0" sz="1200" spc="-10">
                <a:latin typeface="Calibri"/>
                <a:cs typeface="Calibri"/>
              </a:rPr>
              <a:t>align:center; color:white;</a:t>
            </a:r>
            <a:endParaRPr sz="1200">
              <a:latin typeface="Calibri"/>
              <a:cs typeface="Calibri"/>
            </a:endParaRPr>
          </a:p>
          <a:p>
            <a:pPr marL="18415" marR="902335">
              <a:lnSpc>
                <a:spcPct val="173400"/>
              </a:lnSpc>
            </a:pPr>
            <a:r>
              <a:rPr dirty="0" sz="1200" spc="-10">
                <a:latin typeface="Calibri"/>
                <a:cs typeface="Calibri"/>
              </a:rPr>
              <a:t>background:rgba(255,255,255,0.08); padding:50px;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border-radius:20px; backdrop-</a:t>
            </a:r>
            <a:r>
              <a:rPr dirty="0" sz="1200">
                <a:latin typeface="Calibri"/>
                <a:cs typeface="Calibri"/>
              </a:rPr>
              <a:t>filter:</a:t>
            </a:r>
            <a:r>
              <a:rPr dirty="0" sz="1200" spc="-10">
                <a:latin typeface="Calibri"/>
                <a:cs typeface="Calibri"/>
              </a:rPr>
              <a:t> blur(10px);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box- </a:t>
            </a:r>
            <a:r>
              <a:rPr dirty="0" sz="1200">
                <a:latin typeface="Calibri"/>
                <a:cs typeface="Calibri"/>
              </a:rPr>
              <a:t>shadow:0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10px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35px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rgba(0,0,0,0.6); width:420px;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958850" indent="-6350">
              <a:lnSpc>
                <a:spcPct val="173300"/>
              </a:lnSpc>
              <a:spcBef>
                <a:spcPts val="15"/>
              </a:spcBef>
            </a:pPr>
            <a:r>
              <a:rPr dirty="0" sz="1200" spc="-10">
                <a:latin typeface="Calibri"/>
                <a:cs typeface="Calibri"/>
              </a:rPr>
              <a:t>.home-container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h1{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font-</a:t>
            </a:r>
            <a:r>
              <a:rPr dirty="0" sz="1200" spc="-10">
                <a:latin typeface="Calibri"/>
                <a:cs typeface="Calibri"/>
              </a:rPr>
              <a:t>size:32px; margin-bottom:15px;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1458595" indent="-6350">
              <a:lnSpc>
                <a:spcPct val="174300"/>
              </a:lnSpc>
              <a:spcBef>
                <a:spcPts val="10"/>
              </a:spcBef>
            </a:pPr>
            <a:r>
              <a:rPr dirty="0" sz="1200" spc="-10">
                <a:latin typeface="Calibri"/>
                <a:cs typeface="Calibri"/>
              </a:rPr>
              <a:t>.home-container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p{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margin- bottom:30px;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color:#ddd;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287655" indent="-6350">
              <a:lnSpc>
                <a:spcPct val="173300"/>
              </a:lnSpc>
              <a:spcBef>
                <a:spcPts val="10"/>
              </a:spcBef>
            </a:pPr>
            <a:r>
              <a:rPr dirty="0" sz="1200" spc="-20">
                <a:latin typeface="Calibri"/>
                <a:cs typeface="Calibri"/>
              </a:rPr>
              <a:t>.start-</a:t>
            </a:r>
            <a:r>
              <a:rPr dirty="0" sz="1200">
                <a:latin typeface="Calibri"/>
                <a:cs typeface="Calibri"/>
              </a:rPr>
              <a:t>btn{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text-</a:t>
            </a:r>
            <a:r>
              <a:rPr dirty="0" sz="1200" spc="-10">
                <a:latin typeface="Calibri"/>
                <a:cs typeface="Calibri"/>
              </a:rPr>
              <a:t>decoration:none;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padding:12px </a:t>
            </a:r>
            <a:r>
              <a:rPr dirty="0" sz="1200">
                <a:latin typeface="Calibri"/>
                <a:cs typeface="Calibri"/>
              </a:rPr>
              <a:t>25px;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border-radius:10px;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background:linear-</a:t>
            </a:r>
            <a:endParaRPr sz="1200">
              <a:latin typeface="Calibri"/>
              <a:cs typeface="Calibri"/>
            </a:endParaRPr>
          </a:p>
          <a:p>
            <a:pPr marL="18415" marR="5080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gradient(45deg,#ff4b2b,#ff416c);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color:white;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font- </a:t>
            </a:r>
            <a:r>
              <a:rPr dirty="0" sz="1200" spc="-10">
                <a:latin typeface="Calibri"/>
                <a:cs typeface="Calibri"/>
              </a:rPr>
              <a:t>weight:bold;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transition:0.3s;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dirty="0" sz="1200" spc="-20">
                <a:latin typeface="Calibri"/>
                <a:cs typeface="Calibri"/>
              </a:rPr>
              <a:t>.start-</a:t>
            </a:r>
            <a:r>
              <a:rPr dirty="0" sz="1200" spc="-10">
                <a:latin typeface="Calibri"/>
                <a:cs typeface="Calibri"/>
              </a:rPr>
              <a:t>btn:hover{</a:t>
            </a:r>
            <a:endParaRPr sz="1200">
              <a:latin typeface="Calibri"/>
              <a:cs typeface="Calibri"/>
            </a:endParaRPr>
          </a:p>
          <a:p>
            <a:pPr marL="18415" marR="899794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transform:scale(1.05);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 spc="-30">
                <a:latin typeface="Calibri"/>
                <a:cs typeface="Calibri"/>
              </a:rPr>
              <a:t>box-</a:t>
            </a:r>
            <a:r>
              <a:rPr dirty="0" sz="1200" spc="-10">
                <a:latin typeface="Calibri"/>
                <a:cs typeface="Calibri"/>
              </a:rPr>
              <a:t>shadow:0 </a:t>
            </a:r>
            <a:r>
              <a:rPr dirty="0" sz="1200">
                <a:latin typeface="Calibri"/>
                <a:cs typeface="Calibri"/>
              </a:rPr>
              <a:t>0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15px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#ff416c;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 b="1">
                <a:latin typeface="Calibri"/>
                <a:cs typeface="Calibri"/>
              </a:rPr>
              <a:t>SCRIPT.JS: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68425"/>
            <a:ext cx="5950585" cy="8065770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form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document.getElementById("studentForm")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form.addEventListener("submit",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async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200"/>
              </a:spcBef>
            </a:pPr>
            <a:r>
              <a:rPr dirty="0" sz="1200">
                <a:latin typeface="Calibri"/>
                <a:cs typeface="Calibri"/>
              </a:rPr>
              <a:t>(e)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8415" marR="2889250" indent="-6350">
              <a:lnSpc>
                <a:spcPct val="173300"/>
              </a:lnSpc>
              <a:spcBef>
                <a:spcPts val="15"/>
              </a:spcBef>
            </a:pPr>
            <a:r>
              <a:rPr dirty="0" sz="1200" spc="-10">
                <a:latin typeface="Calibri"/>
                <a:cs typeface="Calibri"/>
              </a:rPr>
              <a:t>e.preventDefault()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student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{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name: </a:t>
            </a:r>
            <a:r>
              <a:rPr dirty="0" sz="1200" spc="-10">
                <a:latin typeface="Calibri"/>
                <a:cs typeface="Calibri"/>
              </a:rPr>
              <a:t>document.getElementById("name").value,</a:t>
            </a:r>
            <a:r>
              <a:rPr dirty="0" sz="1200" spc="114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email: document.getElementById("email").value,</a:t>
            </a:r>
            <a:r>
              <a:rPr dirty="0" sz="1200" spc="114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dob:</a:t>
            </a:r>
            <a:endParaRPr sz="1200">
              <a:latin typeface="Calibri"/>
              <a:cs typeface="Calibri"/>
            </a:endParaRPr>
          </a:p>
          <a:p>
            <a:pPr marL="18415" marR="2444750">
              <a:lnSpc>
                <a:spcPct val="173400"/>
              </a:lnSpc>
            </a:pPr>
            <a:r>
              <a:rPr dirty="0" sz="1200" spc="-10">
                <a:latin typeface="Calibri"/>
                <a:cs typeface="Calibri"/>
              </a:rPr>
              <a:t>document.getElementById("dob").value,</a:t>
            </a:r>
            <a:r>
              <a:rPr dirty="0" sz="1200" spc="1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department: document.getElementById("department").value,</a:t>
            </a:r>
            <a:r>
              <a:rPr dirty="0" sz="1200" spc="17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phone: document.getElementById("phone").value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}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try{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await</a:t>
            </a:r>
            <a:endParaRPr sz="1200">
              <a:latin typeface="Calibri"/>
              <a:cs typeface="Calibri"/>
            </a:endParaRPr>
          </a:p>
          <a:p>
            <a:pPr marL="18415" marR="2212340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fetch("</a:t>
            </a:r>
            <a:r>
              <a:rPr dirty="0" sz="1200" spc="-10">
                <a:latin typeface="Calibri"/>
                <a:cs typeface="Calibri"/>
                <a:hlinkClick r:id="rId2"/>
              </a:rPr>
              <a:t>http://localhost:3000/addStudent</a:t>
            </a:r>
            <a:r>
              <a:rPr dirty="0" sz="1200" spc="-10">
                <a:latin typeface="Calibri"/>
                <a:cs typeface="Calibri"/>
              </a:rPr>
              <a:t>",{</a:t>
            </a:r>
            <a:r>
              <a:rPr dirty="0" sz="1200" spc="8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method:"POST", headers:{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10">
                <a:latin typeface="Calibri"/>
                <a:cs typeface="Calibri"/>
              </a:rPr>
              <a:t>"Content-Type":"application/json"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25">
                <a:latin typeface="Calibri"/>
                <a:cs typeface="Calibri"/>
              </a:rPr>
              <a:t>},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body:JSON.stringify(student)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 marL="18415" marR="4218305" indent="-6350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await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res.text() </a:t>
            </a:r>
            <a:r>
              <a:rPr dirty="0" sz="1200">
                <a:latin typeface="Calibri"/>
                <a:cs typeface="Calibri"/>
              </a:rPr>
              <a:t>alert(data)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clear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form</a:t>
            </a:r>
            <a:endParaRPr sz="1200">
              <a:latin typeface="Calibri"/>
              <a:cs typeface="Calibri"/>
            </a:endParaRPr>
          </a:p>
          <a:p>
            <a:pPr marL="18415" marR="4304665">
              <a:lnSpc>
                <a:spcPts val="2510"/>
              </a:lnSpc>
              <a:spcBef>
                <a:spcPts val="245"/>
              </a:spcBef>
            </a:pPr>
            <a:r>
              <a:rPr dirty="0" sz="1200" spc="-10">
                <a:latin typeface="Calibri"/>
                <a:cs typeface="Calibri"/>
              </a:rPr>
              <a:t>form.reset()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}catch(error){ console.log("Error:",error)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200">
                <a:latin typeface="Calibri"/>
                <a:cs typeface="Calibri"/>
              </a:rPr>
              <a:t>}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goHome(){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10">
                <a:latin typeface="Calibri"/>
                <a:cs typeface="Calibri"/>
              </a:rPr>
              <a:t>window.location.href="index.html"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40"/>
              </a:spcBef>
            </a:pPr>
            <a:endParaRPr sz="1200">
              <a:latin typeface="Calibri"/>
              <a:cs typeface="Calibri"/>
            </a:endParaRPr>
          </a:p>
          <a:p>
            <a:pPr marL="18415" marR="4028440" indent="-6350">
              <a:lnSpc>
                <a:spcPct val="173300"/>
              </a:lnSpc>
              <a:spcBef>
                <a:spcPts val="5"/>
              </a:spcBef>
            </a:pPr>
            <a:r>
              <a:rPr dirty="0" sz="1200" b="1">
                <a:latin typeface="Calibri"/>
                <a:cs typeface="Calibri"/>
              </a:rPr>
              <a:t>SERVER.JS: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express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require("express")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cors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4609465" cy="825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require("cors")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path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</a:t>
            </a:r>
            <a:endParaRPr sz="1200">
              <a:latin typeface="Calibri"/>
              <a:cs typeface="Calibri"/>
            </a:endParaRPr>
          </a:p>
          <a:p>
            <a:pPr marL="18415" marR="2916555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require("path")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const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db </a:t>
            </a:r>
            <a:r>
              <a:rPr dirty="0" sz="1200" spc="-5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require("./db")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6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express() app.use(cors()) app.use(express.json())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static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(HTML,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CSS,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JS)</a:t>
            </a:r>
            <a:endParaRPr sz="1200">
              <a:latin typeface="Calibri"/>
              <a:cs typeface="Calibri"/>
            </a:endParaRPr>
          </a:p>
          <a:p>
            <a:pPr marL="18415" marR="1576070">
              <a:lnSpc>
                <a:spcPct val="173400"/>
              </a:lnSpc>
            </a:pPr>
            <a:r>
              <a:rPr dirty="0" sz="1200">
                <a:latin typeface="Calibri"/>
                <a:cs typeface="Calibri"/>
              </a:rPr>
              <a:t>app.use(express.static(</a:t>
            </a:r>
            <a:r>
              <a:rPr dirty="0" u="sng" sz="1200" spc="204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1200">
                <a:latin typeface="Calibri"/>
                <a:cs typeface="Calibri"/>
              </a:rPr>
              <a:t>dirname))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Redirect </a:t>
            </a:r>
            <a:r>
              <a:rPr dirty="0" sz="1200">
                <a:latin typeface="Calibri"/>
                <a:cs typeface="Calibri"/>
              </a:rPr>
              <a:t>root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link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index.html </a:t>
            </a:r>
            <a:r>
              <a:rPr dirty="0" sz="1200">
                <a:latin typeface="Calibri"/>
                <a:cs typeface="Calibri"/>
              </a:rPr>
              <a:t>app.get("/",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(req,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res)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>
                <a:latin typeface="Calibri"/>
                <a:cs typeface="Calibri"/>
              </a:rPr>
              <a:t>res.sendFile(path.join(</a:t>
            </a:r>
            <a:r>
              <a:rPr dirty="0" u="sng" sz="1200" spc="204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1200">
                <a:latin typeface="Calibri"/>
                <a:cs typeface="Calibri"/>
              </a:rPr>
              <a:t>dirname,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"index.html"))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Insert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student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 </a:t>
            </a:r>
            <a:r>
              <a:rPr dirty="0" sz="1200" spc="-10">
                <a:latin typeface="Calibri"/>
                <a:cs typeface="Calibri"/>
              </a:rPr>
              <a:t>app.post("/addStudent", </a:t>
            </a:r>
            <a:r>
              <a:rPr dirty="0" sz="1200">
                <a:latin typeface="Calibri"/>
                <a:cs typeface="Calibri"/>
              </a:rPr>
              <a:t>(req,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res)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{ </a:t>
            </a:r>
            <a:r>
              <a:rPr dirty="0" sz="1200" spc="-10">
                <a:latin typeface="Calibri"/>
                <a:cs typeface="Calibri"/>
              </a:rPr>
              <a:t>const</a:t>
            </a:r>
            <a:endParaRPr sz="1200">
              <a:latin typeface="Calibri"/>
              <a:cs typeface="Calibri"/>
            </a:endParaRPr>
          </a:p>
          <a:p>
            <a:pPr marL="18415" marR="5080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{name,email,dob,department,phone}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 req.body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const sql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"INSERT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INTO </a:t>
            </a:r>
            <a:r>
              <a:rPr dirty="0" sz="1200" spc="-10">
                <a:latin typeface="Calibri"/>
                <a:cs typeface="Calibri"/>
              </a:rPr>
              <a:t>students(name,email,dob,department,phone)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VALUES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(?,?,?,?,?)"</a:t>
            </a:r>
            <a:endParaRPr sz="1200">
              <a:latin typeface="Calibri"/>
              <a:cs typeface="Calibri"/>
            </a:endParaRPr>
          </a:p>
          <a:p>
            <a:pPr marL="12700" marR="563880" indent="5715">
              <a:lnSpc>
                <a:spcPts val="2510"/>
              </a:lnSpc>
              <a:spcBef>
                <a:spcPts val="245"/>
              </a:spcBef>
            </a:pPr>
            <a:r>
              <a:rPr dirty="0" sz="1200" spc="-10">
                <a:latin typeface="Calibri"/>
                <a:cs typeface="Calibri"/>
              </a:rPr>
              <a:t>db.query(sql,[name,email,dob,department,phone],(err,result)=&gt;{ </a:t>
            </a:r>
            <a:r>
              <a:rPr dirty="0" sz="1200">
                <a:latin typeface="Calibri"/>
                <a:cs typeface="Calibri"/>
              </a:rPr>
              <a:t>if(err){ </a:t>
            </a:r>
            <a:r>
              <a:rPr dirty="0" sz="1200" spc="-10">
                <a:latin typeface="Calibri"/>
                <a:cs typeface="Calibri"/>
              </a:rPr>
              <a:t>res.send(err)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}else{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810"/>
              </a:spcBef>
            </a:pPr>
            <a:r>
              <a:rPr dirty="0" sz="1200" spc="-10">
                <a:latin typeface="Calibri"/>
                <a:cs typeface="Calibri"/>
              </a:rPr>
              <a:t>res.send("Student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Added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Successfully")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4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student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data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app.get("/students",(req,res)=&gt;{</a:t>
            </a:r>
            <a:r>
              <a:rPr dirty="0" sz="1200" spc="9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db.query("SELECT</a:t>
            </a:r>
            <a:endParaRPr sz="1200">
              <a:latin typeface="Calibri"/>
              <a:cs typeface="Calibri"/>
            </a:endParaRPr>
          </a:p>
          <a:p>
            <a:pPr marL="12700" marR="2571750" indent="5715">
              <a:lnSpc>
                <a:spcPts val="2510"/>
              </a:lnSpc>
              <a:spcBef>
                <a:spcPts val="250"/>
              </a:spcBef>
            </a:pPr>
            <a:r>
              <a:rPr dirty="0" sz="1200">
                <a:latin typeface="Calibri"/>
                <a:cs typeface="Calibri"/>
              </a:rPr>
              <a:t>*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students",(err,result)=&gt;{ if(err){</a:t>
            </a:r>
            <a:endParaRPr sz="1200">
              <a:latin typeface="Calibri"/>
              <a:cs typeface="Calibri"/>
            </a:endParaRPr>
          </a:p>
          <a:p>
            <a:pPr marL="18415" marR="3409950">
              <a:lnSpc>
                <a:spcPts val="2500"/>
              </a:lnSpc>
            </a:pPr>
            <a:r>
              <a:rPr dirty="0" sz="1200" spc="-10">
                <a:latin typeface="Calibri"/>
                <a:cs typeface="Calibri"/>
              </a:rPr>
              <a:t>res.send(err)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}else{ res.json(result)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3408679" cy="762380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Start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server</a:t>
            </a:r>
            <a:r>
              <a:rPr dirty="0" sz="1200" spc="-10">
                <a:latin typeface="Calibri"/>
                <a:cs typeface="Calibri"/>
              </a:rPr>
              <a:t> app.listen(3000,()=&gt;{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console.log("Server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running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at: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  <a:hlinkClick r:id="rId2"/>
              </a:rPr>
              <a:t>http://localhost:3000")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10" b="1">
                <a:latin typeface="Calibri"/>
                <a:cs typeface="Calibri"/>
              </a:rPr>
              <a:t>DB.JS:</a:t>
            </a:r>
            <a:endParaRPr sz="1200">
              <a:latin typeface="Calibri"/>
              <a:cs typeface="Calibri"/>
            </a:endParaRPr>
          </a:p>
          <a:p>
            <a:pPr marL="18415" marR="1122045" indent="-6350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mysql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require("mysql") </a:t>
            </a:r>
            <a:r>
              <a:rPr dirty="0" sz="1200" spc="-20">
                <a:latin typeface="Calibri"/>
                <a:cs typeface="Calibri"/>
              </a:rPr>
              <a:t>const </a:t>
            </a:r>
            <a:r>
              <a:rPr dirty="0" sz="1200">
                <a:latin typeface="Calibri"/>
                <a:cs typeface="Calibri"/>
              </a:rPr>
              <a:t>db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mysql.createConnection({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host: </a:t>
            </a:r>
            <a:r>
              <a:rPr dirty="0" sz="1200" spc="-10">
                <a:latin typeface="Calibri"/>
                <a:cs typeface="Calibri"/>
              </a:rPr>
              <a:t>"localhost",</a:t>
            </a:r>
            <a:r>
              <a:rPr dirty="0" sz="1200">
                <a:latin typeface="Calibri"/>
                <a:cs typeface="Calibri"/>
              </a:rPr>
              <a:t> user: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"root",</a:t>
            </a:r>
            <a:r>
              <a:rPr dirty="0" sz="1200" spc="-10">
                <a:latin typeface="Calibri"/>
                <a:cs typeface="Calibri"/>
              </a:rPr>
              <a:t> password: "fahi",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database:</a:t>
            </a:r>
            <a:r>
              <a:rPr dirty="0" sz="1200" spc="-7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"studentdb"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db.connect((err)=&gt;{</a:t>
            </a:r>
            <a:endParaRPr sz="1200">
              <a:latin typeface="Calibri"/>
              <a:cs typeface="Calibri"/>
            </a:endParaRPr>
          </a:p>
          <a:p>
            <a:pPr marL="18415" marR="1565275" indent="-6350">
              <a:lnSpc>
                <a:spcPct val="173300"/>
              </a:lnSpc>
              <a:spcBef>
                <a:spcPts val="15"/>
              </a:spcBef>
            </a:pPr>
            <a:r>
              <a:rPr dirty="0" sz="1200">
                <a:latin typeface="Calibri"/>
                <a:cs typeface="Calibri"/>
              </a:rPr>
              <a:t>if(err){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console.log("Database </a:t>
            </a:r>
            <a:r>
              <a:rPr dirty="0" sz="1200">
                <a:latin typeface="Calibri"/>
                <a:cs typeface="Calibri"/>
              </a:rPr>
              <a:t>Error:",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err)</a:t>
            </a:r>
            <a:endParaRPr sz="1200">
              <a:latin typeface="Calibri"/>
              <a:cs typeface="Calibri"/>
            </a:endParaRPr>
          </a:p>
          <a:p>
            <a:pPr marL="18415" marR="1065530" indent="-6350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}else{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console.log("MySQL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Connected Successfully")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>
                <a:latin typeface="Calibri"/>
                <a:cs typeface="Calibri"/>
              </a:rPr>
              <a:t>}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module.exports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db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 b="1">
                <a:latin typeface="Calibri"/>
                <a:cs typeface="Calibri"/>
              </a:rPr>
              <a:t>OUTPUTS: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268461"/>
            <a:ext cx="5529580" cy="762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 marR="5080" indent="-6350">
              <a:lnSpc>
                <a:spcPct val="114199"/>
              </a:lnSpc>
              <a:spcBef>
                <a:spcPts val="100"/>
              </a:spcBef>
            </a:pPr>
            <a:r>
              <a:rPr dirty="0" sz="1200" spc="-25" b="1">
                <a:latin typeface="Calibri"/>
                <a:cs typeface="Calibri"/>
              </a:rPr>
              <a:t>RESULT: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student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registration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system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was</a:t>
            </a:r>
            <a:r>
              <a:rPr dirty="0" sz="1200" spc="-10">
                <a:latin typeface="Calibri"/>
                <a:cs typeface="Calibri"/>
              </a:rPr>
              <a:t> successfully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developed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store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manage </a:t>
            </a:r>
            <a:r>
              <a:rPr dirty="0" sz="1200">
                <a:latin typeface="Calibri"/>
                <a:cs typeface="Calibri"/>
              </a:rPr>
              <a:t>student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web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interface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MySQL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database</a:t>
            </a:r>
            <a:r>
              <a:rPr dirty="0" sz="1200" spc="-10" b="1"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20">
                <a:latin typeface="Calibri"/>
                <a:cs typeface="Calibri"/>
              </a:rPr>
              <a:t>TASK2: </a:t>
            </a:r>
            <a:r>
              <a:rPr dirty="0" sz="1200" b="1">
                <a:latin typeface="Calibri"/>
                <a:cs typeface="Calibri"/>
              </a:rPr>
              <a:t>Data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Retrieval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&amp;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Sorting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Dashboard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949325" y="914400"/>
            <a:ext cx="5543550" cy="6993255"/>
            <a:chOff x="949325" y="914400"/>
            <a:chExt cx="5543550" cy="699325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9960" y="914400"/>
              <a:ext cx="5504053" cy="3676015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9325" y="4605528"/>
              <a:ext cx="5543550" cy="330161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68425"/>
            <a:ext cx="5968365" cy="8024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 marR="5080" indent="-6350">
              <a:lnSpc>
                <a:spcPct val="114199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AIM:</a:t>
            </a:r>
            <a:r>
              <a:rPr dirty="0" sz="1200" spc="-45" b="1">
                <a:latin typeface="Calibri"/>
                <a:cs typeface="Calibri"/>
              </a:rPr>
              <a:t> </a:t>
            </a:r>
            <a:r>
              <a:rPr dirty="0" sz="1200" spc="-6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develop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web-</a:t>
            </a:r>
            <a:r>
              <a:rPr dirty="0" sz="1200">
                <a:latin typeface="Calibri"/>
                <a:cs typeface="Calibri"/>
              </a:rPr>
              <a:t>based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dashboard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allows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store,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retrieve,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display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student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efficiently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database,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present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structured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format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easy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access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and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200"/>
              </a:spcBef>
            </a:pPr>
            <a:r>
              <a:rPr dirty="0" sz="1200" spc="-10">
                <a:latin typeface="Calibri"/>
                <a:cs typeface="Calibri"/>
              </a:rPr>
              <a:t>management.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 b="1">
                <a:latin typeface="Calibri"/>
                <a:cs typeface="Calibri"/>
              </a:rPr>
              <a:t>ALGORITHM: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Start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application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9425" algn="l"/>
              </a:tabLst>
            </a:pPr>
            <a:r>
              <a:rPr dirty="0" sz="1200" spc="-10">
                <a:latin typeface="Calibri"/>
                <a:cs typeface="Calibri"/>
              </a:rPr>
              <a:t>Initialize</a:t>
            </a:r>
            <a:r>
              <a:rPr dirty="0" sz="1200">
                <a:latin typeface="Calibri"/>
                <a:cs typeface="Calibri"/>
              </a:rPr>
              <a:t> 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server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Express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framework</a:t>
            </a:r>
            <a:endParaRPr sz="1200">
              <a:latin typeface="Calibri"/>
              <a:cs typeface="Calibri"/>
            </a:endParaRPr>
          </a:p>
          <a:p>
            <a:pPr marL="478790" marR="165735" indent="-228600">
              <a:lnSpc>
                <a:spcPct val="172500"/>
              </a:lnSpc>
              <a:spcBef>
                <a:spcPts val="35"/>
              </a:spcBef>
              <a:buAutoNum type="arabicPeriod"/>
              <a:tabLst>
                <a:tab pos="478790" algn="l"/>
              </a:tabLst>
            </a:pPr>
            <a:r>
              <a:rPr dirty="0" sz="1200" spc="-10">
                <a:latin typeface="Calibri"/>
                <a:cs typeface="Calibri"/>
              </a:rPr>
              <a:t>Establish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database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connection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MySQL</a:t>
            </a:r>
            <a:r>
              <a:rPr dirty="0" sz="1200" spc="2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4.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Load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frontend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pages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(HTML,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CSS,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JS)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in </a:t>
            </a:r>
            <a:r>
              <a:rPr dirty="0" sz="1200" spc="-10">
                <a:latin typeface="Calibri"/>
                <a:cs typeface="Calibri"/>
              </a:rPr>
              <a:t>browser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85"/>
              </a:spcBef>
            </a:pPr>
            <a:r>
              <a:rPr dirty="0" sz="1200">
                <a:latin typeface="Segoe UI Symbol"/>
                <a:cs typeface="Segoe UI Symbol"/>
              </a:rPr>
              <a:t>➤</a:t>
            </a:r>
            <a:r>
              <a:rPr dirty="0" sz="1200" spc="-85">
                <a:latin typeface="Segoe UI Symbol"/>
                <a:cs typeface="Segoe UI Symbol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Insertion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Process: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960"/>
              </a:spcBef>
              <a:buAutoNum type="arabicPeriod" startAt="5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enters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student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details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(Name,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Email,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DOB,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Department,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Phone)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65"/>
              </a:spcBef>
              <a:buAutoNum type="arabicPeriod" startAt="5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Send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backend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POST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request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(/addStudent)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 startAt="5"/>
              <a:tabLst>
                <a:tab pos="479425" algn="l"/>
              </a:tabLst>
            </a:pPr>
            <a:r>
              <a:rPr dirty="0" sz="1200" spc="-10">
                <a:latin typeface="Calibri"/>
                <a:cs typeface="Calibri"/>
              </a:rPr>
              <a:t>Execute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SQL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query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insert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database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65"/>
              </a:spcBef>
              <a:buAutoNum type="arabicPeriod" startAt="5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Display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success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message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after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insertion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dirty="0" sz="1200">
                <a:latin typeface="Segoe UI Symbol"/>
                <a:cs typeface="Segoe UI Symbol"/>
              </a:rPr>
              <a:t>➤</a:t>
            </a:r>
            <a:r>
              <a:rPr dirty="0" sz="1200" spc="-85">
                <a:latin typeface="Segoe UI Symbol"/>
                <a:cs typeface="Segoe UI Symbol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Retrieval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Process: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965"/>
              </a:spcBef>
              <a:buAutoNum type="arabicPeriod" startAt="9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Send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request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(/students)</a:t>
            </a:r>
            <a:endParaRPr sz="1200">
              <a:latin typeface="Calibri"/>
              <a:cs typeface="Calibri"/>
            </a:endParaRPr>
          </a:p>
          <a:p>
            <a:pPr marL="477520" indent="-227329">
              <a:lnSpc>
                <a:spcPct val="100000"/>
              </a:lnSpc>
              <a:spcBef>
                <a:spcPts val="1065"/>
              </a:spcBef>
              <a:buAutoNum type="arabicPeriod" startAt="9"/>
              <a:tabLst>
                <a:tab pos="477520" algn="l"/>
              </a:tabLst>
            </a:pPr>
            <a:r>
              <a:rPr dirty="0" sz="1200">
                <a:latin typeface="Calibri"/>
                <a:cs typeface="Calibri"/>
              </a:rPr>
              <a:t>Fetch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student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records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database</a:t>
            </a:r>
            <a:endParaRPr sz="1200">
              <a:latin typeface="Calibri"/>
              <a:cs typeface="Calibri"/>
            </a:endParaRPr>
          </a:p>
          <a:p>
            <a:pPr marL="477520" indent="-227329">
              <a:lnSpc>
                <a:spcPct val="100000"/>
              </a:lnSpc>
              <a:spcBef>
                <a:spcPts val="1070"/>
              </a:spcBef>
              <a:buAutoNum type="arabicPeriod" startAt="9"/>
              <a:tabLst>
                <a:tab pos="477520" algn="l"/>
              </a:tabLst>
            </a:pPr>
            <a:r>
              <a:rPr dirty="0" sz="1200">
                <a:latin typeface="Calibri"/>
                <a:cs typeface="Calibri"/>
              </a:rPr>
              <a:t>Convert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JSON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format</a:t>
            </a:r>
            <a:endParaRPr sz="1200">
              <a:latin typeface="Calibri"/>
              <a:cs typeface="Calibri"/>
            </a:endParaRPr>
          </a:p>
          <a:p>
            <a:pPr marL="477520" indent="-227329">
              <a:lnSpc>
                <a:spcPct val="100000"/>
              </a:lnSpc>
              <a:spcBef>
                <a:spcPts val="1070"/>
              </a:spcBef>
              <a:buAutoNum type="arabicPeriod" startAt="9"/>
              <a:tabLst>
                <a:tab pos="477520" algn="l"/>
              </a:tabLst>
            </a:pPr>
            <a:r>
              <a:rPr dirty="0" sz="1200">
                <a:latin typeface="Calibri"/>
                <a:cs typeface="Calibri"/>
              </a:rPr>
              <a:t>Display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dynamically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dashboard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table.</a:t>
            </a:r>
            <a:endParaRPr sz="1200">
              <a:latin typeface="Calibri"/>
              <a:cs typeface="Calibri"/>
            </a:endParaRPr>
          </a:p>
          <a:p>
            <a:pPr marL="477520" indent="-227329">
              <a:lnSpc>
                <a:spcPct val="100000"/>
              </a:lnSpc>
              <a:spcBef>
                <a:spcPts val="1065"/>
              </a:spcBef>
              <a:buAutoNum type="arabicPeriod" startAt="9"/>
              <a:tabLst>
                <a:tab pos="477520" algn="l"/>
              </a:tabLst>
            </a:pPr>
            <a:r>
              <a:rPr dirty="0" sz="1200">
                <a:latin typeface="Calibri"/>
                <a:cs typeface="Calibri"/>
              </a:rPr>
              <a:t>Arrange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structured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format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(table/grid)</a:t>
            </a:r>
            <a:endParaRPr sz="1200">
              <a:latin typeface="Calibri"/>
              <a:cs typeface="Calibri"/>
            </a:endParaRPr>
          </a:p>
          <a:p>
            <a:pPr marL="477520" indent="-227329">
              <a:lnSpc>
                <a:spcPct val="100000"/>
              </a:lnSpc>
              <a:spcBef>
                <a:spcPts val="1055"/>
              </a:spcBef>
              <a:buAutoNum type="arabicPeriod" startAt="9"/>
              <a:tabLst>
                <a:tab pos="477520" algn="l"/>
              </a:tabLst>
            </a:pPr>
            <a:r>
              <a:rPr dirty="0" sz="1200">
                <a:latin typeface="Calibri"/>
                <a:cs typeface="Calibri"/>
              </a:rPr>
              <a:t>Allow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better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readability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management</a:t>
            </a:r>
            <a:endParaRPr sz="1200">
              <a:latin typeface="Calibri"/>
              <a:cs typeface="Calibri"/>
            </a:endParaRPr>
          </a:p>
          <a:p>
            <a:pPr marL="477520" indent="-227329">
              <a:lnSpc>
                <a:spcPct val="100000"/>
              </a:lnSpc>
              <a:spcBef>
                <a:spcPts val="1070"/>
              </a:spcBef>
              <a:buAutoNum type="arabicPeriod" startAt="9"/>
              <a:tabLst>
                <a:tab pos="477520" algn="l"/>
              </a:tabLst>
            </a:pPr>
            <a:r>
              <a:rPr dirty="0" sz="1200" spc="-10">
                <a:latin typeface="Calibri"/>
                <a:cs typeface="Calibri"/>
              </a:rPr>
              <a:t>Stop.</a:t>
            </a:r>
            <a:endParaRPr sz="1200">
              <a:latin typeface="Calibri"/>
              <a:cs typeface="Calibri"/>
            </a:endParaRPr>
          </a:p>
          <a:p>
            <a:pPr marL="12700" marR="5099685">
              <a:lnSpc>
                <a:spcPct val="174200"/>
              </a:lnSpc>
              <a:spcBef>
                <a:spcPts val="5"/>
              </a:spcBef>
            </a:pPr>
            <a:r>
              <a:rPr dirty="0" sz="1200" spc="-10" b="1">
                <a:latin typeface="Calibri"/>
                <a:cs typeface="Calibri"/>
              </a:rPr>
              <a:t>PROGRAM: INDEX.HTML: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&lt;!DOCTYPE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html&gt;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&lt;html&gt;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&lt;head&gt;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4225925" cy="8166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&lt;title&gt;Student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Portal&lt;/title&gt;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&lt;link </a:t>
            </a:r>
            <a:r>
              <a:rPr dirty="0" sz="1200" spc="-10">
                <a:latin typeface="Calibri"/>
                <a:cs typeface="Calibri"/>
              </a:rPr>
              <a:t>rel="stylesheet"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href="style.css"&gt;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&lt;/head&gt;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&lt;body&gt;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&lt;div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class="home-container"&gt;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&lt;h1&gt;Welcome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Student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Portal&lt;/h1&gt;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&lt;p&gt;Register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manage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student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information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easily.&lt;/p&gt;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&lt;a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href="registration.html"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class="start-</a:t>
            </a:r>
            <a:r>
              <a:rPr dirty="0" sz="1200">
                <a:latin typeface="Calibri"/>
                <a:cs typeface="Calibri"/>
              </a:rPr>
              <a:t>btn"&gt;Go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Registration&lt;/a&gt;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&lt;a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href="dashboard.html"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class="start-</a:t>
            </a:r>
            <a:r>
              <a:rPr dirty="0" sz="1200">
                <a:latin typeface="Calibri"/>
                <a:cs typeface="Calibri"/>
              </a:rPr>
              <a:t>btn"&gt;View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Dashboard&lt;/a&gt;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&lt;/div&gt;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&lt;/body&gt;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&lt;/html&gt;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 b="1">
                <a:latin typeface="Calibri"/>
                <a:cs typeface="Calibri"/>
              </a:rPr>
              <a:t>REGISTRATION.HTML: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>
                <a:latin typeface="Calibri"/>
                <a:cs typeface="Calibri"/>
              </a:rPr>
              <a:t>&lt;!DOCTYPE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html&gt;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&lt;html&gt;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&lt;head&gt;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&lt;title&gt;Student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Registration&lt;/title&gt;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&lt;link </a:t>
            </a:r>
            <a:r>
              <a:rPr dirty="0" sz="1200" spc="-10">
                <a:latin typeface="Calibri"/>
                <a:cs typeface="Calibri"/>
              </a:rPr>
              <a:t>rel="stylesheet"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href="style.css"&gt;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&lt;/head&gt;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&lt;body&gt;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&lt;div </a:t>
            </a:r>
            <a:r>
              <a:rPr dirty="0" sz="1200" spc="-10">
                <a:latin typeface="Calibri"/>
                <a:cs typeface="Calibri"/>
              </a:rPr>
              <a:t>class="container"&gt;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&lt;h1&gt;Student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Registration&lt;/h1&gt;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&lt;button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onclick="goHome()"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class="home-btn"&gt;Home&lt;/button&gt;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&lt;form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id="studentForm"&gt;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&lt;label&gt;Name&lt;/label&gt;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4811395" cy="8164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&lt;input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type="text"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id="name"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placeholder="Enter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name"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required&gt;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&lt;label&gt;Email&lt;/label&gt;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&lt;input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type="email"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id="email"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placeholder="Enter</a:t>
            </a:r>
            <a:r>
              <a:rPr dirty="0" sz="1200">
                <a:latin typeface="Calibri"/>
                <a:cs typeface="Calibri"/>
              </a:rPr>
              <a:t> your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email"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required&gt;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&lt;label&gt;Date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Birth&lt;/label&gt;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&lt;input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type="date"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id="dob"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required&gt;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&lt;label&gt;Department&lt;/label&gt;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&lt;select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id="department"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required&gt;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&lt;option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value=""&gt;Select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Department&lt;/option&gt;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&lt;option&gt;CSE&lt;/option&gt;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&lt;option&gt;IT&lt;/option&gt;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&lt;option&gt;ECE&lt;/option&gt;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&lt;option&gt;MECH&lt;/option&gt;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&lt;/select&gt;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&lt;label&gt;Phone&lt;/label&gt;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&lt;input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type="text"</a:t>
            </a:r>
            <a:r>
              <a:rPr dirty="0" sz="1200">
                <a:latin typeface="Calibri"/>
                <a:cs typeface="Calibri"/>
              </a:rPr>
              <a:t> id="phone"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placeholder="Enter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phone number"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required&gt;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&lt;button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type="submit"&gt;Register&lt;/button&gt;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&lt;/form&gt;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&lt;/div&gt;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&lt;script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src="script.js"&gt;&lt;/script&gt;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&lt;/body&gt;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&lt;/html&gt;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 b="1">
                <a:latin typeface="Calibri"/>
                <a:cs typeface="Calibri"/>
              </a:rPr>
              <a:t>DASHBOARD.HTML: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&lt;!DOCTYPE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html&gt;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&lt;html&gt;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&lt;head&gt;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&lt;title&gt;Student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Dashboard&lt;/title&gt;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4009390" cy="8166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&lt;link </a:t>
            </a:r>
            <a:r>
              <a:rPr dirty="0" sz="1200" spc="-10">
                <a:latin typeface="Calibri"/>
                <a:cs typeface="Calibri"/>
              </a:rPr>
              <a:t>rel="stylesheet"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href="dashboard.css"&gt;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&lt;/head&gt;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&lt;body&gt;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&lt;div </a:t>
            </a:r>
            <a:r>
              <a:rPr dirty="0" sz="1200" spc="-10">
                <a:latin typeface="Calibri"/>
                <a:cs typeface="Calibri"/>
              </a:rPr>
              <a:t>class="container"&gt;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&lt;button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onclick="goHome()"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class="home-btn"&gt;Home&lt;/button&gt;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&lt;h1&gt;Student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Dashboard&lt;/h1&gt;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&lt;div </a:t>
            </a:r>
            <a:r>
              <a:rPr dirty="0" sz="1200" spc="-10">
                <a:latin typeface="Calibri"/>
                <a:cs typeface="Calibri"/>
              </a:rPr>
              <a:t>class="controls"&gt;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&lt;select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id="sortSelect"&gt;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&lt;option </a:t>
            </a:r>
            <a:r>
              <a:rPr dirty="0" sz="1200" spc="-10">
                <a:latin typeface="Calibri"/>
                <a:cs typeface="Calibri"/>
              </a:rPr>
              <a:t>value=""&gt;Sort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By&lt;/option&gt;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&lt;option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value="name"&gt;Name&lt;/option&gt;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&lt;option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value="dob"&gt;Date</a:t>
            </a:r>
            <a:r>
              <a:rPr dirty="0" sz="1200">
                <a:latin typeface="Calibri"/>
                <a:cs typeface="Calibri"/>
              </a:rPr>
              <a:t> of </a:t>
            </a:r>
            <a:r>
              <a:rPr dirty="0" sz="1200" spc="-10">
                <a:latin typeface="Calibri"/>
                <a:cs typeface="Calibri"/>
              </a:rPr>
              <a:t>Birth&lt;/option&gt;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&lt;/select&gt;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&lt;select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id="departmentFilter"&gt;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&lt;option </a:t>
            </a:r>
            <a:r>
              <a:rPr dirty="0" sz="1200" spc="-10">
                <a:latin typeface="Calibri"/>
                <a:cs typeface="Calibri"/>
              </a:rPr>
              <a:t>value=""&gt;Filter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Department&lt;/option&gt;</a:t>
            </a:r>
            <a:endParaRPr sz="1200">
              <a:latin typeface="Calibri"/>
              <a:cs typeface="Calibri"/>
            </a:endParaRPr>
          </a:p>
          <a:p>
            <a:pPr marL="18415" marR="1289685" indent="-6350">
              <a:lnSpc>
                <a:spcPct val="173300"/>
              </a:lnSpc>
              <a:spcBef>
                <a:spcPts val="15"/>
              </a:spcBef>
            </a:pPr>
            <a:r>
              <a:rPr dirty="0" sz="1200">
                <a:latin typeface="Calibri"/>
                <a:cs typeface="Calibri"/>
              </a:rPr>
              <a:t>&lt;option </a:t>
            </a:r>
            <a:r>
              <a:rPr dirty="0" sz="1200" spc="-10">
                <a:latin typeface="Calibri"/>
                <a:cs typeface="Calibri"/>
              </a:rPr>
              <a:t>value="CSE"&gt;CSE&lt;/option&gt;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&lt;option value="IT"&gt;IT&lt;/option&gt;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&lt;option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value="ECE"&gt;ECE&lt;/option&gt;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&lt;option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value="MECH"&gt;MECH&lt;/option&gt;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&lt;/select&gt;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&lt;button onclick="loadStudents()"&gt;Apply&lt;/button&gt;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&lt;/div&gt;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&lt;table&gt;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&lt;thead&gt;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20">
                <a:latin typeface="Calibri"/>
                <a:cs typeface="Calibri"/>
              </a:rPr>
              <a:t>&lt;tr&gt;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&lt;th&gt;ID&lt;/th&gt;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&lt;th&gt;Name&lt;/th&gt;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3985895" cy="7526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&lt;th&gt;Email&lt;/th&gt;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&lt;th&gt;DOB&lt;/th&gt;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&lt;th&gt;Department&lt;/th&gt;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&lt;th&gt;Phone&lt;/th&gt;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&lt;/tr&gt;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&lt;/thead&gt;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&lt;tbody</a:t>
            </a:r>
            <a:r>
              <a:rPr dirty="0" sz="1200" spc="-10">
                <a:latin typeface="Calibri"/>
                <a:cs typeface="Calibri"/>
              </a:rPr>
              <a:t> id="studentTable"&gt;&lt;/tbody&gt;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&lt;/table&gt;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&lt;h2&gt;Department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Count&lt;/h2&gt;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&lt;div </a:t>
            </a:r>
            <a:r>
              <a:rPr dirty="0" sz="1200" spc="-10">
                <a:latin typeface="Calibri"/>
                <a:cs typeface="Calibri"/>
              </a:rPr>
              <a:t>id="deptCount"&gt;&lt;/div&gt;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&lt;/div&gt;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&lt;script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src="dashboard.js"&gt;&lt;/script&gt;</a:t>
            </a:r>
            <a:endParaRPr sz="1200">
              <a:latin typeface="Calibri"/>
              <a:cs typeface="Calibri"/>
            </a:endParaRPr>
          </a:p>
          <a:p>
            <a:pPr marL="18415" marR="1725930" indent="-6350">
              <a:lnSpc>
                <a:spcPct val="173300"/>
              </a:lnSpc>
              <a:spcBef>
                <a:spcPts val="10"/>
              </a:spcBef>
            </a:pPr>
            <a:r>
              <a:rPr dirty="0" sz="1200" spc="-10">
                <a:latin typeface="Calibri"/>
                <a:cs typeface="Calibri"/>
              </a:rPr>
              <a:t>&lt;script&gt;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goHome(){ window.location.href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"index.html"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&lt;/script&gt;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&lt;/body&gt;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&lt;/html&gt;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1200">
              <a:latin typeface="Calibri"/>
              <a:cs typeface="Calibri"/>
            </a:endParaRPr>
          </a:p>
          <a:p>
            <a:pPr marL="18415" marR="5080" indent="-6350">
              <a:lnSpc>
                <a:spcPct val="174400"/>
              </a:lnSpc>
            </a:pPr>
            <a:r>
              <a:rPr dirty="0" sz="1200" spc="-10" b="1">
                <a:latin typeface="Calibri"/>
                <a:cs typeface="Calibri"/>
              </a:rPr>
              <a:t>STYLE.CSS: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body{</a:t>
            </a:r>
            <a:r>
              <a:rPr dirty="0" sz="1200" spc="-25">
                <a:latin typeface="Calibri"/>
                <a:cs typeface="Calibri"/>
              </a:rPr>
              <a:t> font-</a:t>
            </a:r>
            <a:r>
              <a:rPr dirty="0" sz="1200">
                <a:latin typeface="Calibri"/>
                <a:cs typeface="Calibri"/>
              </a:rPr>
              <a:t>family: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'Segoe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UI',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sans-</a:t>
            </a:r>
            <a:r>
              <a:rPr dirty="0" sz="1200">
                <a:latin typeface="Calibri"/>
                <a:cs typeface="Calibri"/>
              </a:rPr>
              <a:t>serif;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background: linear-gradient(135deg,#0f2027,#203a43,#2c5364);</a:t>
            </a:r>
            <a:endParaRPr sz="1200">
              <a:latin typeface="Calibri"/>
              <a:cs typeface="Calibri"/>
            </a:endParaRPr>
          </a:p>
          <a:p>
            <a:pPr marL="18415" marR="551180">
              <a:lnSpc>
                <a:spcPct val="173300"/>
              </a:lnSpc>
              <a:spcBef>
                <a:spcPts val="10"/>
              </a:spcBef>
            </a:pPr>
            <a:r>
              <a:rPr dirty="0" sz="1200" spc="-10">
                <a:latin typeface="Calibri"/>
                <a:cs typeface="Calibri"/>
              </a:rPr>
              <a:t>height:100vh;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display:flex;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justify-content:center;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align- items:center;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margin:0;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2458720" cy="4651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.container{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width:420px;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padding:35px;</a:t>
            </a:r>
            <a:endParaRPr sz="1200">
              <a:latin typeface="Calibri"/>
              <a:cs typeface="Calibri"/>
            </a:endParaRPr>
          </a:p>
          <a:p>
            <a:pPr marL="18415" marR="173355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background:rgba(255,255,255,0.08); border-radius:18px;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backdrop-filter: blur(10px);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30">
                <a:latin typeface="Calibri"/>
                <a:cs typeface="Calibri"/>
              </a:rPr>
              <a:t>box-</a:t>
            </a:r>
            <a:r>
              <a:rPr dirty="0" sz="1200" spc="-10">
                <a:latin typeface="Calibri"/>
                <a:cs typeface="Calibri"/>
              </a:rPr>
              <a:t>shadow:0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10px </a:t>
            </a:r>
            <a:r>
              <a:rPr dirty="0" sz="1200" spc="-20">
                <a:latin typeface="Calibri"/>
                <a:cs typeface="Calibri"/>
              </a:rPr>
              <a:t>35px </a:t>
            </a:r>
            <a:r>
              <a:rPr dirty="0" sz="1200" spc="-10">
                <a:latin typeface="Calibri"/>
                <a:cs typeface="Calibri"/>
              </a:rPr>
              <a:t>rgba(0,0,0,0.6);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200">
              <a:latin typeface="Calibri"/>
              <a:cs typeface="Calibri"/>
            </a:endParaRPr>
          </a:p>
          <a:p>
            <a:pPr algn="just" marL="18415" marR="1141730" indent="-6350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h1{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text-</a:t>
            </a:r>
            <a:r>
              <a:rPr dirty="0" sz="1200" spc="-10">
                <a:latin typeface="Calibri"/>
                <a:cs typeface="Calibri"/>
              </a:rPr>
              <a:t>align:center; color:white;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margin- bottom:25px;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40"/>
              </a:spcBef>
            </a:pPr>
            <a:endParaRPr sz="1200">
              <a:latin typeface="Calibri"/>
              <a:cs typeface="Calibri"/>
            </a:endParaRPr>
          </a:p>
          <a:p>
            <a:pPr algn="just" marL="18415" marR="1141730" indent="-6350">
              <a:lnSpc>
                <a:spcPct val="173400"/>
              </a:lnSpc>
            </a:pPr>
            <a:r>
              <a:rPr dirty="0" sz="1200">
                <a:latin typeface="Calibri"/>
                <a:cs typeface="Calibri"/>
              </a:rPr>
              <a:t>h2{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text-</a:t>
            </a:r>
            <a:r>
              <a:rPr dirty="0" sz="1200" spc="-10">
                <a:latin typeface="Calibri"/>
                <a:cs typeface="Calibri"/>
              </a:rPr>
              <a:t>align:center; color:white;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margin- top:30px;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92860" y="6082665"/>
            <a:ext cx="1388110" cy="2746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form{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display:flex;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flex-</a:t>
            </a:r>
            <a:r>
              <a:rPr dirty="0" sz="1200" spc="-10">
                <a:latin typeface="Calibri"/>
                <a:cs typeface="Calibri"/>
              </a:rPr>
              <a:t>direction:column;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200">
              <a:latin typeface="Calibri"/>
              <a:cs typeface="Calibri"/>
            </a:endParaRPr>
          </a:p>
          <a:p>
            <a:pPr marL="18415" marR="276225" indent="-6350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label{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color:#ddd; </a:t>
            </a:r>
            <a:r>
              <a:rPr dirty="0" sz="1200" spc="-25">
                <a:latin typeface="Calibri"/>
                <a:cs typeface="Calibri"/>
              </a:rPr>
              <a:t>font-</a:t>
            </a:r>
            <a:r>
              <a:rPr dirty="0" sz="1200" spc="-10">
                <a:latin typeface="Calibri"/>
                <a:cs typeface="Calibri"/>
              </a:rPr>
              <a:t>size:14px;</a:t>
            </a:r>
            <a:endParaRPr sz="1200">
              <a:latin typeface="Calibri"/>
              <a:cs typeface="Calibri"/>
            </a:endParaRPr>
          </a:p>
          <a:p>
            <a:pPr marL="18415" marR="121285">
              <a:lnSpc>
                <a:spcPct val="173300"/>
              </a:lnSpc>
              <a:spcBef>
                <a:spcPts val="5"/>
              </a:spcBef>
            </a:pPr>
            <a:r>
              <a:rPr dirty="0" sz="1200" spc="-10">
                <a:latin typeface="Calibri"/>
                <a:cs typeface="Calibri"/>
              </a:rPr>
              <a:t>margin-bottom:5px; margin-top:10px;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4796790" cy="8143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input,select{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width:100%;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padding:12px;</a:t>
            </a:r>
            <a:endParaRPr sz="1200">
              <a:latin typeface="Calibri"/>
              <a:cs typeface="Calibri"/>
            </a:endParaRPr>
          </a:p>
          <a:p>
            <a:pPr marL="18415" marR="3453765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border:none;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border- radius:8px;</a:t>
            </a:r>
            <a:endParaRPr sz="1200">
              <a:latin typeface="Calibri"/>
              <a:cs typeface="Calibri"/>
            </a:endParaRPr>
          </a:p>
          <a:p>
            <a:pPr marL="18415" marR="3416300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background:#27496d; color:white;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font-</a:t>
            </a:r>
            <a:endParaRPr sz="1200">
              <a:latin typeface="Calibri"/>
              <a:cs typeface="Calibri"/>
            </a:endParaRPr>
          </a:p>
          <a:p>
            <a:pPr marL="18415" marR="3293745">
              <a:lnSpc>
                <a:spcPts val="2500"/>
              </a:lnSpc>
              <a:spcBef>
                <a:spcPts val="254"/>
              </a:spcBef>
            </a:pPr>
            <a:r>
              <a:rPr dirty="0" sz="1200" spc="-10">
                <a:latin typeface="Calibri"/>
                <a:cs typeface="Calibri"/>
              </a:rPr>
              <a:t>size:14px;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outline:none; margin-bottom:5px;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dirty="0" sz="1200">
                <a:latin typeface="Calibri"/>
                <a:cs typeface="Calibri"/>
              </a:rPr>
              <a:t>}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input:focus,select:focus{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box-</a:t>
            </a:r>
            <a:r>
              <a:rPr dirty="0" sz="1200" spc="-10">
                <a:latin typeface="Calibri"/>
                <a:cs typeface="Calibri"/>
              </a:rPr>
              <a:t>shadow:0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0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8px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#00eaff;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background:#2c5d8a;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40"/>
              </a:spcBef>
            </a:pPr>
            <a:endParaRPr sz="1200">
              <a:latin typeface="Calibri"/>
              <a:cs typeface="Calibri"/>
            </a:endParaRPr>
          </a:p>
          <a:p>
            <a:pPr marL="18415" marR="2296795" indent="-6350">
              <a:lnSpc>
                <a:spcPct val="173300"/>
              </a:lnSpc>
              <a:spcBef>
                <a:spcPts val="5"/>
              </a:spcBef>
            </a:pPr>
            <a:r>
              <a:rPr dirty="0" sz="1200">
                <a:latin typeface="Calibri"/>
                <a:cs typeface="Calibri"/>
              </a:rPr>
              <a:t>button{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margin-top:15px; padding:12px; </a:t>
            </a:r>
            <a:r>
              <a:rPr dirty="0" sz="1200">
                <a:latin typeface="Calibri"/>
                <a:cs typeface="Calibri"/>
              </a:rPr>
              <a:t>border:none;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border-radius:10px;</a:t>
            </a:r>
            <a:endParaRPr sz="1200">
              <a:latin typeface="Calibri"/>
              <a:cs typeface="Calibri"/>
            </a:endParaRPr>
          </a:p>
          <a:p>
            <a:pPr marL="18415" marR="1558290">
              <a:lnSpc>
                <a:spcPts val="2500"/>
              </a:lnSpc>
              <a:spcBef>
                <a:spcPts val="254"/>
              </a:spcBef>
            </a:pPr>
            <a:r>
              <a:rPr dirty="0" sz="1200" spc="-10">
                <a:latin typeface="Calibri"/>
                <a:cs typeface="Calibri"/>
              </a:rPr>
              <a:t>background:linear-gradient(45deg,#ff4b2b,#ff416c); color:white;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font-</a:t>
            </a:r>
            <a:r>
              <a:rPr dirty="0" sz="1200" spc="-10">
                <a:latin typeface="Calibri"/>
                <a:cs typeface="Calibri"/>
              </a:rPr>
              <a:t>size:16px;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font-</a:t>
            </a:r>
            <a:r>
              <a:rPr dirty="0" sz="1200" spc="-10">
                <a:latin typeface="Calibri"/>
                <a:cs typeface="Calibri"/>
              </a:rPr>
              <a:t>weight:bold;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795"/>
              </a:spcBef>
            </a:pPr>
            <a:r>
              <a:rPr dirty="0" sz="1200" spc="-10">
                <a:latin typeface="Calibri"/>
                <a:cs typeface="Calibri"/>
              </a:rPr>
              <a:t>cursor:pointer;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transition:0.3s;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40"/>
              </a:spcBef>
            </a:pPr>
            <a:endParaRPr sz="1200">
              <a:latin typeface="Calibri"/>
              <a:cs typeface="Calibri"/>
            </a:endParaRPr>
          </a:p>
          <a:p>
            <a:pPr marL="18415" marR="2519680" indent="-6350">
              <a:lnSpc>
                <a:spcPct val="173300"/>
              </a:lnSpc>
              <a:spcBef>
                <a:spcPts val="5"/>
              </a:spcBef>
            </a:pPr>
            <a:r>
              <a:rPr dirty="0" sz="1200" spc="-10">
                <a:latin typeface="Calibri"/>
                <a:cs typeface="Calibri"/>
              </a:rPr>
              <a:t>button:hover{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transform:scale(1.05); </a:t>
            </a:r>
            <a:r>
              <a:rPr dirty="0" sz="1200" spc="-25">
                <a:latin typeface="Calibri"/>
                <a:cs typeface="Calibri"/>
              </a:rPr>
              <a:t>box-</a:t>
            </a:r>
            <a:r>
              <a:rPr dirty="0" sz="1200" spc="-10">
                <a:latin typeface="Calibri"/>
                <a:cs typeface="Calibri"/>
              </a:rPr>
              <a:t>shadow:0 </a:t>
            </a:r>
            <a:r>
              <a:rPr dirty="0" sz="1200">
                <a:latin typeface="Calibri"/>
                <a:cs typeface="Calibri"/>
              </a:rPr>
              <a:t>0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15px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#ff416c;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50"/>
              </a:spcBef>
            </a:pPr>
            <a:endParaRPr sz="1200">
              <a:latin typeface="Calibri"/>
              <a:cs typeface="Calibri"/>
            </a:endParaRPr>
          </a:p>
          <a:p>
            <a:pPr marL="18415" marR="2865755" indent="-6350">
              <a:lnSpc>
                <a:spcPct val="173800"/>
              </a:lnSpc>
            </a:pPr>
            <a:r>
              <a:rPr dirty="0" sz="1200" spc="-10">
                <a:latin typeface="Calibri"/>
                <a:cs typeface="Calibri"/>
              </a:rPr>
              <a:t>#studentList{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margin-top:15px; </a:t>
            </a:r>
            <a:r>
              <a:rPr dirty="0" sz="1200" spc="-25">
                <a:latin typeface="Calibri"/>
                <a:cs typeface="Calibri"/>
              </a:rPr>
              <a:t>text-</a:t>
            </a:r>
            <a:r>
              <a:rPr dirty="0" sz="1200" spc="-10">
                <a:latin typeface="Calibri"/>
                <a:cs typeface="Calibri"/>
              </a:rPr>
              <a:t>align:center;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color:white; </a:t>
            </a:r>
            <a:r>
              <a:rPr dirty="0" sz="1200" spc="-25">
                <a:latin typeface="Calibri"/>
                <a:cs typeface="Calibri"/>
              </a:rPr>
              <a:t>font-</a:t>
            </a:r>
            <a:r>
              <a:rPr dirty="0" sz="1200" spc="-10">
                <a:latin typeface="Calibri"/>
                <a:cs typeface="Calibri"/>
              </a:rPr>
              <a:t>size:15px;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2290445" cy="75063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.home-container{</a:t>
            </a:r>
            <a:r>
              <a:rPr dirty="0" sz="1200" spc="9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text-</a:t>
            </a:r>
            <a:r>
              <a:rPr dirty="0" sz="1200" spc="-10">
                <a:latin typeface="Calibri"/>
                <a:cs typeface="Calibri"/>
              </a:rPr>
              <a:t>align:center;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color:white;</a:t>
            </a:r>
            <a:endParaRPr sz="1200">
              <a:latin typeface="Calibri"/>
              <a:cs typeface="Calibri"/>
            </a:endParaRPr>
          </a:p>
          <a:p>
            <a:pPr marL="18415" marR="5080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background:rgba(255,255,255,0.08); padding:50px;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border-radius:20px; backdrop-</a:t>
            </a:r>
            <a:r>
              <a:rPr dirty="0" sz="1200">
                <a:latin typeface="Calibri"/>
                <a:cs typeface="Calibri"/>
              </a:rPr>
              <a:t>filter:</a:t>
            </a:r>
            <a:r>
              <a:rPr dirty="0" sz="1200" spc="-10">
                <a:latin typeface="Calibri"/>
                <a:cs typeface="Calibri"/>
              </a:rPr>
              <a:t> blur(10px);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box- </a:t>
            </a:r>
            <a:r>
              <a:rPr dirty="0" sz="1200">
                <a:latin typeface="Calibri"/>
                <a:cs typeface="Calibri"/>
              </a:rPr>
              <a:t>shadow:0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10px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35px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rgba(0,0,0,0.6); width:420px;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40"/>
              </a:spcBef>
            </a:pPr>
            <a:endParaRPr sz="1200">
              <a:latin typeface="Calibri"/>
              <a:cs typeface="Calibri"/>
            </a:endParaRPr>
          </a:p>
          <a:p>
            <a:pPr marL="18415" marR="61594" indent="-6350">
              <a:lnSpc>
                <a:spcPct val="173300"/>
              </a:lnSpc>
              <a:spcBef>
                <a:spcPts val="5"/>
              </a:spcBef>
            </a:pPr>
            <a:r>
              <a:rPr dirty="0" sz="1200" spc="-10">
                <a:latin typeface="Calibri"/>
                <a:cs typeface="Calibri"/>
              </a:rPr>
              <a:t>.home-container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h1{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font-</a:t>
            </a:r>
            <a:r>
              <a:rPr dirty="0" sz="1200" spc="-10">
                <a:latin typeface="Calibri"/>
                <a:cs typeface="Calibri"/>
              </a:rPr>
              <a:t>size:32px; margin-bottom:15px;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40"/>
              </a:spcBef>
            </a:pPr>
            <a:endParaRPr sz="1200">
              <a:latin typeface="Calibri"/>
              <a:cs typeface="Calibri"/>
            </a:endParaRPr>
          </a:p>
          <a:p>
            <a:pPr marL="18415" marR="561340" indent="-6350">
              <a:lnSpc>
                <a:spcPct val="173500"/>
              </a:lnSpc>
            </a:pPr>
            <a:r>
              <a:rPr dirty="0" sz="1200" spc="-10">
                <a:latin typeface="Calibri"/>
                <a:cs typeface="Calibri"/>
              </a:rPr>
              <a:t>.home-container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p{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margin- bottom:30px;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color:#ddd;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55"/>
              </a:spcBef>
            </a:pPr>
            <a:endParaRPr sz="1200">
              <a:latin typeface="Calibri"/>
              <a:cs typeface="Calibri"/>
            </a:endParaRPr>
          </a:p>
          <a:p>
            <a:pPr marL="18415" marR="255904" indent="-6350">
              <a:lnSpc>
                <a:spcPct val="173400"/>
              </a:lnSpc>
            </a:pPr>
            <a:r>
              <a:rPr dirty="0" sz="1200" spc="-20">
                <a:latin typeface="Calibri"/>
                <a:cs typeface="Calibri"/>
              </a:rPr>
              <a:t>.start-</a:t>
            </a:r>
            <a:r>
              <a:rPr dirty="0" sz="1200">
                <a:latin typeface="Calibri"/>
                <a:cs typeface="Calibri"/>
              </a:rPr>
              <a:t>btn{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text-</a:t>
            </a:r>
            <a:r>
              <a:rPr dirty="0" sz="1200" spc="-10">
                <a:latin typeface="Calibri"/>
                <a:cs typeface="Calibri"/>
              </a:rPr>
              <a:t>decoration:none; padding:12px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25px;</a:t>
            </a:r>
            <a:r>
              <a:rPr dirty="0" sz="1200" spc="-10">
                <a:latin typeface="Calibri"/>
                <a:cs typeface="Calibri"/>
              </a:rPr>
              <a:t> border- radius:10px;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background:linear- gradient(45deg,#ff4b2b,#ff416c)</a:t>
            </a:r>
            <a:endParaRPr sz="1200">
              <a:latin typeface="Calibri"/>
              <a:cs typeface="Calibri"/>
            </a:endParaRPr>
          </a:p>
          <a:p>
            <a:pPr marL="18415" marR="337820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;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color:white;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font-</a:t>
            </a:r>
            <a:r>
              <a:rPr dirty="0" sz="1200" spc="-10">
                <a:latin typeface="Calibri"/>
                <a:cs typeface="Calibri"/>
              </a:rPr>
              <a:t>weight:bold; transition:0.3s;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3990975" cy="7195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latin typeface="Calibri"/>
                <a:cs typeface="Calibri"/>
              </a:rPr>
              <a:t>.start-</a:t>
            </a:r>
            <a:r>
              <a:rPr dirty="0" sz="1200" spc="-10">
                <a:latin typeface="Calibri"/>
                <a:cs typeface="Calibri"/>
              </a:rPr>
              <a:t>btn:hover{</a:t>
            </a:r>
            <a:endParaRPr sz="1200">
              <a:latin typeface="Calibri"/>
              <a:cs typeface="Calibri"/>
            </a:endParaRPr>
          </a:p>
          <a:p>
            <a:pPr marL="18415" marR="1703070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transform:scale(1.05);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 spc="-30">
                <a:latin typeface="Calibri"/>
                <a:cs typeface="Calibri"/>
              </a:rPr>
              <a:t>box-</a:t>
            </a:r>
            <a:r>
              <a:rPr dirty="0" sz="1200" spc="-10">
                <a:latin typeface="Calibri"/>
                <a:cs typeface="Calibri"/>
              </a:rPr>
              <a:t>shadow:0 </a:t>
            </a:r>
            <a:r>
              <a:rPr dirty="0" sz="1200">
                <a:latin typeface="Calibri"/>
                <a:cs typeface="Calibri"/>
              </a:rPr>
              <a:t>0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15px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#ff416c;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 b="1">
                <a:latin typeface="Calibri"/>
                <a:cs typeface="Calibri"/>
              </a:rPr>
              <a:t>DASHBOARD.CSS:</a:t>
            </a:r>
            <a:r>
              <a:rPr dirty="0" sz="1200" spc="2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body{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font-</a:t>
            </a:r>
            <a:r>
              <a:rPr dirty="0" sz="1200" spc="-10">
                <a:latin typeface="Calibri"/>
                <a:cs typeface="Calibri"/>
              </a:rPr>
              <a:t>family:Segoe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UI;</a:t>
            </a:r>
            <a:endParaRPr sz="1200">
              <a:latin typeface="Calibri"/>
              <a:cs typeface="Calibri"/>
            </a:endParaRPr>
          </a:p>
          <a:p>
            <a:pPr marL="18415" marR="5080">
              <a:lnSpc>
                <a:spcPts val="2500"/>
              </a:lnSpc>
              <a:spcBef>
                <a:spcPts val="254"/>
              </a:spcBef>
            </a:pPr>
            <a:r>
              <a:rPr dirty="0" sz="1200" spc="-10">
                <a:latin typeface="Calibri"/>
                <a:cs typeface="Calibri"/>
              </a:rPr>
              <a:t>background:linear-gradient(135deg,#0f2027,#203a43,#2c5364); </a:t>
            </a:r>
            <a:r>
              <a:rPr dirty="0" sz="1200">
                <a:latin typeface="Calibri"/>
                <a:cs typeface="Calibri"/>
              </a:rPr>
              <a:t>margin:0;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padding:0;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display:flex; justify-content:center;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55"/>
              </a:spcBef>
            </a:pPr>
            <a:endParaRPr sz="1200">
              <a:latin typeface="Calibri"/>
              <a:cs typeface="Calibri"/>
            </a:endParaRPr>
          </a:p>
          <a:p>
            <a:pPr marL="18415" marR="2449195" indent="-6350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.container{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width:900px; margin-top:40px;</a:t>
            </a:r>
            <a:endParaRPr sz="1200">
              <a:latin typeface="Calibri"/>
              <a:cs typeface="Calibri"/>
            </a:endParaRPr>
          </a:p>
          <a:p>
            <a:pPr marL="18415" marR="2447290">
              <a:lnSpc>
                <a:spcPct val="174200"/>
              </a:lnSpc>
            </a:pPr>
            <a:r>
              <a:rPr dirty="0" sz="1200" spc="-10">
                <a:latin typeface="Calibri"/>
                <a:cs typeface="Calibri"/>
              </a:rPr>
              <a:t>background:rgba(255,25 5,255,0.08);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60"/>
              </a:spcBef>
            </a:pPr>
            <a:r>
              <a:rPr dirty="0" sz="1200" spc="-10">
                <a:latin typeface="Calibri"/>
                <a:cs typeface="Calibri"/>
              </a:rPr>
              <a:t>padding:30px;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border-</a:t>
            </a:r>
            <a:endParaRPr sz="1200">
              <a:latin typeface="Calibri"/>
              <a:cs typeface="Calibri"/>
            </a:endParaRPr>
          </a:p>
          <a:p>
            <a:pPr marL="18415" marR="2551430">
              <a:lnSpc>
                <a:spcPct val="173300"/>
              </a:lnSpc>
              <a:spcBef>
                <a:spcPts val="10"/>
              </a:spcBef>
            </a:pPr>
            <a:r>
              <a:rPr dirty="0" sz="1200" spc="-10">
                <a:latin typeface="Calibri"/>
                <a:cs typeface="Calibri"/>
              </a:rPr>
              <a:t>radius:15px;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backdrop- filter:blur(10px);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color:white;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200">
              <a:latin typeface="Calibri"/>
              <a:cs typeface="Calibri"/>
            </a:endParaRPr>
          </a:p>
          <a:p>
            <a:pPr marL="18415" marR="2646045" indent="-6350">
              <a:lnSpc>
                <a:spcPct val="174200"/>
              </a:lnSpc>
            </a:pPr>
            <a:r>
              <a:rPr dirty="0" sz="1200">
                <a:latin typeface="Calibri"/>
                <a:cs typeface="Calibri"/>
              </a:rPr>
              <a:t>h1{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text-</a:t>
            </a:r>
            <a:r>
              <a:rPr dirty="0" sz="1200" spc="-10">
                <a:latin typeface="Calibri"/>
                <a:cs typeface="Calibri"/>
              </a:rPr>
              <a:t>align:center; margin-bottom:20px;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2213610" cy="8146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.controls{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display:flex;</a:t>
            </a:r>
            <a:endParaRPr sz="1200">
              <a:latin typeface="Calibri"/>
              <a:cs typeface="Calibri"/>
            </a:endParaRPr>
          </a:p>
          <a:p>
            <a:pPr marL="18415" marR="1069975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gap:10px;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margin- bottom:20px;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latin typeface="Calibri"/>
                <a:cs typeface="Calibri"/>
              </a:rPr>
              <a:t>select,button{</a:t>
            </a:r>
            <a:endParaRPr sz="1200">
              <a:latin typeface="Calibri"/>
              <a:cs typeface="Calibri"/>
            </a:endParaRPr>
          </a:p>
          <a:p>
            <a:pPr marL="18415" marR="455930">
              <a:lnSpc>
                <a:spcPts val="2500"/>
              </a:lnSpc>
              <a:spcBef>
                <a:spcPts val="254"/>
              </a:spcBef>
            </a:pPr>
            <a:r>
              <a:rPr dirty="0" sz="1200" spc="-10">
                <a:latin typeface="Calibri"/>
                <a:cs typeface="Calibri"/>
              </a:rPr>
              <a:t>padding:10px;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border:none; border-radius:6px;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55"/>
              </a:spcBef>
            </a:pPr>
            <a:endParaRPr sz="1200">
              <a:latin typeface="Calibri"/>
              <a:cs typeface="Calibri"/>
            </a:endParaRPr>
          </a:p>
          <a:p>
            <a:pPr marL="18415" marR="423545" indent="-6350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button{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background:#ff416c; color:white;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cursor:pointer;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200">
              <a:latin typeface="Calibri"/>
              <a:cs typeface="Calibri"/>
            </a:endParaRPr>
          </a:p>
          <a:p>
            <a:pPr marL="18415" marR="521334" indent="-6350">
              <a:lnSpc>
                <a:spcPct val="173300"/>
              </a:lnSpc>
              <a:spcBef>
                <a:spcPts val="5"/>
              </a:spcBef>
            </a:pPr>
            <a:r>
              <a:rPr dirty="0" sz="1200">
                <a:latin typeface="Calibri"/>
                <a:cs typeface="Calibri"/>
              </a:rPr>
              <a:t>table{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width:100%;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border- collapse:collapse;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background:rgba(255,255,255,0.1);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40"/>
              </a:spcBef>
            </a:pPr>
            <a:endParaRPr sz="1200">
              <a:latin typeface="Calibri"/>
              <a:cs typeface="Calibri"/>
            </a:endParaRPr>
          </a:p>
          <a:p>
            <a:pPr marL="18415" marR="935355" indent="-6350">
              <a:lnSpc>
                <a:spcPct val="173500"/>
              </a:lnSpc>
            </a:pPr>
            <a:r>
              <a:rPr dirty="0" sz="1200">
                <a:latin typeface="Calibri"/>
                <a:cs typeface="Calibri"/>
              </a:rPr>
              <a:t>th,td{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padding:10px; </a:t>
            </a:r>
            <a:r>
              <a:rPr dirty="0" sz="1200" spc="-25">
                <a:latin typeface="Calibri"/>
                <a:cs typeface="Calibri"/>
              </a:rPr>
              <a:t>text-</a:t>
            </a:r>
            <a:r>
              <a:rPr dirty="0" sz="1200" spc="-10">
                <a:latin typeface="Calibri"/>
                <a:cs typeface="Calibri"/>
              </a:rPr>
              <a:t>align:center;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25">
                <a:latin typeface="Calibri"/>
                <a:cs typeface="Calibri"/>
              </a:rPr>
              <a:t>th{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background:#1f4068;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1211326"/>
            <a:ext cx="5570220" cy="76174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tr:nth-child(even){</a:t>
            </a:r>
            <a:r>
              <a:rPr dirty="0" sz="1200" spc="9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background:rgba(255,255,255,0.05);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200">
              <a:latin typeface="Calibri"/>
              <a:cs typeface="Calibri"/>
            </a:endParaRPr>
          </a:p>
          <a:p>
            <a:pPr marL="18415" marR="3663315" indent="-6350">
              <a:lnSpc>
                <a:spcPct val="172500"/>
              </a:lnSpc>
            </a:pPr>
            <a:r>
              <a:rPr dirty="0" sz="1200">
                <a:latin typeface="Calibri"/>
                <a:cs typeface="Calibri"/>
              </a:rPr>
              <a:t>#deptCount{</a:t>
            </a:r>
            <a:r>
              <a:rPr dirty="0" sz="1200" spc="-10">
                <a:latin typeface="Calibri"/>
                <a:cs typeface="Calibri"/>
              </a:rPr>
              <a:t> margin-top:15px; </a:t>
            </a:r>
            <a:r>
              <a:rPr dirty="0" sz="1200" spc="-25">
                <a:latin typeface="Calibri"/>
                <a:cs typeface="Calibri"/>
              </a:rPr>
              <a:t>font-</a:t>
            </a:r>
            <a:r>
              <a:rPr dirty="0" sz="1200" spc="-10">
                <a:latin typeface="Calibri"/>
                <a:cs typeface="Calibri"/>
              </a:rPr>
              <a:t>size:16px;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4051300" indent="-6350">
              <a:lnSpc>
                <a:spcPct val="173300"/>
              </a:lnSpc>
              <a:spcBef>
                <a:spcPts val="15"/>
              </a:spcBef>
            </a:pPr>
            <a:r>
              <a:rPr dirty="0" sz="1200" spc="-10">
                <a:latin typeface="Calibri"/>
                <a:cs typeface="Calibri"/>
              </a:rPr>
              <a:t>.home-</a:t>
            </a:r>
            <a:r>
              <a:rPr dirty="0" sz="1200">
                <a:latin typeface="Calibri"/>
                <a:cs typeface="Calibri"/>
              </a:rPr>
              <a:t>btn{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padding:8px </a:t>
            </a:r>
            <a:r>
              <a:rPr dirty="0" sz="1200">
                <a:latin typeface="Calibri"/>
                <a:cs typeface="Calibri"/>
              </a:rPr>
              <a:t>16px;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border:none;</a:t>
            </a:r>
            <a:endParaRPr sz="1200">
              <a:latin typeface="Calibri"/>
              <a:cs typeface="Calibri"/>
            </a:endParaRPr>
          </a:p>
          <a:p>
            <a:pPr marL="18415" marR="4269740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border-radius:6px; background:#00c6ff; color:white;</a:t>
            </a:r>
            <a:endParaRPr sz="1200">
              <a:latin typeface="Calibri"/>
              <a:cs typeface="Calibri"/>
            </a:endParaRPr>
          </a:p>
          <a:p>
            <a:pPr marL="18415" marR="4106545">
              <a:lnSpc>
                <a:spcPts val="2500"/>
              </a:lnSpc>
              <a:spcBef>
                <a:spcPts val="254"/>
              </a:spcBef>
            </a:pPr>
            <a:r>
              <a:rPr dirty="0" sz="1200" spc="-10">
                <a:latin typeface="Calibri"/>
                <a:cs typeface="Calibri"/>
              </a:rPr>
              <a:t>cursor:pointer;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margin- bottom:10px;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 b="1">
                <a:latin typeface="Calibri"/>
                <a:cs typeface="Calibri"/>
              </a:rPr>
              <a:t>SCRIPT.JS:</a:t>
            </a:r>
            <a:endParaRPr sz="1200">
              <a:latin typeface="Calibri"/>
              <a:cs typeface="Calibri"/>
            </a:endParaRPr>
          </a:p>
          <a:p>
            <a:pPr marL="18415" marR="5080" indent="-6350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const form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document.getElementById("studentForm")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form.addEventListener("submit", </a:t>
            </a:r>
            <a:r>
              <a:rPr dirty="0" sz="1200">
                <a:latin typeface="Calibri"/>
                <a:cs typeface="Calibri"/>
              </a:rPr>
              <a:t>async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(e)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e.preventDefault()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student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{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name:</a:t>
            </a:r>
            <a:endParaRPr sz="1200">
              <a:latin typeface="Calibri"/>
              <a:cs typeface="Calibri"/>
            </a:endParaRPr>
          </a:p>
          <a:p>
            <a:pPr marL="18415" marR="2223135">
              <a:lnSpc>
                <a:spcPct val="173300"/>
              </a:lnSpc>
              <a:spcBef>
                <a:spcPts val="15"/>
              </a:spcBef>
            </a:pPr>
            <a:r>
              <a:rPr dirty="0" sz="1200" spc="-10">
                <a:latin typeface="Calibri"/>
                <a:cs typeface="Calibri"/>
              </a:rPr>
              <a:t>document.getElementById("name").value,</a:t>
            </a:r>
            <a:r>
              <a:rPr dirty="0" sz="1200" spc="1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email: document.getElementById("email").value,</a:t>
            </a:r>
            <a:r>
              <a:rPr dirty="0" sz="1200" spc="10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dob: </a:t>
            </a:r>
            <a:r>
              <a:rPr dirty="0" sz="1200" spc="-10">
                <a:latin typeface="Calibri"/>
                <a:cs typeface="Calibri"/>
              </a:rPr>
              <a:t>document.getElementById("dob").value,</a:t>
            </a:r>
            <a:r>
              <a:rPr dirty="0" sz="1200" spc="10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department:</a:t>
            </a:r>
            <a:endParaRPr sz="1200">
              <a:latin typeface="Calibri"/>
              <a:cs typeface="Calibri"/>
            </a:endParaRPr>
          </a:p>
          <a:p>
            <a:pPr marL="18415" marR="2066289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document.getElementById("department").value,</a:t>
            </a:r>
            <a:r>
              <a:rPr dirty="0" sz="1200" spc="1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phone: document.getElementById("phone").value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3740150" cy="82518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}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try{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await</a:t>
            </a:r>
            <a:endParaRPr sz="1200">
              <a:latin typeface="Calibri"/>
              <a:cs typeface="Calibri"/>
            </a:endParaRPr>
          </a:p>
          <a:p>
            <a:pPr marL="18415" marR="5080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fetch("</a:t>
            </a:r>
            <a:r>
              <a:rPr dirty="0" sz="1200" spc="-10">
                <a:latin typeface="Calibri"/>
                <a:cs typeface="Calibri"/>
                <a:hlinkClick r:id="rId2"/>
              </a:rPr>
              <a:t>http://localhost:3000/addStudent</a:t>
            </a:r>
            <a:r>
              <a:rPr dirty="0" sz="1200" spc="-10">
                <a:latin typeface="Calibri"/>
                <a:cs typeface="Calibri"/>
              </a:rPr>
              <a:t>",{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method:"POST", headers:{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latin typeface="Calibri"/>
                <a:cs typeface="Calibri"/>
              </a:rPr>
              <a:t>"Content-Type":"application/json"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25">
                <a:latin typeface="Calibri"/>
                <a:cs typeface="Calibri"/>
              </a:rPr>
              <a:t>},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body:JSON.stringify(student)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 marL="18415" marR="2007870" indent="-6350">
              <a:lnSpc>
                <a:spcPct val="173300"/>
              </a:lnSpc>
              <a:spcBef>
                <a:spcPts val="15"/>
              </a:spcBef>
            </a:pP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await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res.text() </a:t>
            </a:r>
            <a:r>
              <a:rPr dirty="0" sz="1200">
                <a:latin typeface="Calibri"/>
                <a:cs typeface="Calibri"/>
              </a:rPr>
              <a:t>alert(data)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clear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form</a:t>
            </a:r>
            <a:endParaRPr sz="1200">
              <a:latin typeface="Calibri"/>
              <a:cs typeface="Calibri"/>
            </a:endParaRPr>
          </a:p>
          <a:p>
            <a:pPr marL="18415" marR="2094864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form.reset()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}catch(error){ console.log("Error:",error)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}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goHome(){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window.location.href="index.html"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10" b="1">
                <a:latin typeface="Calibri"/>
                <a:cs typeface="Calibri"/>
              </a:rPr>
              <a:t>SERVER.JS:</a:t>
            </a:r>
            <a:endParaRPr sz="1200">
              <a:latin typeface="Calibri"/>
              <a:cs typeface="Calibri"/>
            </a:endParaRPr>
          </a:p>
          <a:p>
            <a:pPr marL="18415" marR="1612265" indent="-6350">
              <a:lnSpc>
                <a:spcPct val="173400"/>
              </a:lnSpc>
            </a:pP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express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require("express")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cors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require("cors")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const </a:t>
            </a:r>
            <a:r>
              <a:rPr dirty="0" sz="1200">
                <a:latin typeface="Calibri"/>
                <a:cs typeface="Calibri"/>
              </a:rPr>
              <a:t>path =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require("path")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const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db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require("./db")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express()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app.use(cors()) app.use(express.json())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Serve </a:t>
            </a:r>
            <a:r>
              <a:rPr dirty="0" sz="1200" spc="-10">
                <a:latin typeface="Calibri"/>
                <a:cs typeface="Calibri"/>
              </a:rPr>
              <a:t>static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(HTML,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CSS,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JS)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app.use(express.static(</a:t>
            </a:r>
            <a:r>
              <a:rPr dirty="0" u="sng" sz="1200" spc="18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1200" spc="-10">
                <a:latin typeface="Calibri"/>
                <a:cs typeface="Calibri"/>
              </a:rPr>
              <a:t>dirname))</a:t>
            </a:r>
            <a:endParaRPr sz="1200">
              <a:latin typeface="Calibri"/>
              <a:cs typeface="Calibri"/>
            </a:endParaRPr>
          </a:p>
          <a:p>
            <a:pPr marL="18415" marR="1640839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Redirect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root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link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index.html </a:t>
            </a:r>
            <a:r>
              <a:rPr dirty="0" sz="1200">
                <a:latin typeface="Calibri"/>
                <a:cs typeface="Calibri"/>
              </a:rPr>
              <a:t>app.get("/",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(req,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res)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4606925" cy="78327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res.sendFile(path.join(</a:t>
            </a:r>
            <a:r>
              <a:rPr dirty="0" u="sng" sz="1200" spc="2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1200" spc="-10">
                <a:latin typeface="Calibri"/>
                <a:cs typeface="Calibri"/>
              </a:rPr>
              <a:t>dirname,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"index.html"))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Insert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student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app.post("/addStudent", </a:t>
            </a:r>
            <a:r>
              <a:rPr dirty="0" sz="1200">
                <a:latin typeface="Calibri"/>
                <a:cs typeface="Calibri"/>
              </a:rPr>
              <a:t>(req,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res)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{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const</a:t>
            </a:r>
            <a:endParaRPr sz="1200">
              <a:latin typeface="Calibri"/>
              <a:cs typeface="Calibri"/>
            </a:endParaRPr>
          </a:p>
          <a:p>
            <a:pPr marL="18415" marR="5080">
              <a:lnSpc>
                <a:spcPts val="2510"/>
              </a:lnSpc>
              <a:spcBef>
                <a:spcPts val="250"/>
              </a:spcBef>
            </a:pPr>
            <a:r>
              <a:rPr dirty="0" sz="1200" spc="-10">
                <a:latin typeface="Calibri"/>
                <a:cs typeface="Calibri"/>
              </a:rPr>
              <a:t>{name,email,dob,department,phone}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 req.body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const sql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"INSERT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INTO </a:t>
            </a:r>
            <a:r>
              <a:rPr dirty="0" sz="1200" spc="-10">
                <a:latin typeface="Calibri"/>
                <a:cs typeface="Calibri"/>
              </a:rPr>
              <a:t>students(name,email,dob,department,phone)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VALUES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(?,?,?,?,?)"</a:t>
            </a:r>
            <a:endParaRPr sz="1200">
              <a:latin typeface="Calibri"/>
              <a:cs typeface="Calibri"/>
            </a:endParaRPr>
          </a:p>
          <a:p>
            <a:pPr marL="12700" marR="557530" indent="5715">
              <a:lnSpc>
                <a:spcPts val="2490"/>
              </a:lnSpc>
              <a:spcBef>
                <a:spcPts val="10"/>
              </a:spcBef>
            </a:pPr>
            <a:r>
              <a:rPr dirty="0" sz="1200" spc="-10">
                <a:latin typeface="Calibri"/>
                <a:cs typeface="Calibri"/>
              </a:rPr>
              <a:t>db.query(sql,[name,email,dob,department,phone],(err,result)=&gt;{ </a:t>
            </a:r>
            <a:r>
              <a:rPr dirty="0" sz="1200">
                <a:latin typeface="Calibri"/>
                <a:cs typeface="Calibri"/>
              </a:rPr>
              <a:t>if(err){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res.send(err)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}else{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795"/>
              </a:spcBef>
            </a:pPr>
            <a:r>
              <a:rPr dirty="0" sz="1200" spc="-10">
                <a:latin typeface="Calibri"/>
                <a:cs typeface="Calibri"/>
              </a:rPr>
              <a:t>res.send("Student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Added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Successfully")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student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data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60"/>
              </a:spcBef>
            </a:pPr>
            <a:r>
              <a:rPr dirty="0" sz="1200" spc="-10">
                <a:latin typeface="Calibri"/>
                <a:cs typeface="Calibri"/>
              </a:rPr>
              <a:t>app.get("/students",(req,res)=&gt;{</a:t>
            </a:r>
            <a:r>
              <a:rPr dirty="0" sz="1200" spc="7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db.query("SELECT</a:t>
            </a:r>
            <a:endParaRPr sz="1200">
              <a:latin typeface="Calibri"/>
              <a:cs typeface="Calibri"/>
            </a:endParaRPr>
          </a:p>
          <a:p>
            <a:pPr marL="12700" marR="2569210" indent="5715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*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students",(err,result)=&gt;{ if(err){</a:t>
            </a:r>
            <a:endParaRPr sz="1200">
              <a:latin typeface="Calibri"/>
              <a:cs typeface="Calibri"/>
            </a:endParaRPr>
          </a:p>
          <a:p>
            <a:pPr marL="18415" marR="3408679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res.send(err)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}else{ res.json(result)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Start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app.listen(3000,()=&gt;{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console.log("Server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running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at: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  <a:hlinkClick r:id="rId2"/>
              </a:rPr>
              <a:t>http://localhost:3000")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2347595" cy="43326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Calibri"/>
                <a:cs typeface="Calibri"/>
              </a:rPr>
              <a:t>DB.JS:</a:t>
            </a:r>
            <a:endParaRPr sz="1200">
              <a:latin typeface="Calibri"/>
              <a:cs typeface="Calibri"/>
            </a:endParaRPr>
          </a:p>
          <a:p>
            <a:pPr marL="18415" marR="59690" indent="28575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mysql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require("mysql")</a:t>
            </a:r>
            <a:r>
              <a:rPr dirty="0" sz="1200" spc="5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db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mysql.createConnection({ </a:t>
            </a:r>
            <a:r>
              <a:rPr dirty="0" sz="1200">
                <a:latin typeface="Calibri"/>
                <a:cs typeface="Calibri"/>
              </a:rPr>
              <a:t>host: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"localhost",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user:</a:t>
            </a:r>
            <a:r>
              <a:rPr dirty="0" sz="1200" spc="-10">
                <a:latin typeface="Calibri"/>
                <a:cs typeface="Calibri"/>
              </a:rPr>
              <a:t> "root",</a:t>
            </a:r>
            <a:endParaRPr sz="1200">
              <a:latin typeface="Calibri"/>
              <a:cs typeface="Calibri"/>
            </a:endParaRPr>
          </a:p>
          <a:p>
            <a:pPr marL="18415" marR="625475">
              <a:lnSpc>
                <a:spcPts val="2510"/>
              </a:lnSpc>
              <a:spcBef>
                <a:spcPts val="245"/>
              </a:spcBef>
            </a:pPr>
            <a:r>
              <a:rPr dirty="0" sz="1200">
                <a:latin typeface="Calibri"/>
                <a:cs typeface="Calibri"/>
              </a:rPr>
              <a:t>password: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"fahi",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database: "studentdb"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10">
                <a:latin typeface="Calibri"/>
                <a:cs typeface="Calibri"/>
              </a:rPr>
              <a:t>db.connect((err)=&gt;{</a:t>
            </a:r>
            <a:endParaRPr sz="1200">
              <a:latin typeface="Calibri"/>
              <a:cs typeface="Calibri"/>
            </a:endParaRPr>
          </a:p>
          <a:p>
            <a:pPr marL="18415" marR="504190" indent="-6350">
              <a:lnSpc>
                <a:spcPct val="173300"/>
              </a:lnSpc>
              <a:spcBef>
                <a:spcPts val="10"/>
              </a:spcBef>
            </a:pPr>
            <a:r>
              <a:rPr dirty="0" sz="1200">
                <a:latin typeface="Calibri"/>
                <a:cs typeface="Calibri"/>
              </a:rPr>
              <a:t>if(err){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console.log("Database </a:t>
            </a:r>
            <a:r>
              <a:rPr dirty="0" sz="1200">
                <a:latin typeface="Calibri"/>
                <a:cs typeface="Calibri"/>
              </a:rPr>
              <a:t>Error:",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err)</a:t>
            </a:r>
            <a:endParaRPr sz="1200">
              <a:latin typeface="Calibri"/>
              <a:cs typeface="Calibri"/>
            </a:endParaRPr>
          </a:p>
          <a:p>
            <a:pPr marL="18415" marR="5080" indent="-6350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}else{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console.log("MySQL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Connected Successfully")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}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10">
                <a:latin typeface="Calibri"/>
                <a:cs typeface="Calibri"/>
              </a:rPr>
              <a:t>module.exports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db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92860" y="6491096"/>
            <a:ext cx="6731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Calibri"/>
                <a:cs typeface="Calibri"/>
              </a:rPr>
              <a:t>OUTPUTS: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6629780"/>
            <a:ext cx="5954395" cy="440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 marR="5080" indent="-6350">
              <a:lnSpc>
                <a:spcPct val="113300"/>
              </a:lnSpc>
              <a:spcBef>
                <a:spcPts val="100"/>
              </a:spcBef>
            </a:pPr>
            <a:r>
              <a:rPr dirty="0" sz="1200" spc="-25" b="1">
                <a:latin typeface="Calibri"/>
                <a:cs typeface="Calibri"/>
              </a:rPr>
              <a:t>RESULT: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system successfully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stores, retrieves,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displays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student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efficiently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through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a </a:t>
            </a:r>
            <a:r>
              <a:rPr dirty="0" sz="1200" spc="-20">
                <a:latin typeface="Calibri"/>
                <a:cs typeface="Calibri"/>
              </a:rPr>
              <a:t>user-</a:t>
            </a:r>
            <a:r>
              <a:rPr dirty="0" sz="1200">
                <a:latin typeface="Calibri"/>
                <a:cs typeface="Calibri"/>
              </a:rPr>
              <a:t>friendly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dashboard.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92860" y="8187690"/>
            <a:ext cx="23850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 b="1">
                <a:latin typeface="Calibri"/>
                <a:cs typeface="Calibri"/>
              </a:rPr>
              <a:t>TASK3: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: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Login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System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with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Validation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914400"/>
            <a:ext cx="4662170" cy="2371471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3417189"/>
            <a:ext cx="4647565" cy="275564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68425"/>
            <a:ext cx="5906770" cy="8076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 marR="5080" indent="-6350">
              <a:lnSpc>
                <a:spcPct val="114199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AIM: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spc="-6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develop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secure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login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system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validates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credentials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(username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password)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allows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access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authorized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users.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 b="1">
                <a:latin typeface="Calibri"/>
                <a:cs typeface="Calibri"/>
              </a:rPr>
              <a:t>ALGORITHM: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6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Start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application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6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Display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login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form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(Username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&amp;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Password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fields)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enters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login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credentials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Perform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input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validation:</a:t>
            </a:r>
            <a:endParaRPr sz="1200">
              <a:latin typeface="Calibri"/>
              <a:cs typeface="Calibri"/>
            </a:endParaRPr>
          </a:p>
          <a:p>
            <a:pPr marL="713105" marR="2635885" indent="-6350">
              <a:lnSpc>
                <a:spcPct val="174200"/>
              </a:lnSpc>
              <a:tabLst>
                <a:tab pos="935990" algn="l"/>
                <a:tab pos="2764790" algn="l"/>
              </a:tabLst>
            </a:pPr>
            <a:r>
              <a:rPr dirty="0" sz="1000" spc="-50">
                <a:latin typeface="Courier New"/>
                <a:cs typeface="Courier New"/>
              </a:rPr>
              <a:t>o</a:t>
            </a:r>
            <a:r>
              <a:rPr dirty="0" sz="1000">
                <a:latin typeface="Courier New"/>
                <a:cs typeface="Courier New"/>
              </a:rPr>
              <a:t>	</a:t>
            </a:r>
            <a:r>
              <a:rPr dirty="0" sz="1200">
                <a:latin typeface="Calibri"/>
                <a:cs typeface="Calibri"/>
              </a:rPr>
              <a:t>Check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fields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empty</a:t>
            </a:r>
            <a:r>
              <a:rPr dirty="0" sz="1200" spc="245">
                <a:latin typeface="Calibri"/>
                <a:cs typeface="Calibri"/>
              </a:rPr>
              <a:t> </a:t>
            </a:r>
            <a:r>
              <a:rPr dirty="0" sz="1000" spc="-50">
                <a:latin typeface="Courier New"/>
                <a:cs typeface="Courier New"/>
              </a:rPr>
              <a:t>o</a:t>
            </a:r>
            <a:r>
              <a:rPr dirty="0" sz="1000">
                <a:latin typeface="Courier New"/>
                <a:cs typeface="Courier New"/>
              </a:rPr>
              <a:t>	</a:t>
            </a:r>
            <a:r>
              <a:rPr dirty="0" sz="1200" spc="-20">
                <a:latin typeface="Calibri"/>
                <a:cs typeface="Calibri"/>
              </a:rPr>
              <a:t>Validate </a:t>
            </a:r>
            <a:r>
              <a:rPr dirty="0" sz="1200">
                <a:latin typeface="Calibri"/>
                <a:cs typeface="Calibri"/>
              </a:rPr>
              <a:t>email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format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(if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applicable)</a:t>
            </a:r>
            <a:r>
              <a:rPr dirty="0" sz="1200" spc="229">
                <a:latin typeface="Calibri"/>
                <a:cs typeface="Calibri"/>
              </a:rPr>
              <a:t> </a:t>
            </a:r>
            <a:r>
              <a:rPr dirty="0" sz="1000" spc="-50">
                <a:latin typeface="Courier New"/>
                <a:cs typeface="Courier New"/>
              </a:rPr>
              <a:t>o</a:t>
            </a:r>
            <a:r>
              <a:rPr dirty="0" sz="1000">
                <a:latin typeface="Courier New"/>
                <a:cs typeface="Courier New"/>
              </a:rPr>
              <a:t>	</a:t>
            </a:r>
            <a:r>
              <a:rPr dirty="0" sz="1200" spc="-10">
                <a:latin typeface="Calibri"/>
                <a:cs typeface="Calibri"/>
              </a:rPr>
              <a:t>Ensure </a:t>
            </a:r>
            <a:r>
              <a:rPr dirty="0" sz="1200">
                <a:latin typeface="Calibri"/>
                <a:cs typeface="Calibri"/>
              </a:rPr>
              <a:t>password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meets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required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criteria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65"/>
              </a:spcBef>
              <a:buAutoNum type="arabicPeriod" startAt="5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Send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login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backend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server</a:t>
            </a:r>
            <a:endParaRPr sz="1200">
              <a:latin typeface="Calibri"/>
              <a:cs typeface="Calibri"/>
            </a:endParaRPr>
          </a:p>
          <a:p>
            <a:pPr marL="478790" marR="376555" indent="-228600">
              <a:lnSpc>
                <a:spcPct val="173300"/>
              </a:lnSpc>
              <a:spcBef>
                <a:spcPts val="15"/>
              </a:spcBef>
              <a:buAutoNum type="arabicPeriod" startAt="5"/>
              <a:tabLst>
                <a:tab pos="478790" algn="l"/>
              </a:tabLst>
            </a:pPr>
            <a:r>
              <a:rPr dirty="0" sz="1200">
                <a:latin typeface="Calibri"/>
                <a:cs typeface="Calibri"/>
              </a:rPr>
              <a:t>Server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receives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request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processes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input</a:t>
            </a:r>
            <a:r>
              <a:rPr dirty="0" sz="1200" spc="2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7.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Compare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entered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credentials</a:t>
            </a:r>
            <a:r>
              <a:rPr dirty="0" sz="1200" spc="-20">
                <a:latin typeface="Calibri"/>
                <a:cs typeface="Calibri"/>
              </a:rPr>
              <a:t> with </a:t>
            </a:r>
            <a:r>
              <a:rPr dirty="0" sz="1200">
                <a:latin typeface="Calibri"/>
                <a:cs typeface="Calibri"/>
              </a:rPr>
              <a:t>database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records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55"/>
              </a:spcBef>
              <a:buAutoNum type="arabicPeriod" startAt="8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If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credentials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match:</a:t>
            </a:r>
            <a:endParaRPr sz="1200">
              <a:latin typeface="Calibri"/>
              <a:cs typeface="Calibri"/>
            </a:endParaRPr>
          </a:p>
          <a:p>
            <a:pPr lvl="1" marL="935990" indent="-228600">
              <a:lnSpc>
                <a:spcPct val="100000"/>
              </a:lnSpc>
              <a:spcBef>
                <a:spcPts val="1070"/>
              </a:spcBef>
              <a:buSzPct val="83333"/>
              <a:buFont typeface="Courier New"/>
              <a:buChar char="o"/>
              <a:tabLst>
                <a:tab pos="935990" algn="l"/>
              </a:tabLst>
            </a:pPr>
            <a:r>
              <a:rPr dirty="0" sz="1200">
                <a:latin typeface="Calibri"/>
                <a:cs typeface="Calibri"/>
              </a:rPr>
              <a:t>Grant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access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redirect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dashboard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65"/>
              </a:spcBef>
              <a:buAutoNum type="arabicPeriod" startAt="8"/>
              <a:tabLst>
                <a:tab pos="479425" algn="l"/>
              </a:tabLst>
            </a:pPr>
            <a:r>
              <a:rPr dirty="0" sz="1200" spc="-10">
                <a:latin typeface="Calibri"/>
                <a:cs typeface="Calibri"/>
              </a:rPr>
              <a:t>Else:</a:t>
            </a:r>
            <a:endParaRPr sz="1200">
              <a:latin typeface="Calibri"/>
              <a:cs typeface="Calibri"/>
            </a:endParaRPr>
          </a:p>
          <a:p>
            <a:pPr lvl="1" marL="935990" indent="-228600">
              <a:lnSpc>
                <a:spcPct val="100000"/>
              </a:lnSpc>
              <a:spcBef>
                <a:spcPts val="1070"/>
              </a:spcBef>
              <a:buSzPct val="83333"/>
              <a:buFont typeface="Courier New"/>
              <a:buChar char="o"/>
              <a:tabLst>
                <a:tab pos="935990" algn="l"/>
              </a:tabLst>
            </a:pPr>
            <a:r>
              <a:rPr dirty="0" sz="1200">
                <a:latin typeface="Calibri"/>
                <a:cs typeface="Calibri"/>
              </a:rPr>
              <a:t>Display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error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message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(“Invalid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Username/Password”)</a:t>
            </a:r>
            <a:endParaRPr sz="1200">
              <a:latin typeface="Calibri"/>
              <a:cs typeface="Calibri"/>
            </a:endParaRPr>
          </a:p>
          <a:p>
            <a:pPr marL="477520" indent="-227329">
              <a:lnSpc>
                <a:spcPct val="100000"/>
              </a:lnSpc>
              <a:spcBef>
                <a:spcPts val="1070"/>
              </a:spcBef>
              <a:buAutoNum type="arabicPeriod" startAt="8"/>
              <a:tabLst>
                <a:tab pos="477520" algn="l"/>
              </a:tabLst>
            </a:pPr>
            <a:r>
              <a:rPr dirty="0" sz="1200">
                <a:latin typeface="Calibri"/>
                <a:cs typeface="Calibri"/>
              </a:rPr>
              <a:t>End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process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40"/>
              </a:spcBef>
            </a:pPr>
            <a:endParaRPr sz="1200">
              <a:latin typeface="Calibri"/>
              <a:cs typeface="Calibri"/>
            </a:endParaRPr>
          </a:p>
          <a:p>
            <a:pPr marL="250190" marR="4800600">
              <a:lnSpc>
                <a:spcPct val="173500"/>
              </a:lnSpc>
            </a:pPr>
            <a:r>
              <a:rPr dirty="0" sz="1200" spc="-10" b="1">
                <a:latin typeface="Calibri"/>
                <a:cs typeface="Calibri"/>
              </a:rPr>
              <a:t>PROGRAM: INDEX.HTML:</a:t>
            </a:r>
            <a:endParaRPr sz="1200">
              <a:latin typeface="Calibri"/>
              <a:cs typeface="Calibri"/>
            </a:endParaRPr>
          </a:p>
          <a:p>
            <a:pPr marL="25019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&lt;!DOCTYPE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html&gt;</a:t>
            </a:r>
            <a:endParaRPr sz="1200">
              <a:latin typeface="Calibri"/>
              <a:cs typeface="Calibri"/>
            </a:endParaRPr>
          </a:p>
          <a:p>
            <a:pPr marL="25019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&lt;html&gt;</a:t>
            </a:r>
            <a:endParaRPr sz="1200">
              <a:latin typeface="Calibri"/>
              <a:cs typeface="Calibri"/>
            </a:endParaRPr>
          </a:p>
          <a:p>
            <a:pPr marL="25019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&lt;head&gt;</a:t>
            </a:r>
            <a:endParaRPr sz="1200">
              <a:latin typeface="Calibri"/>
              <a:cs typeface="Calibri"/>
            </a:endParaRPr>
          </a:p>
          <a:p>
            <a:pPr marL="25019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&lt;title&gt;Student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Portal&lt;/title&gt;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0604" y="894333"/>
            <a:ext cx="4225925" cy="8166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&lt;link </a:t>
            </a:r>
            <a:r>
              <a:rPr dirty="0" sz="1200" spc="-10">
                <a:latin typeface="Calibri"/>
                <a:cs typeface="Calibri"/>
              </a:rPr>
              <a:t>rel="stylesheet"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href="style.css"&gt;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&lt;/head&gt;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&lt;body&gt;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&lt;div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class="home-container"&gt;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&lt;h1&gt;Welcome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Student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Portal&lt;/h1&gt;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&lt;p&gt;Register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manage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student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information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easily.&lt;/p&gt;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&lt;a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href="registration.html"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class="start-</a:t>
            </a:r>
            <a:r>
              <a:rPr dirty="0" sz="1200">
                <a:latin typeface="Calibri"/>
                <a:cs typeface="Calibri"/>
              </a:rPr>
              <a:t>btn"&gt;Go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Registration&lt;/a&gt;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&lt;a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href="dashboard.html"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class="start-</a:t>
            </a:r>
            <a:r>
              <a:rPr dirty="0" sz="1200">
                <a:latin typeface="Calibri"/>
                <a:cs typeface="Calibri"/>
              </a:rPr>
              <a:t>btn"&gt;View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Dashboard&lt;/a&gt;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&lt;/div&gt;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&lt;/body&gt;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&lt;/html&gt;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 b="1">
                <a:latin typeface="Calibri"/>
                <a:cs typeface="Calibri"/>
              </a:rPr>
              <a:t>DASHBOARD.HTML: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&lt;!DOCTYPE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html&gt;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&lt;html&gt;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&lt;head&gt;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&lt;title&gt;Student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Dashboard&lt;/title&gt;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&lt;link </a:t>
            </a:r>
            <a:r>
              <a:rPr dirty="0" sz="1200" spc="-10">
                <a:latin typeface="Calibri"/>
                <a:cs typeface="Calibri"/>
              </a:rPr>
              <a:t>rel="stylesheet"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href="dashboard.css"&gt;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&lt;/head&gt;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&lt;body&gt;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&lt;div </a:t>
            </a:r>
            <a:r>
              <a:rPr dirty="0" sz="1200" spc="-10">
                <a:latin typeface="Calibri"/>
                <a:cs typeface="Calibri"/>
              </a:rPr>
              <a:t>class="container"&gt;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&lt;button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onclick="goHome()"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class="home-btn"&gt;Home&lt;/button&gt;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&lt;h1&gt;Student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Dashboard&lt;/h1&gt;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&lt;div </a:t>
            </a:r>
            <a:r>
              <a:rPr dirty="0" sz="1200" spc="-10">
                <a:latin typeface="Calibri"/>
                <a:cs typeface="Calibri"/>
              </a:rPr>
              <a:t>class="controls"&gt;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&lt;select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id="sortSelect"&gt;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&lt;option </a:t>
            </a:r>
            <a:r>
              <a:rPr dirty="0" sz="1200" spc="-10">
                <a:latin typeface="Calibri"/>
                <a:cs typeface="Calibri"/>
              </a:rPr>
              <a:t>value=""&gt;Sort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By&lt;/option&gt;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0604" y="894333"/>
            <a:ext cx="3138805" cy="8169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&lt;option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value="name"&gt;Name&lt;/option&gt;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&lt;option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value="dob"&gt;Date</a:t>
            </a:r>
            <a:r>
              <a:rPr dirty="0" sz="1200">
                <a:latin typeface="Calibri"/>
                <a:cs typeface="Calibri"/>
              </a:rPr>
              <a:t> of </a:t>
            </a:r>
            <a:r>
              <a:rPr dirty="0" sz="1200" spc="-10">
                <a:latin typeface="Calibri"/>
                <a:cs typeface="Calibri"/>
              </a:rPr>
              <a:t>Birth&lt;/option&gt;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&lt;/select&gt;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&lt;select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id="departmentFilter"&gt;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&lt;option </a:t>
            </a:r>
            <a:r>
              <a:rPr dirty="0" sz="1200" spc="-10">
                <a:latin typeface="Calibri"/>
                <a:cs typeface="Calibri"/>
              </a:rPr>
              <a:t>value=""&gt;Filter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Department&lt;/option&gt;</a:t>
            </a:r>
            <a:endParaRPr sz="1200">
              <a:latin typeface="Calibri"/>
              <a:cs typeface="Calibri"/>
            </a:endParaRPr>
          </a:p>
          <a:p>
            <a:pPr marL="18415" marR="417830" indent="-6350">
              <a:lnSpc>
                <a:spcPct val="174200"/>
              </a:lnSpc>
            </a:pPr>
            <a:r>
              <a:rPr dirty="0" sz="1200">
                <a:latin typeface="Calibri"/>
                <a:cs typeface="Calibri"/>
              </a:rPr>
              <a:t>&lt;option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value="CSE"&gt;CSE&lt;/option&gt;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&lt;option value="IT"&gt;IT&lt;/option&gt;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&lt;option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value="ECE"&gt;ECE&lt;/option&gt;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&lt;option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value="MECH"&gt;MECH&lt;/option&gt;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&lt;/select&gt;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&lt;button onclick="loadStudents()"&gt;Apply&lt;/button&gt;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&lt;/div&gt;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&lt;table&gt;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&lt;thead&gt;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20">
                <a:latin typeface="Calibri"/>
                <a:cs typeface="Calibri"/>
              </a:rPr>
              <a:t>&lt;tr&gt;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&lt;th&gt;ID&lt;/th&gt;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&lt;th&gt;Name&lt;/th&gt;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&lt;th&gt;Email&lt;/th&gt;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&lt;th&gt;DOB&lt;/th&gt;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&lt;th&gt;Department&lt;/th&gt;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&lt;th&gt;Phone&lt;/th&gt;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&lt;/tr&gt;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&lt;/thead&gt;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&lt;tbody</a:t>
            </a:r>
            <a:r>
              <a:rPr dirty="0" sz="1200" spc="-10">
                <a:latin typeface="Calibri"/>
                <a:cs typeface="Calibri"/>
              </a:rPr>
              <a:t> id="studentTable"&gt;&lt;/tbody&gt;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&lt;/table&gt;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&lt;h2&gt;Department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Count&lt;/h2&gt;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0604" y="894333"/>
            <a:ext cx="3801110" cy="81635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&lt;div </a:t>
            </a:r>
            <a:r>
              <a:rPr dirty="0" sz="1200" spc="-10">
                <a:latin typeface="Calibri"/>
                <a:cs typeface="Calibri"/>
              </a:rPr>
              <a:t>id="deptCount"&gt;&lt;/div&gt;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&lt;/div&gt;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&lt;script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src="dashboard.js"&gt;&lt;/script&gt;</a:t>
            </a:r>
            <a:endParaRPr sz="1200">
              <a:latin typeface="Calibri"/>
              <a:cs typeface="Calibri"/>
            </a:endParaRPr>
          </a:p>
          <a:p>
            <a:pPr marL="18415" marR="2036445" indent="-6350">
              <a:lnSpc>
                <a:spcPct val="173300"/>
              </a:lnSpc>
              <a:spcBef>
                <a:spcPts val="10"/>
              </a:spcBef>
            </a:pPr>
            <a:r>
              <a:rPr dirty="0" sz="1200" spc="-10">
                <a:latin typeface="Calibri"/>
                <a:cs typeface="Calibri"/>
              </a:rPr>
              <a:t>&lt;script&gt;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goHome(){ window.location.href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"index.html"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&lt;/script&gt;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&lt;/body&gt;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&lt;/html&gt;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 b="1">
                <a:latin typeface="Calibri"/>
                <a:cs typeface="Calibri"/>
              </a:rPr>
              <a:t>LOGIN.HTML: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&lt;!DOCTYPE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html&gt;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&lt;html&gt;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&lt;head&gt;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&lt;title&gt;Login&lt;/title&gt;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&lt;link </a:t>
            </a:r>
            <a:r>
              <a:rPr dirty="0" sz="1200" spc="-10">
                <a:latin typeface="Calibri"/>
                <a:cs typeface="Calibri"/>
              </a:rPr>
              <a:t>rel="stylesheet"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href="login.css"&gt;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&lt;/head&gt;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&lt;body&gt;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&lt;div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class="login-container"&gt;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&lt;h1&gt;Login&lt;/h1&gt;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&lt;form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id="loginForm"&gt;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&lt;label&gt;Username&lt;/label&gt;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&lt;input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type="text" </a:t>
            </a:r>
            <a:r>
              <a:rPr dirty="0" sz="1200">
                <a:latin typeface="Calibri"/>
                <a:cs typeface="Calibri"/>
              </a:rPr>
              <a:t>id="username"&gt;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&lt;label&gt;Password&lt;/label&gt;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&lt;input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type="password"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id="password"&gt;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&lt;p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id="errorMsg"&gt;&lt;/p&gt;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0604" y="894333"/>
            <a:ext cx="5529580" cy="805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&lt;button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type="submit"&gt;Login&lt;/button&gt;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&lt;/form&gt;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&lt;/div&gt;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&lt;script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src="login.js"&gt;&lt;/script&gt;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&lt;/body&gt;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&lt;/html&gt;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 b="1">
                <a:latin typeface="Calibri"/>
                <a:cs typeface="Calibri"/>
              </a:rPr>
              <a:t>REGISTRATION.HTML: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&lt;!DOCTYPE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html&gt;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&lt;html&gt;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&lt;head&gt;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&lt;title&gt;Student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Registration&lt;/title&gt;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&lt;link </a:t>
            </a:r>
            <a:r>
              <a:rPr dirty="0" sz="1200" spc="-10">
                <a:latin typeface="Calibri"/>
                <a:cs typeface="Calibri"/>
              </a:rPr>
              <a:t>rel="stylesheet"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href="style.css"&gt;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&lt;/head&gt;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&lt;body&gt;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&lt;div </a:t>
            </a:r>
            <a:r>
              <a:rPr dirty="0" sz="1200" spc="-10">
                <a:latin typeface="Calibri"/>
                <a:cs typeface="Calibri"/>
              </a:rPr>
              <a:t>class="container"&gt;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&lt;h1&gt;Student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Registration&lt;/h1&gt;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&lt;button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onclick="goHome()"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class="home-btn"&gt;Home&lt;/button&gt;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&lt;form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id="studentForm"&gt;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&lt;label&gt;Name&lt;/label&gt;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&lt;input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type="text"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id="name"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placeholder="Enter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name"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required&gt;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&lt;label&gt;Email&lt;/label&gt;</a:t>
            </a:r>
            <a:endParaRPr sz="1200">
              <a:latin typeface="Calibri"/>
              <a:cs typeface="Calibri"/>
            </a:endParaRPr>
          </a:p>
          <a:p>
            <a:pPr marL="18415" marR="5080" indent="-6350">
              <a:lnSpc>
                <a:spcPct val="114199"/>
              </a:lnSpc>
              <a:spcBef>
                <a:spcPts val="865"/>
              </a:spcBef>
            </a:pPr>
            <a:r>
              <a:rPr dirty="0" sz="1200">
                <a:latin typeface="Calibri"/>
                <a:cs typeface="Calibri"/>
              </a:rPr>
              <a:t>&lt;input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type="email"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id="email"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placeholder="Enter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email"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required&gt;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&lt;label&gt;Date </a:t>
            </a:r>
            <a:r>
              <a:rPr dirty="0" sz="1200" spc="-25">
                <a:latin typeface="Calibri"/>
                <a:cs typeface="Calibri"/>
              </a:rPr>
              <a:t>of </a:t>
            </a:r>
            <a:r>
              <a:rPr dirty="0" sz="1200" spc="-10">
                <a:latin typeface="Calibri"/>
                <a:cs typeface="Calibri"/>
              </a:rPr>
              <a:t>Birth&lt;/label&gt;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&lt;input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type="date"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id="dob"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required&gt;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&lt;label&gt;Department&lt;/label&gt;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0604" y="894333"/>
            <a:ext cx="4811395" cy="82638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&lt;select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id="department"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required&gt;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&lt;option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value=""&gt;Select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Department&lt;/option&gt;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&lt;option&gt;CSE&lt;/option&gt;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&lt;option&gt;IT&lt;/option&gt;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&lt;option&gt;ECE&lt;/option&gt;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&lt;option&gt;MECH&lt;/option&gt;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&lt;/select&gt;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&lt;label&gt;Phone&lt;/label&gt;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&lt;input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type="text"</a:t>
            </a:r>
            <a:r>
              <a:rPr dirty="0" sz="1200">
                <a:latin typeface="Calibri"/>
                <a:cs typeface="Calibri"/>
              </a:rPr>
              <a:t> id="phone"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placeholder="Enter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phone number"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required&gt;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&lt;button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type="submit"&gt;Register&lt;/button&gt;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&lt;/form&gt;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&lt;/div&gt;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&lt;script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src="script.js"&gt;&lt;/script&gt;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&lt;/body&gt;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&lt;/html&gt;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200">
              <a:latin typeface="Calibri"/>
              <a:cs typeface="Calibri"/>
            </a:endParaRPr>
          </a:p>
          <a:p>
            <a:pPr marL="18415" marR="829944" indent="-6350">
              <a:lnSpc>
                <a:spcPct val="173300"/>
              </a:lnSpc>
            </a:pPr>
            <a:r>
              <a:rPr dirty="0" sz="1200" spc="-10" b="1">
                <a:latin typeface="Calibri"/>
                <a:cs typeface="Calibri"/>
              </a:rPr>
              <a:t>STYLE.CSS: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body{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font-</a:t>
            </a:r>
            <a:r>
              <a:rPr dirty="0" sz="1200">
                <a:latin typeface="Calibri"/>
                <a:cs typeface="Calibri"/>
              </a:rPr>
              <a:t>family: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'Segoe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UI',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sans-</a:t>
            </a:r>
            <a:r>
              <a:rPr dirty="0" sz="1200">
                <a:latin typeface="Calibri"/>
                <a:cs typeface="Calibri"/>
              </a:rPr>
              <a:t>serif;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background: linear-gradient(135deg,#0f2027,#203a43,#2c5364);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60"/>
              </a:spcBef>
            </a:pPr>
            <a:r>
              <a:rPr dirty="0" sz="1200">
                <a:latin typeface="Calibri"/>
                <a:cs typeface="Calibri"/>
              </a:rPr>
              <a:t>height:100vh;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display:flex;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justify-content:center;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10">
                <a:latin typeface="Calibri"/>
                <a:cs typeface="Calibri"/>
              </a:rPr>
              <a:t>align-items:center;</a:t>
            </a:r>
            <a:r>
              <a:rPr dirty="0" sz="1200" spc="8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margin:0;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200">
              <a:latin typeface="Calibri"/>
              <a:cs typeface="Calibri"/>
            </a:endParaRPr>
          </a:p>
          <a:p>
            <a:pPr marL="18415" marR="2355850" indent="-6350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.container{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width:420px;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padding:35px; background:rgba(255,255,255,0.08); border-radius:18px;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backdrop-filter: blur(10px);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30">
                <a:latin typeface="Calibri"/>
                <a:cs typeface="Calibri"/>
              </a:rPr>
              <a:t>box-</a:t>
            </a:r>
            <a:r>
              <a:rPr dirty="0" sz="1200" spc="-10">
                <a:latin typeface="Calibri"/>
                <a:cs typeface="Calibri"/>
              </a:rPr>
              <a:t>shadow:0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10px </a:t>
            </a:r>
            <a:r>
              <a:rPr dirty="0" sz="1200" spc="-20">
                <a:latin typeface="Calibri"/>
                <a:cs typeface="Calibri"/>
              </a:rPr>
              <a:t>35px </a:t>
            </a:r>
            <a:r>
              <a:rPr dirty="0" sz="1200" spc="-10">
                <a:latin typeface="Calibri"/>
                <a:cs typeface="Calibri"/>
              </a:rPr>
              <a:t>rgba(0,0,0,0.6);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0604" y="894333"/>
            <a:ext cx="2146935" cy="8146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40"/>
              </a:spcBef>
            </a:pPr>
            <a:endParaRPr sz="1200">
              <a:latin typeface="Calibri"/>
              <a:cs typeface="Calibri"/>
            </a:endParaRPr>
          </a:p>
          <a:p>
            <a:pPr algn="just" marL="18415" marR="830580" indent="-6350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h1{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text-</a:t>
            </a:r>
            <a:r>
              <a:rPr dirty="0" sz="1200" spc="-10">
                <a:latin typeface="Calibri"/>
                <a:cs typeface="Calibri"/>
              </a:rPr>
              <a:t>align:center; color:white;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margin- bottom:25px;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200">
              <a:latin typeface="Calibri"/>
              <a:cs typeface="Calibri"/>
            </a:endParaRPr>
          </a:p>
          <a:p>
            <a:pPr algn="just" marL="18415" marR="830580" indent="-6350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h2{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text-</a:t>
            </a:r>
            <a:r>
              <a:rPr dirty="0" sz="1200" spc="-10">
                <a:latin typeface="Calibri"/>
                <a:cs typeface="Calibri"/>
              </a:rPr>
              <a:t>align:center; color:white;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margin- top:30px;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latin typeface="Calibri"/>
                <a:cs typeface="Calibri"/>
              </a:rPr>
              <a:t>form{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display:flex;</a:t>
            </a:r>
            <a:r>
              <a:rPr dirty="0" sz="1200" spc="7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flex-</a:t>
            </a:r>
            <a:r>
              <a:rPr dirty="0" sz="1200" spc="-10">
                <a:latin typeface="Calibri"/>
                <a:cs typeface="Calibri"/>
              </a:rPr>
              <a:t>direction:column;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55"/>
              </a:spcBef>
            </a:pPr>
            <a:endParaRPr sz="1200">
              <a:latin typeface="Calibri"/>
              <a:cs typeface="Calibri"/>
            </a:endParaRPr>
          </a:p>
          <a:p>
            <a:pPr marL="18415" marR="1034415" indent="-6350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label{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color:#ddd; </a:t>
            </a:r>
            <a:r>
              <a:rPr dirty="0" sz="1200" spc="-25">
                <a:latin typeface="Calibri"/>
                <a:cs typeface="Calibri"/>
              </a:rPr>
              <a:t>font-</a:t>
            </a:r>
            <a:r>
              <a:rPr dirty="0" sz="1200" spc="-10">
                <a:latin typeface="Calibri"/>
                <a:cs typeface="Calibri"/>
              </a:rPr>
              <a:t>size:14px;</a:t>
            </a:r>
            <a:endParaRPr sz="1200">
              <a:latin typeface="Calibri"/>
              <a:cs typeface="Calibri"/>
            </a:endParaRPr>
          </a:p>
          <a:p>
            <a:pPr marL="18415" marR="1360170">
              <a:lnSpc>
                <a:spcPct val="173300"/>
              </a:lnSpc>
              <a:spcBef>
                <a:spcPts val="15"/>
              </a:spcBef>
            </a:pPr>
            <a:r>
              <a:rPr dirty="0" sz="1200" spc="-10">
                <a:latin typeface="Calibri"/>
                <a:cs typeface="Calibri"/>
              </a:rPr>
              <a:t>margin- </a:t>
            </a:r>
            <a:r>
              <a:rPr dirty="0" sz="1200" spc="-20">
                <a:latin typeface="Calibri"/>
                <a:cs typeface="Calibri"/>
              </a:rPr>
              <a:t>bottom:5px;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margin-top:10px;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40"/>
              </a:spcBef>
            </a:pPr>
            <a:endParaRPr sz="1200">
              <a:latin typeface="Calibri"/>
              <a:cs typeface="Calibri"/>
            </a:endParaRPr>
          </a:p>
          <a:p>
            <a:pPr marL="18415" marR="540385" indent="-6350">
              <a:lnSpc>
                <a:spcPct val="173300"/>
              </a:lnSpc>
              <a:spcBef>
                <a:spcPts val="5"/>
              </a:spcBef>
            </a:pPr>
            <a:r>
              <a:rPr dirty="0" sz="1200">
                <a:latin typeface="Calibri"/>
                <a:cs typeface="Calibri"/>
              </a:rPr>
              <a:t>input,select{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width:100%; padding:12px;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border:none;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border-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0604" y="894333"/>
            <a:ext cx="3187700" cy="79349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radius:8px;</a:t>
            </a:r>
            <a:endParaRPr sz="1200">
              <a:latin typeface="Calibri"/>
              <a:cs typeface="Calibri"/>
            </a:endParaRPr>
          </a:p>
          <a:p>
            <a:pPr marL="18415" marR="1807210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background:#27496d; color:white;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font-</a:t>
            </a:r>
            <a:endParaRPr sz="1200">
              <a:latin typeface="Calibri"/>
              <a:cs typeface="Calibri"/>
            </a:endParaRPr>
          </a:p>
          <a:p>
            <a:pPr marL="18415" marR="1684020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size:14px;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outline:none; margin-bottom:5px;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60"/>
              </a:spcBef>
            </a:pPr>
            <a:endParaRPr sz="1200">
              <a:latin typeface="Calibri"/>
              <a:cs typeface="Calibri"/>
            </a:endParaRPr>
          </a:p>
          <a:p>
            <a:pPr marL="18415" marR="756920" indent="-6350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input:focus,select:focus{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box-</a:t>
            </a:r>
            <a:r>
              <a:rPr dirty="0" sz="1200" spc="-10">
                <a:latin typeface="Calibri"/>
                <a:cs typeface="Calibri"/>
              </a:rPr>
              <a:t>shadow:0 </a:t>
            </a:r>
            <a:r>
              <a:rPr dirty="0" sz="1200">
                <a:latin typeface="Calibri"/>
                <a:cs typeface="Calibri"/>
              </a:rPr>
              <a:t>0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8px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#00eaff;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background:#2c5d8a;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40"/>
              </a:spcBef>
            </a:pPr>
            <a:endParaRPr sz="1200">
              <a:latin typeface="Calibri"/>
              <a:cs typeface="Calibri"/>
            </a:endParaRPr>
          </a:p>
          <a:p>
            <a:pPr marL="18415" marR="687070" indent="-6350">
              <a:lnSpc>
                <a:spcPct val="173300"/>
              </a:lnSpc>
              <a:spcBef>
                <a:spcPts val="5"/>
              </a:spcBef>
            </a:pPr>
            <a:r>
              <a:rPr dirty="0" sz="1200">
                <a:latin typeface="Calibri"/>
                <a:cs typeface="Calibri"/>
              </a:rPr>
              <a:t>button{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margin-top:15px; padding:12px; </a:t>
            </a:r>
            <a:r>
              <a:rPr dirty="0" sz="1200">
                <a:latin typeface="Calibri"/>
                <a:cs typeface="Calibri"/>
              </a:rPr>
              <a:t>border:none;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border-radius:10px;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background:linear-</a:t>
            </a:r>
            <a:endParaRPr sz="1200">
              <a:latin typeface="Calibri"/>
              <a:cs typeface="Calibri"/>
            </a:endParaRPr>
          </a:p>
          <a:p>
            <a:pPr marL="18415" marR="5080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gradient(45deg,#ff4b2b,#ff416c);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color:white;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font- </a:t>
            </a:r>
            <a:r>
              <a:rPr dirty="0" sz="1200" spc="-10">
                <a:latin typeface="Calibri"/>
                <a:cs typeface="Calibri"/>
              </a:rPr>
              <a:t>size:16px;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font-</a:t>
            </a:r>
            <a:r>
              <a:rPr dirty="0" sz="1200" spc="-10">
                <a:latin typeface="Calibri"/>
                <a:cs typeface="Calibri"/>
              </a:rPr>
              <a:t>weight:bold;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cursor:pointer; transition:0.3s;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40"/>
              </a:spcBef>
            </a:pPr>
            <a:endParaRPr sz="1200">
              <a:latin typeface="Calibri"/>
              <a:cs typeface="Calibri"/>
            </a:endParaRPr>
          </a:p>
          <a:p>
            <a:pPr marL="18415" marR="909955" indent="-6350">
              <a:lnSpc>
                <a:spcPct val="173500"/>
              </a:lnSpc>
              <a:spcBef>
                <a:spcPts val="5"/>
              </a:spcBef>
            </a:pPr>
            <a:r>
              <a:rPr dirty="0" sz="1200" spc="-10">
                <a:latin typeface="Calibri"/>
                <a:cs typeface="Calibri"/>
              </a:rPr>
              <a:t>button:hover{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transform:scale(1.05); </a:t>
            </a:r>
            <a:r>
              <a:rPr dirty="0" sz="1200" spc="-25">
                <a:latin typeface="Calibri"/>
                <a:cs typeface="Calibri"/>
              </a:rPr>
              <a:t>box-</a:t>
            </a:r>
            <a:r>
              <a:rPr dirty="0" sz="1200" spc="-10">
                <a:latin typeface="Calibri"/>
                <a:cs typeface="Calibri"/>
              </a:rPr>
              <a:t>shadow:0 </a:t>
            </a:r>
            <a:r>
              <a:rPr dirty="0" sz="1200">
                <a:latin typeface="Calibri"/>
                <a:cs typeface="Calibri"/>
              </a:rPr>
              <a:t>0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15px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#ff416c;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40"/>
              </a:spcBef>
            </a:pPr>
            <a:endParaRPr sz="1200">
              <a:latin typeface="Calibri"/>
              <a:cs typeface="Calibri"/>
            </a:endParaRPr>
          </a:p>
          <a:p>
            <a:pPr marL="18415" marR="1845945" indent="-6350">
              <a:lnSpc>
                <a:spcPct val="173300"/>
              </a:lnSpc>
              <a:spcBef>
                <a:spcPts val="5"/>
              </a:spcBef>
            </a:pPr>
            <a:r>
              <a:rPr dirty="0" sz="1200" spc="-10">
                <a:latin typeface="Calibri"/>
                <a:cs typeface="Calibri"/>
              </a:rPr>
              <a:t>#studentList{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margin- top:15px;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text-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0604" y="894333"/>
            <a:ext cx="3187700" cy="7823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align:center;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color:white;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font-</a:t>
            </a:r>
            <a:r>
              <a:rPr dirty="0" sz="1200" spc="-10">
                <a:latin typeface="Calibri"/>
                <a:cs typeface="Calibri"/>
              </a:rPr>
              <a:t>size:15px;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996315" indent="-6350">
              <a:lnSpc>
                <a:spcPct val="173300"/>
              </a:lnSpc>
              <a:spcBef>
                <a:spcPts val="15"/>
              </a:spcBef>
            </a:pPr>
            <a:r>
              <a:rPr dirty="0" sz="1200" spc="-10">
                <a:latin typeface="Calibri"/>
                <a:cs typeface="Calibri"/>
              </a:rPr>
              <a:t>.home-</a:t>
            </a:r>
            <a:r>
              <a:rPr dirty="0" sz="1200">
                <a:latin typeface="Calibri"/>
                <a:cs typeface="Calibri"/>
              </a:rPr>
              <a:t>container{ </a:t>
            </a:r>
            <a:r>
              <a:rPr dirty="0" sz="1200" spc="-25">
                <a:latin typeface="Calibri"/>
                <a:cs typeface="Calibri"/>
              </a:rPr>
              <a:t>text-</a:t>
            </a:r>
            <a:r>
              <a:rPr dirty="0" sz="1200" spc="-10">
                <a:latin typeface="Calibri"/>
                <a:cs typeface="Calibri"/>
              </a:rPr>
              <a:t>align:center; color:white;</a:t>
            </a:r>
            <a:endParaRPr sz="1200">
              <a:latin typeface="Calibri"/>
              <a:cs typeface="Calibri"/>
            </a:endParaRPr>
          </a:p>
          <a:p>
            <a:pPr marL="18415" marR="902335">
              <a:lnSpc>
                <a:spcPct val="173400"/>
              </a:lnSpc>
            </a:pPr>
            <a:r>
              <a:rPr dirty="0" sz="1200" spc="-10">
                <a:latin typeface="Calibri"/>
                <a:cs typeface="Calibri"/>
              </a:rPr>
              <a:t>background:rgba(255,255,255,0.08); padding:50px;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border-radius:20px; backdrop-</a:t>
            </a:r>
            <a:r>
              <a:rPr dirty="0" sz="1200">
                <a:latin typeface="Calibri"/>
                <a:cs typeface="Calibri"/>
              </a:rPr>
              <a:t>filter:</a:t>
            </a:r>
            <a:r>
              <a:rPr dirty="0" sz="1200" spc="-10">
                <a:latin typeface="Calibri"/>
                <a:cs typeface="Calibri"/>
              </a:rPr>
              <a:t> blur(10px);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box- </a:t>
            </a:r>
            <a:r>
              <a:rPr dirty="0" sz="1200">
                <a:latin typeface="Calibri"/>
                <a:cs typeface="Calibri"/>
              </a:rPr>
              <a:t>shadow:0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10px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35px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rgba(0,0,0,0.6); width:420px;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40"/>
              </a:spcBef>
            </a:pPr>
            <a:endParaRPr sz="1200">
              <a:latin typeface="Calibri"/>
              <a:cs typeface="Calibri"/>
            </a:endParaRPr>
          </a:p>
          <a:p>
            <a:pPr marL="18415" marR="958850" indent="-6350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.home-container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h1{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font-</a:t>
            </a:r>
            <a:r>
              <a:rPr dirty="0" sz="1200" spc="-10">
                <a:latin typeface="Calibri"/>
                <a:cs typeface="Calibri"/>
              </a:rPr>
              <a:t>size:32px; margin-bottom:15px;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40"/>
              </a:spcBef>
            </a:pPr>
            <a:endParaRPr sz="1200">
              <a:latin typeface="Calibri"/>
              <a:cs typeface="Calibri"/>
            </a:endParaRPr>
          </a:p>
          <a:p>
            <a:pPr marL="18415" marR="1459230" indent="-6350">
              <a:lnSpc>
                <a:spcPct val="173300"/>
              </a:lnSpc>
              <a:spcBef>
                <a:spcPts val="5"/>
              </a:spcBef>
            </a:pPr>
            <a:r>
              <a:rPr dirty="0" sz="1200" spc="-10">
                <a:latin typeface="Calibri"/>
                <a:cs typeface="Calibri"/>
              </a:rPr>
              <a:t>.home-container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p{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margin- bottom:30px;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color:#ddd;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200">
              <a:latin typeface="Calibri"/>
              <a:cs typeface="Calibri"/>
            </a:endParaRPr>
          </a:p>
          <a:p>
            <a:pPr marL="18415" marR="288290" indent="-6350">
              <a:lnSpc>
                <a:spcPct val="173300"/>
              </a:lnSpc>
            </a:pPr>
            <a:r>
              <a:rPr dirty="0" sz="1200" spc="-20">
                <a:latin typeface="Calibri"/>
                <a:cs typeface="Calibri"/>
              </a:rPr>
              <a:t>.start-</a:t>
            </a:r>
            <a:r>
              <a:rPr dirty="0" sz="1200">
                <a:latin typeface="Calibri"/>
                <a:cs typeface="Calibri"/>
              </a:rPr>
              <a:t>btn{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text-</a:t>
            </a:r>
            <a:r>
              <a:rPr dirty="0" sz="1200" spc="-10">
                <a:latin typeface="Calibri"/>
                <a:cs typeface="Calibri"/>
              </a:rPr>
              <a:t>decoration:none;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padding:12px </a:t>
            </a:r>
            <a:r>
              <a:rPr dirty="0" sz="1200">
                <a:latin typeface="Calibri"/>
                <a:cs typeface="Calibri"/>
              </a:rPr>
              <a:t>25px;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border-radius:10px;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background:linear-</a:t>
            </a:r>
            <a:endParaRPr sz="1200">
              <a:latin typeface="Calibri"/>
              <a:cs typeface="Calibri"/>
            </a:endParaRPr>
          </a:p>
          <a:p>
            <a:pPr marL="18415" marR="5080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gradient(45deg,#ff4b2b,#ff416c);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color:white;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font- </a:t>
            </a:r>
            <a:r>
              <a:rPr dirty="0" sz="1200" spc="-10">
                <a:latin typeface="Calibri"/>
                <a:cs typeface="Calibri"/>
              </a:rPr>
              <a:t>weight:bold;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transition:0.3s;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0604" y="894333"/>
            <a:ext cx="4387215" cy="7936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latin typeface="Calibri"/>
                <a:cs typeface="Calibri"/>
              </a:rPr>
              <a:t>.start-</a:t>
            </a:r>
            <a:r>
              <a:rPr dirty="0" sz="1200" spc="-10">
                <a:latin typeface="Calibri"/>
                <a:cs typeface="Calibri"/>
              </a:rPr>
              <a:t>btn:hover{</a:t>
            </a:r>
            <a:endParaRPr sz="1200">
              <a:latin typeface="Calibri"/>
              <a:cs typeface="Calibri"/>
            </a:endParaRPr>
          </a:p>
          <a:p>
            <a:pPr marL="18415" marR="2699385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transform:scale(1.05);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box- </a:t>
            </a:r>
            <a:r>
              <a:rPr dirty="0" sz="1200">
                <a:latin typeface="Calibri"/>
                <a:cs typeface="Calibri"/>
              </a:rPr>
              <a:t>shadow:0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0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15px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#ff416c;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 b="1">
                <a:latin typeface="Calibri"/>
                <a:cs typeface="Calibri"/>
              </a:rPr>
              <a:t>SERVER.JS:</a:t>
            </a:r>
            <a:endParaRPr sz="1200">
              <a:latin typeface="Calibri"/>
              <a:cs typeface="Calibri"/>
            </a:endParaRPr>
          </a:p>
          <a:p>
            <a:pPr marL="18415" marR="1299210" indent="-6350">
              <a:lnSpc>
                <a:spcPct val="173400"/>
              </a:lnSpc>
            </a:pP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express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require("express")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cors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require("cors")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path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require("path")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const </a:t>
            </a:r>
            <a:r>
              <a:rPr dirty="0" sz="1200">
                <a:latin typeface="Calibri"/>
                <a:cs typeface="Calibri"/>
              </a:rPr>
              <a:t>db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require("./db")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const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express()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app.use(cors())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app.use(express.json())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app.use(express.urlencoded({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extended: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true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}))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60"/>
              </a:spcBef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Disable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default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index.html loading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app.use(express.static(</a:t>
            </a:r>
            <a:r>
              <a:rPr dirty="0" u="sng" sz="1200" spc="2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1200">
                <a:latin typeface="Calibri"/>
                <a:cs typeface="Calibri"/>
              </a:rPr>
              <a:t>dirname,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{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index: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false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}))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==========================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LOGIN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PAGE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FIRST</a:t>
            </a:r>
            <a:r>
              <a:rPr dirty="0" sz="1200" spc="-25">
                <a:latin typeface="Calibri"/>
                <a:cs typeface="Calibri"/>
              </a:rPr>
              <a:t> //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==========================</a:t>
            </a:r>
            <a:endParaRPr sz="1200">
              <a:latin typeface="Calibri"/>
              <a:cs typeface="Calibri"/>
            </a:endParaRPr>
          </a:p>
          <a:p>
            <a:pPr marL="18415" marR="644525" indent="-6350">
              <a:lnSpc>
                <a:spcPct val="173300"/>
              </a:lnSpc>
              <a:spcBef>
                <a:spcPts val="15"/>
              </a:spcBef>
            </a:pPr>
            <a:r>
              <a:rPr dirty="0" sz="1200">
                <a:latin typeface="Calibri"/>
                <a:cs typeface="Calibri"/>
              </a:rPr>
              <a:t>app.get("/",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(req,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res)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{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res.sendFile(path.join(</a:t>
            </a:r>
            <a:r>
              <a:rPr dirty="0" u="sng" sz="1200" spc="229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1200" spc="-10">
                <a:latin typeface="Calibri"/>
                <a:cs typeface="Calibri"/>
              </a:rPr>
              <a:t>dirname, </a:t>
            </a:r>
            <a:r>
              <a:rPr dirty="0" sz="1200">
                <a:latin typeface="Calibri"/>
                <a:cs typeface="Calibri"/>
              </a:rPr>
              <a:t>"login.html"))</a:t>
            </a:r>
            <a:r>
              <a:rPr dirty="0" sz="1200" spc="-7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==========================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LOGIN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SYSTEM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==========================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app.post("/login",(req,res)=&gt;{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const</a:t>
            </a:r>
            <a:endParaRPr sz="1200">
              <a:latin typeface="Calibri"/>
              <a:cs typeface="Calibri"/>
            </a:endParaRPr>
          </a:p>
          <a:p>
            <a:pPr marL="18415" marR="208915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{username,password}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req.body const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sql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"SELECT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*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users </a:t>
            </a:r>
            <a:r>
              <a:rPr dirty="0" sz="1200">
                <a:latin typeface="Calibri"/>
                <a:cs typeface="Calibri"/>
              </a:rPr>
              <a:t>WHERE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username=?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password=?"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db.query(sql,[username,password],(err,result)=&gt;{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0604" y="894333"/>
            <a:ext cx="4801870" cy="8260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if(err){</a:t>
            </a:r>
            <a:endParaRPr sz="1200">
              <a:latin typeface="Calibri"/>
              <a:cs typeface="Calibri"/>
            </a:endParaRPr>
          </a:p>
          <a:p>
            <a:pPr marL="18415" marR="3724910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res.send("error") return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if(result.length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&gt; 0){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res.send("success")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}else{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res.send("fail")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==========================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// </a:t>
            </a:r>
            <a:r>
              <a:rPr dirty="0" sz="1200" spc="-10">
                <a:latin typeface="Calibri"/>
                <a:cs typeface="Calibri"/>
              </a:rPr>
              <a:t>STUDENT REGISTRATION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==========================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app.post("/addStudent",(req,res)=&gt;{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const</a:t>
            </a:r>
            <a:endParaRPr sz="1200">
              <a:latin typeface="Calibri"/>
              <a:cs typeface="Calibri"/>
            </a:endParaRPr>
          </a:p>
          <a:p>
            <a:pPr marL="18415" marR="196215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{name,email,dob,department,phone}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 req.body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const sql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"INSERT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INTO </a:t>
            </a:r>
            <a:r>
              <a:rPr dirty="0" sz="1200" spc="-10">
                <a:latin typeface="Calibri"/>
                <a:cs typeface="Calibri"/>
              </a:rPr>
              <a:t>students(name,email,dob,department,phone)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VALUES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(?,?,?,?,?)"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db.query(sql,[name,email,dob,department,phone],(err,result)=&gt;{</a:t>
            </a:r>
            <a:endParaRPr sz="1200">
              <a:latin typeface="Calibri"/>
              <a:cs typeface="Calibri"/>
            </a:endParaRPr>
          </a:p>
          <a:p>
            <a:pPr marL="18415" marR="3171190" indent="-6350">
              <a:lnSpc>
                <a:spcPct val="173300"/>
              </a:lnSpc>
              <a:spcBef>
                <a:spcPts val="865"/>
              </a:spcBef>
            </a:pPr>
            <a:r>
              <a:rPr dirty="0" sz="1200">
                <a:latin typeface="Calibri"/>
                <a:cs typeface="Calibri"/>
              </a:rPr>
              <a:t>if(err){ </a:t>
            </a:r>
            <a:r>
              <a:rPr dirty="0" sz="1200" spc="-10">
                <a:latin typeface="Calibri"/>
                <a:cs typeface="Calibri"/>
              </a:rPr>
              <a:t>res.send(err)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}else{ res.send("Student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Added </a:t>
            </a:r>
            <a:r>
              <a:rPr dirty="0" sz="1200" spc="-10">
                <a:latin typeface="Calibri"/>
                <a:cs typeface="Calibri"/>
              </a:rPr>
              <a:t>Successfully")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==========================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GET</a:t>
            </a:r>
            <a:r>
              <a:rPr dirty="0" sz="1200" spc="-10">
                <a:latin typeface="Calibri"/>
                <a:cs typeface="Calibri"/>
              </a:rPr>
              <a:t> STUDENTS (Dashboard)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==========================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0604" y="1211326"/>
            <a:ext cx="3272154" cy="65601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app.get("/students",(req,res)=&gt;{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latin typeface="Calibri"/>
                <a:cs typeface="Calibri"/>
              </a:rPr>
              <a:t>db.query("SELECT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*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students",(err,result)=&gt;{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40"/>
              </a:spcBef>
            </a:pPr>
            <a:endParaRPr sz="1200">
              <a:latin typeface="Calibri"/>
              <a:cs typeface="Calibri"/>
            </a:endParaRPr>
          </a:p>
          <a:p>
            <a:pPr marL="18415" marR="2449830" indent="-6350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if(err){ res.send(err)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60"/>
              </a:spcBef>
            </a:pPr>
            <a:r>
              <a:rPr dirty="0" sz="1200" spc="-10">
                <a:latin typeface="Calibri"/>
                <a:cs typeface="Calibri"/>
              </a:rPr>
              <a:t>}else{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res.json(result)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==========================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START</a:t>
            </a:r>
            <a:r>
              <a:rPr dirty="0" sz="1200" spc="-10">
                <a:latin typeface="Calibri"/>
                <a:cs typeface="Calibri"/>
              </a:rPr>
              <a:t> SERVER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==========================</a:t>
            </a:r>
            <a:endParaRPr sz="1200">
              <a:latin typeface="Calibri"/>
              <a:cs typeface="Calibri"/>
            </a:endParaRPr>
          </a:p>
          <a:p>
            <a:pPr marL="18415" marR="5080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app.listen(3000,()=&gt;{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console.log("Server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running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at: </a:t>
            </a:r>
            <a:r>
              <a:rPr dirty="0" sz="1200" spc="-10">
                <a:latin typeface="Calibri"/>
                <a:cs typeface="Calibri"/>
                <a:hlinkClick r:id="rId2"/>
              </a:rPr>
              <a:t>http://localhost:3000</a:t>
            </a:r>
            <a:r>
              <a:rPr dirty="0" sz="1200" spc="-10">
                <a:latin typeface="Calibri"/>
                <a:cs typeface="Calibri"/>
              </a:rPr>
              <a:t>")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 b="1">
                <a:latin typeface="Calibri"/>
                <a:cs typeface="Calibri"/>
              </a:rPr>
              <a:t>OUTPUTS: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4755007"/>
            <a:ext cx="5889625" cy="443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 marR="5080" indent="-6350">
              <a:lnSpc>
                <a:spcPct val="114199"/>
              </a:lnSpc>
              <a:spcBef>
                <a:spcPts val="100"/>
              </a:spcBef>
            </a:pPr>
            <a:r>
              <a:rPr dirty="0" sz="1200" spc="-20" b="1">
                <a:latin typeface="Calibri"/>
                <a:cs typeface="Calibri"/>
              </a:rPr>
              <a:t>RESULT:</a:t>
            </a:r>
            <a:r>
              <a:rPr dirty="0" sz="1200" spc="1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system successfully validates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10">
                <a:latin typeface="Calibri"/>
                <a:cs typeface="Calibri"/>
              </a:rPr>
              <a:t> credentials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0">
                <a:latin typeface="Calibri"/>
                <a:cs typeface="Calibri"/>
              </a:rPr>
              <a:t> grants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access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only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authorized </a:t>
            </a:r>
            <a:r>
              <a:rPr dirty="0" sz="1200">
                <a:latin typeface="Calibri"/>
                <a:cs typeface="Calibri"/>
              </a:rPr>
              <a:t>users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while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preventing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invalid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logins</a:t>
            </a:r>
            <a:r>
              <a:rPr dirty="0" sz="1200" spc="-10" b="1"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92860" y="6459092"/>
            <a:ext cx="5908040" cy="2320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 b="1">
                <a:latin typeface="Calibri"/>
                <a:cs typeface="Calibri"/>
              </a:rPr>
              <a:t>TASK4: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Order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Management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using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Joins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1200">
              <a:latin typeface="Calibri"/>
              <a:cs typeface="Calibri"/>
            </a:endParaRPr>
          </a:p>
          <a:p>
            <a:pPr marL="18415" marR="5080" indent="-6350">
              <a:lnSpc>
                <a:spcPct val="114399"/>
              </a:lnSpc>
            </a:pPr>
            <a:r>
              <a:rPr dirty="0" sz="1200" b="1">
                <a:latin typeface="Calibri"/>
                <a:cs typeface="Calibri"/>
              </a:rPr>
              <a:t>AIM: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 spc="-6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design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implement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order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management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system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SQL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joins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subqueries</a:t>
            </a:r>
            <a:r>
              <a:rPr dirty="0" sz="1200" spc="-25">
                <a:latin typeface="Calibri"/>
                <a:cs typeface="Calibri"/>
              </a:rPr>
              <a:t> to </a:t>
            </a:r>
            <a:r>
              <a:rPr dirty="0" sz="1200" spc="-10">
                <a:latin typeface="Calibri"/>
                <a:cs typeface="Calibri"/>
              </a:rPr>
              <a:t>efficiently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retrieve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0">
                <a:latin typeface="Calibri"/>
                <a:cs typeface="Calibri"/>
              </a:rPr>
              <a:t> analyze </a:t>
            </a:r>
            <a:r>
              <a:rPr dirty="0" sz="1200" spc="-20">
                <a:latin typeface="Calibri"/>
                <a:cs typeface="Calibri"/>
              </a:rPr>
              <a:t>customer,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product,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order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data.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 b="1">
                <a:latin typeface="Calibri"/>
                <a:cs typeface="Calibri"/>
              </a:rPr>
              <a:t>ALGORITHM: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Start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process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Create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database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tables: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7289" y="914400"/>
            <a:ext cx="5092700" cy="31623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5925820" cy="43072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07390">
              <a:lnSpc>
                <a:spcPct val="100000"/>
              </a:lnSpc>
              <a:spcBef>
                <a:spcPts val="100"/>
              </a:spcBef>
              <a:tabLst>
                <a:tab pos="935990" algn="l"/>
                <a:tab pos="3679825" algn="l"/>
              </a:tabLst>
            </a:pPr>
            <a:r>
              <a:rPr dirty="0" sz="1000" spc="-50">
                <a:latin typeface="Courier New"/>
                <a:cs typeface="Courier New"/>
              </a:rPr>
              <a:t>o</a:t>
            </a:r>
            <a:r>
              <a:rPr dirty="0" sz="1000">
                <a:latin typeface="Courier New"/>
                <a:cs typeface="Courier New"/>
              </a:rPr>
              <a:t>	</a:t>
            </a:r>
            <a:r>
              <a:rPr dirty="0" sz="1200" spc="-10">
                <a:latin typeface="Calibri"/>
                <a:cs typeface="Calibri"/>
              </a:rPr>
              <a:t>Customers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(CustomerID,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Name,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etc.)</a:t>
            </a:r>
            <a:r>
              <a:rPr dirty="0" sz="1200" spc="254">
                <a:latin typeface="Calibri"/>
                <a:cs typeface="Calibri"/>
              </a:rPr>
              <a:t> </a:t>
            </a:r>
            <a:r>
              <a:rPr dirty="0" sz="1000" spc="-50">
                <a:latin typeface="Courier New"/>
                <a:cs typeface="Courier New"/>
              </a:rPr>
              <a:t>o</a:t>
            </a:r>
            <a:r>
              <a:rPr dirty="0" sz="1000">
                <a:latin typeface="Courier New"/>
                <a:cs typeface="Courier New"/>
              </a:rPr>
              <a:t>	</a:t>
            </a:r>
            <a:r>
              <a:rPr dirty="0" sz="1200" spc="-10">
                <a:latin typeface="Calibri"/>
                <a:cs typeface="Calibri"/>
              </a:rPr>
              <a:t>Products</a:t>
            </a:r>
            <a:endParaRPr sz="1200">
              <a:latin typeface="Calibri"/>
              <a:cs typeface="Calibri"/>
            </a:endParaRPr>
          </a:p>
          <a:p>
            <a:pPr marL="713105" marR="1670050">
              <a:lnSpc>
                <a:spcPct val="174200"/>
              </a:lnSpc>
              <a:tabLst>
                <a:tab pos="3222625" algn="l"/>
              </a:tabLst>
            </a:pPr>
            <a:r>
              <a:rPr dirty="0" sz="1200" spc="-10">
                <a:latin typeface="Calibri"/>
                <a:cs typeface="Calibri"/>
              </a:rPr>
              <a:t>(ProductID,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ProductName,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Price)</a:t>
            </a:r>
            <a:r>
              <a:rPr dirty="0" sz="1200" spc="240">
                <a:latin typeface="Calibri"/>
                <a:cs typeface="Calibri"/>
              </a:rPr>
              <a:t> </a:t>
            </a:r>
            <a:r>
              <a:rPr dirty="0" sz="1000" spc="-50">
                <a:latin typeface="Courier New"/>
                <a:cs typeface="Courier New"/>
              </a:rPr>
              <a:t>o</a:t>
            </a:r>
            <a:r>
              <a:rPr dirty="0" sz="1000">
                <a:latin typeface="Courier New"/>
                <a:cs typeface="Courier New"/>
              </a:rPr>
              <a:t>	</a:t>
            </a:r>
            <a:r>
              <a:rPr dirty="0" sz="1200">
                <a:latin typeface="Calibri"/>
                <a:cs typeface="Calibri"/>
              </a:rPr>
              <a:t>Orders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(OrderID, CustomerID,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ProductID,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Quantity,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TotalAmount)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65"/>
              </a:spcBef>
              <a:buAutoNum type="arabicPeriod" startAt="3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Insert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sample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tables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dirty="0" sz="1200">
                <a:latin typeface="Segoe UI Symbol"/>
                <a:cs typeface="Segoe UI Symbol"/>
              </a:rPr>
              <a:t>➤</a:t>
            </a:r>
            <a:r>
              <a:rPr dirty="0" sz="1200" spc="-85">
                <a:latin typeface="Segoe UI Symbol"/>
                <a:cs typeface="Segoe UI Symbol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Retrieval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Joins:</a:t>
            </a:r>
            <a:endParaRPr sz="1200">
              <a:latin typeface="Calibri"/>
              <a:cs typeface="Calibri"/>
            </a:endParaRPr>
          </a:p>
          <a:p>
            <a:pPr marL="478790" marR="5080" indent="-228600">
              <a:lnSpc>
                <a:spcPts val="2500"/>
              </a:lnSpc>
              <a:spcBef>
                <a:spcPts val="160"/>
              </a:spcBef>
              <a:buAutoNum type="arabicPeriod" startAt="4"/>
              <a:tabLst>
                <a:tab pos="478790" algn="l"/>
              </a:tabLst>
            </a:pP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SQL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JOIN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queries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combine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Customers,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Orders,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Products</a:t>
            </a:r>
            <a:r>
              <a:rPr dirty="0" sz="1200" spc="2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5.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Display </a:t>
            </a:r>
            <a:r>
              <a:rPr dirty="0" sz="1200">
                <a:latin typeface="Calibri"/>
                <a:cs typeface="Calibri"/>
              </a:rPr>
              <a:t>customer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order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history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details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(Name,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Quantity,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Total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Amount)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dirty="0" sz="1200">
                <a:latin typeface="Segoe UI Symbol"/>
                <a:cs typeface="Segoe UI Symbol"/>
              </a:rPr>
              <a:t>➤</a:t>
            </a:r>
            <a:r>
              <a:rPr dirty="0" sz="1200" spc="-70">
                <a:latin typeface="Segoe UI Symbol"/>
                <a:cs typeface="Segoe UI Symbol"/>
              </a:rPr>
              <a:t> </a:t>
            </a:r>
            <a:r>
              <a:rPr dirty="0" sz="1200">
                <a:latin typeface="Calibri"/>
                <a:cs typeface="Calibri"/>
              </a:rPr>
              <a:t>Subquery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Analysis: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944"/>
              </a:spcBef>
              <a:buAutoNum type="arabicPeriod" startAt="6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subquery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highest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value</a:t>
            </a:r>
            <a:r>
              <a:rPr dirty="0" sz="1200" spc="-20">
                <a:latin typeface="Calibri"/>
                <a:cs typeface="Calibri"/>
              </a:rPr>
              <a:t> order</a:t>
            </a:r>
            <a:endParaRPr sz="1200">
              <a:latin typeface="Calibri"/>
              <a:cs typeface="Calibri"/>
            </a:endParaRPr>
          </a:p>
          <a:p>
            <a:pPr marL="478790" marR="179070" indent="-228600">
              <a:lnSpc>
                <a:spcPct val="114199"/>
              </a:lnSpc>
              <a:spcBef>
                <a:spcPts val="855"/>
              </a:spcBef>
              <a:buAutoNum type="arabicPeriod" startAt="6"/>
              <a:tabLst>
                <a:tab pos="478790" algn="l"/>
              </a:tabLst>
            </a:pP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subquery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GROUP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most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active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customer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(maximum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number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of </a:t>
            </a:r>
            <a:r>
              <a:rPr dirty="0" sz="1200" spc="-10">
                <a:latin typeface="Calibri"/>
                <a:cs typeface="Calibri"/>
              </a:rPr>
              <a:t>orders)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55"/>
              </a:spcBef>
            </a:pPr>
            <a:r>
              <a:rPr dirty="0" sz="1200">
                <a:latin typeface="Segoe UI Symbol"/>
                <a:cs typeface="Segoe UI Symbol"/>
              </a:rPr>
              <a:t>➤</a:t>
            </a:r>
            <a:r>
              <a:rPr dirty="0" sz="1200" spc="-65">
                <a:latin typeface="Segoe UI Symbol"/>
                <a:cs typeface="Segoe UI Symbol"/>
              </a:rPr>
              <a:t> </a:t>
            </a:r>
            <a:r>
              <a:rPr dirty="0" sz="1200" spc="-10">
                <a:latin typeface="Calibri"/>
                <a:cs typeface="Calibri"/>
              </a:rPr>
              <a:t>Sorting: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960"/>
              </a:spcBef>
              <a:buAutoNum type="arabicPeriod" startAt="8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Apply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ORDER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clause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sort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results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(e.g.,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highest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order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value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first)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55"/>
              </a:spcBef>
              <a:buAutoNum type="arabicPeriod" startAt="8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Display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results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structured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format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(table/UI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CSS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frontend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used)</a:t>
            </a:r>
            <a:r>
              <a:rPr dirty="0" sz="1200" spc="2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10.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Stop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92860" y="6146672"/>
            <a:ext cx="2415540" cy="2749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Calibri"/>
                <a:cs typeface="Calibri"/>
              </a:rPr>
              <a:t>PROGRAM: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 b="1">
                <a:latin typeface="Calibri"/>
                <a:cs typeface="Calibri"/>
              </a:rPr>
              <a:t>INDEX.HTML: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&lt;!DOCTYPE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html&gt;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&lt;html&gt;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dirty="0" sz="1200" spc="-10">
                <a:latin typeface="Calibri"/>
                <a:cs typeface="Calibri"/>
              </a:rPr>
              <a:t>&lt;head&gt;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&lt;title&gt;Login&lt;/title&gt;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&lt;link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rel="stylesheet"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href="style.css"&gt;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10">
                <a:latin typeface="Calibri"/>
                <a:cs typeface="Calibri"/>
              </a:rPr>
              <a:t>&lt;/head&gt;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&lt;body&gt;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4092575" cy="81508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&lt;div </a:t>
            </a:r>
            <a:r>
              <a:rPr dirty="0" sz="1200" spc="-10">
                <a:latin typeface="Calibri"/>
                <a:cs typeface="Calibri"/>
              </a:rPr>
              <a:t>class="login"&gt;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&lt;h2&gt;Admin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Login&lt;/h2&gt;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&lt;input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type="text" </a:t>
            </a:r>
            <a:r>
              <a:rPr dirty="0" sz="1200">
                <a:latin typeface="Calibri"/>
                <a:cs typeface="Calibri"/>
              </a:rPr>
              <a:t>id="username"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placeholder="Username"&gt;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&lt;input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type="password"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id="password"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placeholder="Password"&gt;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&lt;button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onclick="login()"&gt;Login&lt;/button&gt;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10">
                <a:latin typeface="Calibri"/>
                <a:cs typeface="Calibri"/>
              </a:rPr>
              <a:t>&lt;/div&gt;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&lt;script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src="script.js"&gt;&lt;/script&gt;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10">
                <a:latin typeface="Calibri"/>
                <a:cs typeface="Calibri"/>
              </a:rPr>
              <a:t>&lt;/body&gt;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&lt;/html&gt;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 b="1">
                <a:latin typeface="Calibri"/>
                <a:cs typeface="Calibri"/>
              </a:rPr>
              <a:t>ADMINDASHBOARD.HTML: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&lt;!DOCTYPE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html&gt;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&lt;html&gt;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10">
                <a:latin typeface="Calibri"/>
                <a:cs typeface="Calibri"/>
              </a:rPr>
              <a:t>&lt;head&gt;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&lt;title&gt;Order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Dashboard&lt;/title&gt;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&lt;link </a:t>
            </a:r>
            <a:r>
              <a:rPr dirty="0" sz="1200" spc="-10">
                <a:latin typeface="Calibri"/>
                <a:cs typeface="Calibri"/>
              </a:rPr>
              <a:t>rel="stylesheet"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href="style.css"&gt;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&lt;/head&gt;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&lt;body&gt;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&lt;!--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NAVBAR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-</a:t>
            </a:r>
            <a:r>
              <a:rPr dirty="0" sz="1200">
                <a:latin typeface="Calibri"/>
                <a:cs typeface="Calibri"/>
              </a:rPr>
              <a:t>-</a:t>
            </a:r>
            <a:r>
              <a:rPr dirty="0" sz="1200" spc="-50">
                <a:latin typeface="Calibri"/>
                <a:cs typeface="Calibri"/>
              </a:rPr>
              <a:t>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>
                <a:latin typeface="Calibri"/>
                <a:cs typeface="Calibri"/>
              </a:rPr>
              <a:t>&lt;div </a:t>
            </a:r>
            <a:r>
              <a:rPr dirty="0" sz="1200" spc="-10">
                <a:latin typeface="Calibri"/>
                <a:cs typeface="Calibri"/>
              </a:rPr>
              <a:t>class="navbar"&gt;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&lt;h2&gt;Order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Management&lt;/h2&gt;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&lt;a</a:t>
            </a:r>
            <a:r>
              <a:rPr dirty="0" sz="1200" spc="-10">
                <a:latin typeface="Calibri"/>
                <a:cs typeface="Calibri"/>
              </a:rPr>
              <a:t> href="index.html"&gt;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&lt;button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class="logout-btn"&gt;Logout&lt;/button&gt;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20">
                <a:latin typeface="Calibri"/>
                <a:cs typeface="Calibri"/>
              </a:rPr>
              <a:t>&lt;/a&gt;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&lt;/div&gt;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3688079" cy="81527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&lt;h1&gt;Order</a:t>
            </a:r>
            <a:r>
              <a:rPr dirty="0" sz="1200" spc="-10">
                <a:latin typeface="Calibri"/>
                <a:cs typeface="Calibri"/>
              </a:rPr>
              <a:t> Management Dashboard&lt;/h1&gt;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&lt;!--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CARDS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SECTION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--</a:t>
            </a:r>
            <a:r>
              <a:rPr dirty="0" sz="1200" spc="-50">
                <a:latin typeface="Calibri"/>
                <a:cs typeface="Calibri"/>
              </a:rPr>
              <a:t>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&lt;div </a:t>
            </a:r>
            <a:r>
              <a:rPr dirty="0" sz="1200" spc="-10">
                <a:latin typeface="Calibri"/>
                <a:cs typeface="Calibri"/>
              </a:rPr>
              <a:t>class="grid"&gt;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&lt;!--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Add </a:t>
            </a:r>
            <a:r>
              <a:rPr dirty="0" sz="1200" spc="-10">
                <a:latin typeface="Calibri"/>
                <a:cs typeface="Calibri"/>
              </a:rPr>
              <a:t>Customer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-</a:t>
            </a:r>
            <a:r>
              <a:rPr dirty="0" sz="1200">
                <a:latin typeface="Calibri"/>
                <a:cs typeface="Calibri"/>
              </a:rPr>
              <a:t>-</a:t>
            </a:r>
            <a:r>
              <a:rPr dirty="0" sz="1200" spc="-50">
                <a:latin typeface="Calibri"/>
                <a:cs typeface="Calibri"/>
              </a:rPr>
              <a:t>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&lt;div </a:t>
            </a:r>
            <a:r>
              <a:rPr dirty="0" sz="1200" spc="-10">
                <a:latin typeface="Calibri"/>
                <a:cs typeface="Calibri"/>
              </a:rPr>
              <a:t>class="card"&gt;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>
                <a:latin typeface="Calibri"/>
                <a:cs typeface="Calibri"/>
              </a:rPr>
              <a:t>&lt;h3&gt;Add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Customer&lt;/h3&gt;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&lt;input id="cname"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placeholder="Customer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Name"&gt;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>
                <a:latin typeface="Calibri"/>
                <a:cs typeface="Calibri"/>
              </a:rPr>
              <a:t>&lt;input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id="cemail"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placeholder="Email"&gt;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&lt;button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onclick="addCustomer()"&gt;Add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Customer&lt;/button&gt;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&lt;/div&gt;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&lt;!--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-</a:t>
            </a:r>
            <a:r>
              <a:rPr dirty="0" sz="1200">
                <a:latin typeface="Calibri"/>
                <a:cs typeface="Calibri"/>
              </a:rPr>
              <a:t>-</a:t>
            </a:r>
            <a:r>
              <a:rPr dirty="0" sz="1200" spc="-50">
                <a:latin typeface="Calibri"/>
                <a:cs typeface="Calibri"/>
              </a:rPr>
              <a:t>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>
                <a:latin typeface="Calibri"/>
                <a:cs typeface="Calibri"/>
              </a:rPr>
              <a:t>&lt;div </a:t>
            </a:r>
            <a:r>
              <a:rPr dirty="0" sz="1200" spc="-10">
                <a:latin typeface="Calibri"/>
                <a:cs typeface="Calibri"/>
              </a:rPr>
              <a:t>class="card"&gt;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&lt;h3&gt;Add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Product&lt;/h3&gt;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&lt;input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id="pname"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placeholder="Product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Name"&gt;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&lt;input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id="pprice"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placeholder="Price"&gt;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10">
                <a:latin typeface="Calibri"/>
                <a:cs typeface="Calibri"/>
              </a:rPr>
              <a:t>&lt;button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onclick="addProduct()"&gt;Add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Product&lt;/button&gt;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&lt;/div&gt;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&lt;!--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Place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Order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-</a:t>
            </a:r>
            <a:r>
              <a:rPr dirty="0" sz="1200">
                <a:latin typeface="Calibri"/>
                <a:cs typeface="Calibri"/>
              </a:rPr>
              <a:t>-</a:t>
            </a:r>
            <a:r>
              <a:rPr dirty="0" sz="1200" spc="-50">
                <a:latin typeface="Calibri"/>
                <a:cs typeface="Calibri"/>
              </a:rPr>
              <a:t>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&lt;div </a:t>
            </a:r>
            <a:r>
              <a:rPr dirty="0" sz="1200" spc="-10">
                <a:latin typeface="Calibri"/>
                <a:cs typeface="Calibri"/>
              </a:rPr>
              <a:t>class="card"&gt;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&lt;h3&gt;Place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Order&lt;/h3&gt;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&lt;select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id="customerSelect"&gt;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>
                <a:latin typeface="Calibri"/>
                <a:cs typeface="Calibri"/>
              </a:rPr>
              <a:t>&lt;option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value=""&gt;Select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Customer&lt;/option&gt;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&lt;/select&gt;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&lt;select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id="productSelect"&gt;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&lt;option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value=""&gt;Select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Product&lt;/option&gt;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&lt;/select&gt;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4309110" cy="8146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&lt;input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id="qty"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placeholder="Quantity"&gt;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&lt;button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onclick="placeOrder()"&gt;Place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Order&lt;/button&gt;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&lt;/div&gt;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&lt;/div&gt;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&lt;!--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ACTION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BUTTONS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-</a:t>
            </a:r>
            <a:r>
              <a:rPr dirty="0" sz="1200" spc="-10">
                <a:latin typeface="Calibri"/>
                <a:cs typeface="Calibri"/>
              </a:rPr>
              <a:t>-</a:t>
            </a:r>
            <a:r>
              <a:rPr dirty="0" sz="1200" spc="-50">
                <a:latin typeface="Calibri"/>
                <a:cs typeface="Calibri"/>
              </a:rPr>
              <a:t>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>
                <a:latin typeface="Calibri"/>
                <a:cs typeface="Calibri"/>
              </a:rPr>
              <a:t>&lt;div </a:t>
            </a:r>
            <a:r>
              <a:rPr dirty="0" sz="1200" spc="-10">
                <a:latin typeface="Calibri"/>
                <a:cs typeface="Calibri"/>
              </a:rPr>
              <a:t>class="actions"&gt;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&lt;button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onclick="loadOrders()"&gt;Order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History&lt;/button&gt;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10">
                <a:latin typeface="Calibri"/>
                <a:cs typeface="Calibri"/>
              </a:rPr>
              <a:t>&lt;button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onclick="highestOrder()"&gt;Highest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Order&lt;/button&gt;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&lt;button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onclick="activeCustomer()"&gt;Most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Active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Customer&lt;/button&gt;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&lt;/div&gt;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&lt;!--</a:t>
            </a:r>
            <a:r>
              <a:rPr dirty="0" sz="1200" spc="-20">
                <a:latin typeface="Calibri"/>
                <a:cs typeface="Calibri"/>
              </a:rPr>
              <a:t> RESULT </a:t>
            </a:r>
            <a:r>
              <a:rPr dirty="0" sz="1200">
                <a:latin typeface="Calibri"/>
                <a:cs typeface="Calibri"/>
              </a:rPr>
              <a:t>AREA</a:t>
            </a:r>
            <a:r>
              <a:rPr dirty="0" sz="1200" spc="-10">
                <a:latin typeface="Calibri"/>
                <a:cs typeface="Calibri"/>
              </a:rPr>
              <a:t> -</a:t>
            </a:r>
            <a:r>
              <a:rPr dirty="0" sz="1200">
                <a:latin typeface="Calibri"/>
                <a:cs typeface="Calibri"/>
              </a:rPr>
              <a:t>-</a:t>
            </a:r>
            <a:r>
              <a:rPr dirty="0" sz="1200" spc="-50">
                <a:latin typeface="Calibri"/>
                <a:cs typeface="Calibri"/>
              </a:rPr>
              <a:t>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>
                <a:latin typeface="Calibri"/>
                <a:cs typeface="Calibri"/>
              </a:rPr>
              <a:t>&lt;div </a:t>
            </a:r>
            <a:r>
              <a:rPr dirty="0" sz="1200" spc="-10">
                <a:latin typeface="Calibri"/>
                <a:cs typeface="Calibri"/>
              </a:rPr>
              <a:t>id="result"&gt;&lt;/div&gt;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&lt;script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src="script.js"&gt;&lt;/script&gt;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&lt;/body&gt;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&lt;/html&gt;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 b="1">
                <a:latin typeface="Calibri"/>
                <a:cs typeface="Calibri"/>
              </a:rPr>
              <a:t>STYLE.CSS:</a:t>
            </a:r>
            <a:endParaRPr sz="1200">
              <a:latin typeface="Calibri"/>
              <a:cs typeface="Calibri"/>
            </a:endParaRPr>
          </a:p>
          <a:p>
            <a:pPr marL="18415" marR="687705" indent="-6350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*{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margin:0;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padding:0;</a:t>
            </a:r>
            <a:r>
              <a:rPr dirty="0" sz="1200" spc="-25">
                <a:latin typeface="Calibri"/>
                <a:cs typeface="Calibri"/>
              </a:rPr>
              <a:t> box-</a:t>
            </a:r>
            <a:r>
              <a:rPr dirty="0" sz="1200" spc="-10">
                <a:latin typeface="Calibri"/>
                <a:cs typeface="Calibri"/>
              </a:rPr>
              <a:t>sizing:border-</a:t>
            </a:r>
            <a:r>
              <a:rPr dirty="0" sz="1200">
                <a:latin typeface="Calibri"/>
                <a:cs typeface="Calibri"/>
              </a:rPr>
              <a:t>box;</a:t>
            </a:r>
            <a:r>
              <a:rPr dirty="0" sz="1200" spc="-25">
                <a:latin typeface="Calibri"/>
                <a:cs typeface="Calibri"/>
              </a:rPr>
              <a:t> font-</a:t>
            </a:r>
            <a:r>
              <a:rPr dirty="0" sz="1200" spc="-10">
                <a:latin typeface="Calibri"/>
                <a:cs typeface="Calibri"/>
              </a:rPr>
              <a:t>family: </a:t>
            </a:r>
            <a:r>
              <a:rPr dirty="0" sz="1200">
                <a:latin typeface="Calibri"/>
                <a:cs typeface="Calibri"/>
              </a:rPr>
              <a:t>'Segoe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UI',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Tahoma,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Geneva,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Verdana,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sans-serif;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latin typeface="Calibri"/>
                <a:cs typeface="Calibri"/>
              </a:rPr>
              <a:t>body{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background: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linear-</a:t>
            </a:r>
            <a:endParaRPr sz="1200">
              <a:latin typeface="Calibri"/>
              <a:cs typeface="Calibri"/>
            </a:endParaRPr>
          </a:p>
          <a:p>
            <a:pPr marL="18415" marR="1000125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gradient(135deg,#5f6caf,#9a6bff);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min-</a:t>
            </a:r>
            <a:r>
              <a:rPr dirty="0" sz="1200" spc="-10">
                <a:latin typeface="Calibri"/>
                <a:cs typeface="Calibri"/>
              </a:rPr>
              <a:t>height:100vh; display:flex;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flex-</a:t>
            </a:r>
            <a:r>
              <a:rPr dirty="0" sz="1200" spc="-10">
                <a:latin typeface="Calibri"/>
                <a:cs typeface="Calibri"/>
              </a:rPr>
              <a:t>direction:column;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align-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items:center;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1211326"/>
            <a:ext cx="2484120" cy="78206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/*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LOGIN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30">
                <a:latin typeface="Calibri"/>
                <a:cs typeface="Calibri"/>
              </a:rPr>
              <a:t>PAGE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*/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.login{</a:t>
            </a:r>
            <a:r>
              <a:rPr dirty="0" sz="1200" spc="-10">
                <a:latin typeface="Calibri"/>
                <a:cs typeface="Calibri"/>
              </a:rPr>
              <a:t> width:350px;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padding:40px;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margin-top:120px;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background:white;</a:t>
            </a:r>
            <a:endParaRPr sz="1200">
              <a:latin typeface="Calibri"/>
              <a:cs typeface="Calibri"/>
            </a:endParaRPr>
          </a:p>
          <a:p>
            <a:pPr marL="18415" marR="5080">
              <a:lnSpc>
                <a:spcPct val="173300"/>
              </a:lnSpc>
              <a:spcBef>
                <a:spcPts val="15"/>
              </a:spcBef>
            </a:pPr>
            <a:r>
              <a:rPr dirty="0" sz="1200" spc="-10">
                <a:latin typeface="Calibri"/>
                <a:cs typeface="Calibri"/>
              </a:rPr>
              <a:t>border-radius:15px;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box-</a:t>
            </a:r>
            <a:r>
              <a:rPr dirty="0" sz="1200">
                <a:latin typeface="Calibri"/>
                <a:cs typeface="Calibri"/>
              </a:rPr>
              <a:t>shadow:0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10px </a:t>
            </a:r>
            <a:r>
              <a:rPr dirty="0" sz="1200">
                <a:latin typeface="Calibri"/>
                <a:cs typeface="Calibri"/>
              </a:rPr>
              <a:t>25px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rgba(0,0,0,0.2);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text-</a:t>
            </a:r>
            <a:r>
              <a:rPr dirty="0" sz="1200" spc="-10">
                <a:latin typeface="Calibri"/>
                <a:cs typeface="Calibri"/>
              </a:rPr>
              <a:t>align:center;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1200">
              <a:latin typeface="Calibri"/>
              <a:cs typeface="Calibri"/>
            </a:endParaRPr>
          </a:p>
          <a:p>
            <a:pPr marL="18415" marR="531495" indent="-6350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.login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h2{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margin-bottom:20px; color:#333;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40"/>
              </a:spcBef>
            </a:pPr>
            <a:endParaRPr sz="1200">
              <a:latin typeface="Calibri"/>
              <a:cs typeface="Calibri"/>
            </a:endParaRPr>
          </a:p>
          <a:p>
            <a:pPr marL="18415" marR="902969" indent="-6350">
              <a:lnSpc>
                <a:spcPct val="173500"/>
              </a:lnSpc>
            </a:pPr>
            <a:r>
              <a:rPr dirty="0" sz="1200">
                <a:latin typeface="Calibri"/>
                <a:cs typeface="Calibri"/>
              </a:rPr>
              <a:t>.login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input{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width:100%; padding:12px;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60"/>
              </a:spcBef>
            </a:pPr>
            <a:r>
              <a:rPr dirty="0" sz="1200" spc="-10">
                <a:latin typeface="Calibri"/>
                <a:cs typeface="Calibri"/>
              </a:rPr>
              <a:t>margin:10px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0;</a:t>
            </a:r>
            <a:endParaRPr sz="1200">
              <a:latin typeface="Calibri"/>
              <a:cs typeface="Calibri"/>
            </a:endParaRPr>
          </a:p>
          <a:p>
            <a:pPr marL="18415" marR="1106170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border:1px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solid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#ccc; </a:t>
            </a:r>
            <a:r>
              <a:rPr dirty="0" sz="1200" spc="-10">
                <a:latin typeface="Calibri"/>
                <a:cs typeface="Calibri"/>
              </a:rPr>
              <a:t>border-radius:8px; outline:none;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35"/>
              </a:spcBef>
            </a:pPr>
            <a:endParaRPr sz="1200">
              <a:latin typeface="Calibri"/>
              <a:cs typeface="Calibri"/>
            </a:endParaRPr>
          </a:p>
          <a:p>
            <a:pPr marL="18415" marR="814705" indent="-6350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.login</a:t>
            </a:r>
            <a:r>
              <a:rPr dirty="0" sz="1200" spc="-10">
                <a:latin typeface="Calibri"/>
                <a:cs typeface="Calibri"/>
              </a:rPr>
              <a:t> button{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width:100%; padding:12px;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border:none;</a:t>
            </a:r>
            <a:endParaRPr sz="1200">
              <a:latin typeface="Calibri"/>
              <a:cs typeface="Calibri"/>
            </a:endParaRPr>
          </a:p>
          <a:p>
            <a:pPr marL="18415" marR="1186815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background:#5f6caf; color:white;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font-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2569845" cy="81419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weight:bold;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border-</a:t>
            </a:r>
            <a:endParaRPr sz="1200">
              <a:latin typeface="Calibri"/>
              <a:cs typeface="Calibri"/>
            </a:endParaRPr>
          </a:p>
          <a:p>
            <a:pPr marL="18415" marR="907415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radius:8px;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cursor:pointer; transition:0.3s;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.login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button:hover{ background:#7c4dff;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/*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DASHBOARD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TITLE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*/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50"/>
              </a:spcBef>
            </a:pPr>
            <a:endParaRPr sz="1200">
              <a:latin typeface="Calibri"/>
              <a:cs typeface="Calibri"/>
            </a:endParaRPr>
          </a:p>
          <a:p>
            <a:pPr algn="just" marL="18415" marR="1225550" indent="-6350">
              <a:lnSpc>
                <a:spcPct val="173700"/>
              </a:lnSpc>
            </a:pPr>
            <a:r>
              <a:rPr dirty="0" sz="1200">
                <a:latin typeface="Calibri"/>
                <a:cs typeface="Calibri"/>
              </a:rPr>
              <a:t>h1{ </a:t>
            </a:r>
            <a:r>
              <a:rPr dirty="0" sz="1200" spc="-10">
                <a:latin typeface="Calibri"/>
                <a:cs typeface="Calibri"/>
              </a:rPr>
              <a:t>margin-top:30px; margin-bottom:25px; color:white;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/*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CARD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GRID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*/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1200">
              <a:latin typeface="Calibri"/>
              <a:cs typeface="Calibri"/>
            </a:endParaRPr>
          </a:p>
          <a:p>
            <a:pPr marL="18415" marR="1381760" indent="-6350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.grid{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display:flex; gap:25px;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flex- </a:t>
            </a:r>
            <a:r>
              <a:rPr dirty="0" sz="1200" spc="-10">
                <a:latin typeface="Calibri"/>
                <a:cs typeface="Calibri"/>
              </a:rPr>
              <a:t>wrap:wrap;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justify- content:center;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60"/>
              </a:spcBef>
            </a:pPr>
            <a:r>
              <a:rPr dirty="0" sz="1200" spc="-10">
                <a:latin typeface="Calibri"/>
                <a:cs typeface="Calibri"/>
              </a:rPr>
              <a:t>margin-bottom:20px;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/*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CARDS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*/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latin typeface="Calibri"/>
                <a:cs typeface="Calibri"/>
              </a:rPr>
              <a:t>.card{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4472305" cy="6238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width:260px;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padding:22px;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border-</a:t>
            </a:r>
            <a:endParaRPr sz="1200">
              <a:latin typeface="Calibri"/>
              <a:cs typeface="Calibri"/>
            </a:endParaRPr>
          </a:p>
          <a:p>
            <a:pPr marL="18415" marR="2202180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radius:15px;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30">
                <a:latin typeface="Calibri"/>
                <a:cs typeface="Calibri"/>
              </a:rPr>
              <a:t>box-</a:t>
            </a:r>
            <a:r>
              <a:rPr dirty="0" sz="1200">
                <a:latin typeface="Calibri"/>
                <a:cs typeface="Calibri"/>
              </a:rPr>
              <a:t>shadow:0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8px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20px </a:t>
            </a:r>
            <a:r>
              <a:rPr dirty="0" sz="1200" spc="-10">
                <a:latin typeface="Calibri"/>
                <a:cs typeface="Calibri"/>
              </a:rPr>
              <a:t>rgba(0,0,0,0.2);</a:t>
            </a:r>
            <a:r>
              <a:rPr dirty="0" sz="1200" spc="10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text-</a:t>
            </a:r>
            <a:r>
              <a:rPr dirty="0" sz="1200" spc="-10">
                <a:latin typeface="Calibri"/>
                <a:cs typeface="Calibri"/>
              </a:rPr>
              <a:t>align:center; transition:0.3s;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color:white;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/*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Different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card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colors</a:t>
            </a:r>
            <a:r>
              <a:rPr dirty="0" sz="1200" spc="-25">
                <a:latin typeface="Calibri"/>
                <a:cs typeface="Calibri"/>
              </a:rPr>
              <a:t> */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latin typeface="Calibri"/>
                <a:cs typeface="Calibri"/>
              </a:rPr>
              <a:t>.card:nth-</a:t>
            </a:r>
            <a:r>
              <a:rPr dirty="0" sz="1200">
                <a:latin typeface="Calibri"/>
                <a:cs typeface="Calibri"/>
              </a:rPr>
              <a:t>child(1){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background:linear-gradient(135deg,#ff7a18,#ffb347);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latin typeface="Calibri"/>
                <a:cs typeface="Calibri"/>
              </a:rPr>
              <a:t>.card:nth-</a:t>
            </a:r>
            <a:r>
              <a:rPr dirty="0" sz="1200">
                <a:latin typeface="Calibri"/>
                <a:cs typeface="Calibri"/>
              </a:rPr>
              <a:t>child(2){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background:linear-gradient(135deg,#00c6ff,#0072ff);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latin typeface="Calibri"/>
                <a:cs typeface="Calibri"/>
              </a:rPr>
              <a:t>.card:nth-</a:t>
            </a:r>
            <a:r>
              <a:rPr dirty="0" sz="1200">
                <a:latin typeface="Calibri"/>
                <a:cs typeface="Calibri"/>
              </a:rPr>
              <a:t>child(3){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background:linear-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gradient(135deg,#43e97b,#38f9d7);</a:t>
            </a:r>
            <a:r>
              <a:rPr dirty="0" sz="1200" spc="1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color:#222;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latin typeface="Calibri"/>
                <a:cs typeface="Calibri"/>
              </a:rPr>
              <a:t>.card:hover{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transform:translateY(-</a:t>
            </a:r>
            <a:r>
              <a:rPr dirty="0" sz="1200" spc="-20">
                <a:latin typeface="Calibri"/>
                <a:cs typeface="Calibri"/>
              </a:rPr>
              <a:t>6px);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92860" y="7668006"/>
            <a:ext cx="1922145" cy="1159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.card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h3{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margin-bottom:10px;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/*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INPUTS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*/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2519045" cy="8247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.card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input{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width:90%;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padding:10px;</a:t>
            </a:r>
            <a:endParaRPr sz="1200">
              <a:latin typeface="Calibri"/>
              <a:cs typeface="Calibri"/>
            </a:endParaRPr>
          </a:p>
          <a:p>
            <a:pPr marL="18415" marR="1259840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margin:6px;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border- radius:6px;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border:none;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/*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CARD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BUTTON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*/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1200">
              <a:latin typeface="Calibri"/>
              <a:cs typeface="Calibri"/>
            </a:endParaRPr>
          </a:p>
          <a:p>
            <a:pPr marL="18415" marR="822960" indent="-6350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.card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button{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padding:10px </a:t>
            </a:r>
            <a:r>
              <a:rPr dirty="0" sz="1200">
                <a:latin typeface="Calibri"/>
                <a:cs typeface="Calibri"/>
              </a:rPr>
              <a:t>15px;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border:none;</a:t>
            </a:r>
            <a:endParaRPr sz="1200">
              <a:latin typeface="Calibri"/>
              <a:cs typeface="Calibri"/>
            </a:endParaRPr>
          </a:p>
          <a:p>
            <a:pPr marL="18415" marR="1293495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background:white; color:#333;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border-</a:t>
            </a:r>
            <a:endParaRPr sz="1200">
              <a:latin typeface="Calibri"/>
              <a:cs typeface="Calibri"/>
            </a:endParaRPr>
          </a:p>
          <a:p>
            <a:pPr marL="18415" marR="856615">
              <a:lnSpc>
                <a:spcPct val="173400"/>
              </a:lnSpc>
            </a:pPr>
            <a:r>
              <a:rPr dirty="0" sz="1200" spc="-10">
                <a:latin typeface="Calibri"/>
                <a:cs typeface="Calibri"/>
              </a:rPr>
              <a:t>radius:6px;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cursor:pointer; </a:t>
            </a:r>
            <a:r>
              <a:rPr dirty="0" sz="1200" spc="-25">
                <a:latin typeface="Calibri"/>
                <a:cs typeface="Calibri"/>
              </a:rPr>
              <a:t>font-</a:t>
            </a:r>
            <a:r>
              <a:rPr dirty="0" sz="1200" spc="-10">
                <a:latin typeface="Calibri"/>
                <a:cs typeface="Calibri"/>
              </a:rPr>
              <a:t>weight:bold; transition:0.3s;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latin typeface="Calibri"/>
                <a:cs typeface="Calibri"/>
              </a:rPr>
              <a:t>.card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button:hover{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background:#f1f1f1;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/*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ACTION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BUTTONS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*/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1200">
              <a:latin typeface="Calibri"/>
              <a:cs typeface="Calibri"/>
            </a:endParaRPr>
          </a:p>
          <a:p>
            <a:pPr marL="18415" marR="1188720" indent="-6350">
              <a:lnSpc>
                <a:spcPct val="173300"/>
              </a:lnSpc>
              <a:spcBef>
                <a:spcPts val="5"/>
              </a:spcBef>
            </a:pPr>
            <a:r>
              <a:rPr dirty="0" sz="1200">
                <a:latin typeface="Calibri"/>
                <a:cs typeface="Calibri"/>
              </a:rPr>
              <a:t>button{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margin:10px; padding:12px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18px; </a:t>
            </a:r>
            <a:r>
              <a:rPr dirty="0" sz="1200" spc="-10">
                <a:latin typeface="Calibri"/>
                <a:cs typeface="Calibri"/>
              </a:rPr>
              <a:t>border:none;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2468245" cy="75031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border-radius:6px;</a:t>
            </a:r>
            <a:endParaRPr sz="1200">
              <a:latin typeface="Calibri"/>
              <a:cs typeface="Calibri"/>
            </a:endParaRPr>
          </a:p>
          <a:p>
            <a:pPr marL="18415" marR="1291590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background:#ffffff; color:#333;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font- </a:t>
            </a:r>
            <a:r>
              <a:rPr dirty="0" sz="1200" spc="-10">
                <a:latin typeface="Calibri"/>
                <a:cs typeface="Calibri"/>
              </a:rPr>
              <a:t>weight:bold;</a:t>
            </a:r>
            <a:endParaRPr sz="1200">
              <a:latin typeface="Calibri"/>
              <a:cs typeface="Calibri"/>
            </a:endParaRPr>
          </a:p>
          <a:p>
            <a:pPr marL="18415" marR="1512570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cursor:pointer; transition:0.3s;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10">
                <a:latin typeface="Calibri"/>
                <a:cs typeface="Calibri"/>
              </a:rPr>
              <a:t>button:hover{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background:#eaeaea;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/*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TABLE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*/</a:t>
            </a:r>
            <a:endParaRPr sz="1200">
              <a:latin typeface="Calibri"/>
              <a:cs typeface="Calibri"/>
            </a:endParaRPr>
          </a:p>
          <a:p>
            <a:pPr marL="18415" marR="5080" indent="-6350">
              <a:lnSpc>
                <a:spcPct val="173300"/>
              </a:lnSpc>
              <a:spcBef>
                <a:spcPts val="15"/>
              </a:spcBef>
            </a:pPr>
            <a:r>
              <a:rPr dirty="0" sz="1200">
                <a:latin typeface="Calibri"/>
                <a:cs typeface="Calibri"/>
              </a:rPr>
              <a:t>table{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width:85%;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margin:auto;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margin- top:30px;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border-collapse:collapse;</a:t>
            </a:r>
            <a:endParaRPr sz="1200">
              <a:latin typeface="Calibri"/>
              <a:cs typeface="Calibri"/>
            </a:endParaRPr>
          </a:p>
          <a:p>
            <a:pPr marL="18415" marR="24765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background:white;</a:t>
            </a:r>
            <a:r>
              <a:rPr dirty="0" sz="1200" spc="7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border-radius:12px; overflow:hidden;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box-</a:t>
            </a:r>
            <a:r>
              <a:rPr dirty="0" sz="1200">
                <a:latin typeface="Calibri"/>
                <a:cs typeface="Calibri"/>
              </a:rPr>
              <a:t>shadow:0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5px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15px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rgba(0,0,0,0.2);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25"/>
              </a:spcBef>
            </a:pPr>
            <a:endParaRPr sz="1200">
              <a:latin typeface="Calibri"/>
              <a:cs typeface="Calibri"/>
            </a:endParaRPr>
          </a:p>
          <a:p>
            <a:pPr marL="18415" marR="964565" indent="-6350">
              <a:lnSpc>
                <a:spcPct val="173500"/>
              </a:lnSpc>
            </a:pPr>
            <a:r>
              <a:rPr dirty="0" sz="1200">
                <a:latin typeface="Calibri"/>
                <a:cs typeface="Calibri"/>
              </a:rPr>
              <a:t>th{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background:#5f6caf; color:white;</a:t>
            </a:r>
            <a:endParaRPr sz="1200">
              <a:latin typeface="Calibri"/>
              <a:cs typeface="Calibri"/>
            </a:endParaRPr>
          </a:p>
          <a:p>
            <a:pPr marL="18415" marR="1231900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padding:14px;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font- </a:t>
            </a:r>
            <a:r>
              <a:rPr dirty="0" sz="1200" spc="-10">
                <a:latin typeface="Calibri"/>
                <a:cs typeface="Calibri"/>
              </a:rPr>
              <a:t>size:18px;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2452370" cy="81451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td{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padding:12px;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text-</a:t>
            </a:r>
            <a:endParaRPr sz="1200">
              <a:latin typeface="Calibri"/>
              <a:cs typeface="Calibri"/>
            </a:endParaRPr>
          </a:p>
          <a:p>
            <a:pPr marL="18415" marR="991235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align:center;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border- bottom:1px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solid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#ddd;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color:#222;</a:t>
            </a:r>
            <a:r>
              <a:rPr dirty="0" sz="1200" spc="8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font-</a:t>
            </a:r>
            <a:r>
              <a:rPr dirty="0" sz="1200" spc="-10">
                <a:latin typeface="Calibri"/>
                <a:cs typeface="Calibri"/>
              </a:rPr>
              <a:t>weight:500;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tr:nth-child(even){</a:t>
            </a:r>
            <a:r>
              <a:rPr dirty="0" sz="1200" spc="9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background:#f7f7f7;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tr:hover{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background:#eef1ff;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/*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RESULT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TEXT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*/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15"/>
              </a:spcBef>
            </a:pPr>
            <a:endParaRPr sz="1200">
              <a:latin typeface="Calibri"/>
              <a:cs typeface="Calibri"/>
            </a:endParaRPr>
          </a:p>
          <a:p>
            <a:pPr marL="18415" marR="851535" indent="-6350">
              <a:lnSpc>
                <a:spcPct val="174300"/>
              </a:lnSpc>
              <a:spcBef>
                <a:spcPts val="5"/>
              </a:spcBef>
            </a:pPr>
            <a:r>
              <a:rPr dirty="0" sz="1200">
                <a:latin typeface="Calibri"/>
                <a:cs typeface="Calibri"/>
              </a:rPr>
              <a:t>#result{</a:t>
            </a:r>
            <a:r>
              <a:rPr dirty="0" sz="1200" spc="-10">
                <a:latin typeface="Calibri"/>
                <a:cs typeface="Calibri"/>
              </a:rPr>
              <a:t> margin-top:20px; color:white;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font-</a:t>
            </a:r>
            <a:endParaRPr sz="1200">
              <a:latin typeface="Calibri"/>
              <a:cs typeface="Calibri"/>
            </a:endParaRPr>
          </a:p>
          <a:p>
            <a:pPr marL="18415" marR="1502410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size:18px;</a:t>
            </a:r>
            <a:r>
              <a:rPr dirty="0" sz="1200" spc="-20">
                <a:latin typeface="Calibri"/>
                <a:cs typeface="Calibri"/>
              </a:rPr>
              <a:t> text- </a:t>
            </a:r>
            <a:r>
              <a:rPr dirty="0" sz="1200" spc="-10">
                <a:latin typeface="Calibri"/>
                <a:cs typeface="Calibri"/>
              </a:rPr>
              <a:t>align:center;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/*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NAVBAR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*/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10">
                <a:latin typeface="Calibri"/>
                <a:cs typeface="Calibri"/>
              </a:rPr>
              <a:t>.navbar{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200">
              <a:latin typeface="Calibri"/>
              <a:cs typeface="Calibri"/>
            </a:endParaRPr>
          </a:p>
          <a:p>
            <a:pPr marL="12700" marR="1246505">
              <a:lnSpc>
                <a:spcPct val="175000"/>
              </a:lnSpc>
            </a:pPr>
            <a:r>
              <a:rPr dirty="0" sz="1200" spc="-10">
                <a:latin typeface="Calibri"/>
                <a:cs typeface="Calibri"/>
              </a:rPr>
              <a:t>width:100%; display:flex;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justify-</a:t>
            </a:r>
            <a:endParaRPr sz="1200">
              <a:latin typeface="Calibri"/>
              <a:cs typeface="Calibri"/>
            </a:endParaRPr>
          </a:p>
          <a:p>
            <a:pPr marL="18415" marR="544830">
              <a:lnSpc>
                <a:spcPts val="2510"/>
              </a:lnSpc>
              <a:spcBef>
                <a:spcPts val="85"/>
              </a:spcBef>
            </a:pPr>
            <a:r>
              <a:rPr dirty="0" sz="1200" spc="-10">
                <a:latin typeface="Calibri"/>
                <a:cs typeface="Calibri"/>
              </a:rPr>
              <a:t>content:space-between;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align- items:center;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padding:15px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5857"/>
            <a:ext cx="1929130" cy="8027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40px;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background:#2c2f5c;</a:t>
            </a:r>
            <a:endParaRPr sz="1200">
              <a:latin typeface="Calibri"/>
              <a:cs typeface="Calibri"/>
            </a:endParaRPr>
          </a:p>
          <a:p>
            <a:pPr marL="18415" marR="5080">
              <a:lnSpc>
                <a:spcPct val="173300"/>
              </a:lnSpc>
              <a:spcBef>
                <a:spcPts val="10"/>
              </a:spcBef>
            </a:pPr>
            <a:r>
              <a:rPr dirty="0" sz="1200" spc="-10">
                <a:latin typeface="Calibri"/>
                <a:cs typeface="Calibri"/>
              </a:rPr>
              <a:t>color:white;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30">
                <a:latin typeface="Calibri"/>
                <a:cs typeface="Calibri"/>
              </a:rPr>
              <a:t>box-</a:t>
            </a:r>
            <a:r>
              <a:rPr dirty="0" sz="1200" spc="-10">
                <a:latin typeface="Calibri"/>
                <a:cs typeface="Calibri"/>
              </a:rPr>
              <a:t>shadow:0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4px </a:t>
            </a:r>
            <a:r>
              <a:rPr dirty="0" sz="1200">
                <a:latin typeface="Calibri"/>
                <a:cs typeface="Calibri"/>
              </a:rPr>
              <a:t>10px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rgba(0,0,0,0.2);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.navbar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h2{</a:t>
            </a:r>
            <a:r>
              <a:rPr dirty="0" sz="1200" spc="-20">
                <a:latin typeface="Calibri"/>
                <a:cs typeface="Calibri"/>
              </a:rPr>
              <a:t> font-</a:t>
            </a:r>
            <a:r>
              <a:rPr dirty="0" sz="1200" spc="-10">
                <a:latin typeface="Calibri"/>
                <a:cs typeface="Calibri"/>
              </a:rPr>
              <a:t>weight:600;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latin typeface="Calibri"/>
                <a:cs typeface="Calibri"/>
              </a:rPr>
              <a:t>.logout-</a:t>
            </a:r>
            <a:r>
              <a:rPr dirty="0" sz="1200" spc="-20">
                <a:latin typeface="Calibri"/>
                <a:cs typeface="Calibri"/>
              </a:rPr>
              <a:t>btn{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40"/>
              </a:spcBef>
            </a:pPr>
            <a:endParaRPr sz="1200">
              <a:latin typeface="Calibri"/>
              <a:cs typeface="Calibri"/>
            </a:endParaRPr>
          </a:p>
          <a:p>
            <a:pPr marL="18415" marR="307975" indent="-6350">
              <a:lnSpc>
                <a:spcPct val="173300"/>
              </a:lnSpc>
              <a:spcBef>
                <a:spcPts val="5"/>
              </a:spcBef>
            </a:pPr>
            <a:r>
              <a:rPr dirty="0" sz="1200" spc="-10">
                <a:latin typeface="Calibri"/>
                <a:cs typeface="Calibri"/>
              </a:rPr>
              <a:t>background:#ff5252; color:white;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border:none; padding:10px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16px;</a:t>
            </a:r>
            <a:endParaRPr sz="1200">
              <a:latin typeface="Calibri"/>
              <a:cs typeface="Calibri"/>
            </a:endParaRPr>
          </a:p>
          <a:p>
            <a:pPr marL="18415" marR="648335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border-radius:6px; cursor:pointer;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font- </a:t>
            </a:r>
            <a:r>
              <a:rPr dirty="0" sz="1200" spc="-10">
                <a:latin typeface="Calibri"/>
                <a:cs typeface="Calibri"/>
              </a:rPr>
              <a:t>weight:bold;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 marR="622935">
              <a:lnSpc>
                <a:spcPts val="5020"/>
              </a:lnSpc>
              <a:spcBef>
                <a:spcPts val="740"/>
              </a:spcBef>
            </a:pPr>
            <a:r>
              <a:rPr dirty="0" sz="1200" spc="-10">
                <a:latin typeface="Calibri"/>
                <a:cs typeface="Calibri"/>
              </a:rPr>
              <a:t>.logout-btn:hover{ background:#ff1744;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.actions{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1211326"/>
            <a:ext cx="2703830" cy="7073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display:flex;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justify-</a:t>
            </a:r>
            <a:endParaRPr sz="1200">
              <a:latin typeface="Calibri"/>
              <a:cs typeface="Calibri"/>
            </a:endParaRPr>
          </a:p>
          <a:p>
            <a:pPr marL="18415" marR="1085215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content:center;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gap:20px; margin-top:30px;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flex- </a:t>
            </a:r>
            <a:r>
              <a:rPr dirty="0" sz="1200" spc="-10">
                <a:latin typeface="Calibri"/>
                <a:cs typeface="Calibri"/>
              </a:rPr>
              <a:t>wrap:wrap;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.actions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button{</a:t>
            </a:r>
            <a:endParaRPr sz="1200">
              <a:latin typeface="Calibri"/>
              <a:cs typeface="Calibri"/>
            </a:endParaRPr>
          </a:p>
          <a:p>
            <a:pPr marL="18415" marR="1134745">
              <a:lnSpc>
                <a:spcPct val="173300"/>
              </a:lnSpc>
              <a:spcBef>
                <a:spcPts val="5"/>
              </a:spcBef>
            </a:pPr>
            <a:r>
              <a:rPr dirty="0" sz="1200" spc="-10">
                <a:latin typeface="Calibri"/>
                <a:cs typeface="Calibri"/>
              </a:rPr>
              <a:t>padding:12px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20px;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font- </a:t>
            </a:r>
            <a:r>
              <a:rPr dirty="0" sz="1200" spc="-10">
                <a:latin typeface="Calibri"/>
                <a:cs typeface="Calibri"/>
              </a:rPr>
              <a:t>size:16px;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border:none; border-radius:8px;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background:#5f6caf;</a:t>
            </a:r>
            <a:endParaRPr sz="1200">
              <a:latin typeface="Calibri"/>
              <a:cs typeface="Calibri"/>
            </a:endParaRPr>
          </a:p>
          <a:p>
            <a:pPr marL="18415" marR="977265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color:white;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cursor:pointer; transition:0.3s;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.actions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button:hover{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background:#7c4dff;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transform:scale(1.05);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7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 b="1">
                <a:latin typeface="Calibri"/>
                <a:cs typeface="Calibri"/>
              </a:rPr>
              <a:t>SCRIPT.JS: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LOGIN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FUNCTION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login(){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4302125" cy="8253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username=document.getElementById("username").value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const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password=document.getElementById("password").value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latin typeface="Calibri"/>
                <a:cs typeface="Calibri"/>
              </a:rPr>
              <a:t>fetch("/login",{</a:t>
            </a:r>
            <a:endParaRPr sz="1200">
              <a:latin typeface="Calibri"/>
              <a:cs typeface="Calibri"/>
            </a:endParaRPr>
          </a:p>
          <a:p>
            <a:pPr marL="12700" marR="450850">
              <a:lnSpc>
                <a:spcPct val="346900"/>
              </a:lnSpc>
              <a:spcBef>
                <a:spcPts val="5"/>
              </a:spcBef>
            </a:pPr>
            <a:r>
              <a:rPr dirty="0" sz="1200" spc="-10">
                <a:latin typeface="Calibri"/>
                <a:cs typeface="Calibri"/>
              </a:rPr>
              <a:t>method:"POST",</a:t>
            </a:r>
            <a:r>
              <a:rPr dirty="0" sz="1200" spc="8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headers:{"Content-Type":"application/json"}, body:JSON.stringify({username,password})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latin typeface="Calibri"/>
                <a:cs typeface="Calibri"/>
              </a:rPr>
              <a:t>.then(res=&gt;res.json())</a:t>
            </a:r>
            <a:endParaRPr sz="1200">
              <a:latin typeface="Calibri"/>
              <a:cs typeface="Calibri"/>
            </a:endParaRPr>
          </a:p>
          <a:p>
            <a:pPr marL="12700" marR="3284220">
              <a:lnSpc>
                <a:spcPts val="5010"/>
              </a:lnSpc>
              <a:spcBef>
                <a:spcPts val="745"/>
              </a:spcBef>
            </a:pPr>
            <a:r>
              <a:rPr dirty="0" sz="1200" spc="-10">
                <a:latin typeface="Calibri"/>
                <a:cs typeface="Calibri"/>
              </a:rPr>
              <a:t>.then(data=&gt;{ if(data.success){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2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latin typeface="Calibri"/>
                <a:cs typeface="Calibri"/>
              </a:rPr>
              <a:t>window.location="admindashboard.html"</a:t>
            </a:r>
            <a:endParaRPr sz="1200">
              <a:latin typeface="Calibri"/>
              <a:cs typeface="Calibri"/>
            </a:endParaRPr>
          </a:p>
          <a:p>
            <a:pPr marL="18415" marR="3105150" indent="-6350">
              <a:lnSpc>
                <a:spcPct val="173300"/>
              </a:lnSpc>
              <a:spcBef>
                <a:spcPts val="10"/>
              </a:spcBef>
            </a:pPr>
            <a:r>
              <a:rPr dirty="0" sz="1200">
                <a:latin typeface="Calibri"/>
                <a:cs typeface="Calibri"/>
              </a:rPr>
              <a:t>}else{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alert("Invalid </a:t>
            </a:r>
            <a:r>
              <a:rPr dirty="0" sz="1200">
                <a:latin typeface="Calibri"/>
                <a:cs typeface="Calibri"/>
              </a:rPr>
              <a:t>login")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CUSTOMER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addCustomer(){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1212850"/>
            <a:ext cx="3856354" cy="78251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fetch("/add-customer",{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346700"/>
              </a:lnSpc>
            </a:pPr>
            <a:r>
              <a:rPr dirty="0" sz="1200" spc="-10">
                <a:latin typeface="Calibri"/>
                <a:cs typeface="Calibri"/>
              </a:rPr>
              <a:t>method:"POST",</a:t>
            </a:r>
            <a:r>
              <a:rPr dirty="0" sz="1200" spc="8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headers:{"Content-Type":"application/json"}, body:JSON.stringify({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200">
              <a:latin typeface="Calibri"/>
              <a:cs typeface="Calibri"/>
            </a:endParaRPr>
          </a:p>
          <a:p>
            <a:pPr marL="18415" marR="763270" indent="-6350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name:document.getElementById("cname").value, email:document.getElementById("cemail").value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latin typeface="Calibri"/>
                <a:cs typeface="Calibri"/>
              </a:rPr>
              <a:t>.then(res=&gt;res.text())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.then(alert)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PRODUCT</a:t>
            </a:r>
            <a:endParaRPr sz="1200">
              <a:latin typeface="Calibri"/>
              <a:cs typeface="Calibri"/>
            </a:endParaRPr>
          </a:p>
          <a:p>
            <a:pPr marL="12700" marR="2426970">
              <a:lnSpc>
                <a:spcPct val="346700"/>
              </a:lnSpc>
              <a:spcBef>
                <a:spcPts val="15"/>
              </a:spcBef>
            </a:pP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addProduct(){ fetch("/add-product",{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latin typeface="Calibri"/>
                <a:cs typeface="Calibri"/>
              </a:rPr>
              <a:t>method:"POST",</a:t>
            </a:r>
            <a:r>
              <a:rPr dirty="0" sz="1200" spc="8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headers:{"Content-Type":"application/json"},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1211326"/>
            <a:ext cx="3248660" cy="4015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body:JSON.stringify({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1200">
              <a:latin typeface="Calibri"/>
              <a:cs typeface="Calibri"/>
            </a:endParaRPr>
          </a:p>
          <a:p>
            <a:pPr marL="18415" marR="5080" indent="-6350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product:document.getElementById("pname").value, price:document.getElementById("pprice").value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latin typeface="Calibri"/>
                <a:cs typeface="Calibri"/>
              </a:rPr>
              <a:t>.then(res=&gt;res.text())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.then(alert)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92860" y="5869304"/>
            <a:ext cx="3477895" cy="2747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LOAD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CUSTOMERS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DROPDOWN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async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loadCustomers(){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40"/>
              </a:spcBef>
            </a:pPr>
            <a:endParaRPr sz="1200">
              <a:latin typeface="Calibri"/>
              <a:cs typeface="Calibri"/>
            </a:endParaRPr>
          </a:p>
          <a:p>
            <a:pPr marL="18415" marR="796925" indent="-6350">
              <a:lnSpc>
                <a:spcPct val="173300"/>
              </a:lnSpc>
              <a:spcBef>
                <a:spcPts val="5"/>
              </a:spcBef>
            </a:pP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await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fetch("/customers")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const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await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res.json()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ts val="5000"/>
              </a:lnSpc>
              <a:spcBef>
                <a:spcPts val="555"/>
              </a:spcBef>
            </a:pPr>
            <a:r>
              <a:rPr dirty="0" sz="1200">
                <a:latin typeface="Calibri"/>
                <a:cs typeface="Calibri"/>
              </a:rPr>
              <a:t>let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select=document.getElementById("customerSelect") </a:t>
            </a:r>
            <a:r>
              <a:rPr dirty="0" sz="1200">
                <a:latin typeface="Calibri"/>
                <a:cs typeface="Calibri"/>
              </a:rPr>
              <a:t>if(!select)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return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4104640" cy="2747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select.innerHTML='&lt;option</a:t>
            </a:r>
            <a:r>
              <a:rPr dirty="0" sz="1200" spc="7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value=""&gt;Select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Customer&lt;/option&gt;'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latin typeface="Calibri"/>
                <a:cs typeface="Calibri"/>
              </a:rPr>
              <a:t>data.forEach(c=&gt;{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latin typeface="Calibri"/>
                <a:cs typeface="Calibri"/>
              </a:rPr>
              <a:t>select.innerHTML+=`&lt;option</a:t>
            </a:r>
            <a:r>
              <a:rPr dirty="0" sz="1200" spc="9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value="${c.id}"&gt;${c.name}&lt;/option&gt;`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92860" y="4284090"/>
            <a:ext cx="3881754" cy="4336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LOAD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PRODUCTS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DROPDOWN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latin typeface="Calibri"/>
                <a:cs typeface="Calibri"/>
              </a:rPr>
              <a:t>async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loadProducts(){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19"/>
              </a:spcBef>
            </a:pPr>
            <a:endParaRPr sz="1200">
              <a:latin typeface="Calibri"/>
              <a:cs typeface="Calibri"/>
            </a:endParaRPr>
          </a:p>
          <a:p>
            <a:pPr marL="12700" marR="1658620">
              <a:lnSpc>
                <a:spcPct val="174200"/>
              </a:lnSpc>
            </a:pP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await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fetch("/products")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await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res.json()</a:t>
            </a:r>
            <a:endParaRPr sz="1200">
              <a:latin typeface="Calibri"/>
              <a:cs typeface="Calibri"/>
            </a:endParaRPr>
          </a:p>
          <a:p>
            <a:pPr marL="12700" marR="506095">
              <a:lnSpc>
                <a:spcPct val="346700"/>
              </a:lnSpc>
            </a:pPr>
            <a:r>
              <a:rPr dirty="0" sz="1200">
                <a:latin typeface="Calibri"/>
                <a:cs typeface="Calibri"/>
              </a:rPr>
              <a:t>let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select=document.getElementById("productSelect") </a:t>
            </a:r>
            <a:r>
              <a:rPr dirty="0" sz="1200">
                <a:latin typeface="Calibri"/>
                <a:cs typeface="Calibri"/>
              </a:rPr>
              <a:t>if(!select)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return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347500"/>
              </a:lnSpc>
            </a:pPr>
            <a:r>
              <a:rPr dirty="0" sz="1200" spc="-10">
                <a:latin typeface="Calibri"/>
                <a:cs typeface="Calibri"/>
              </a:rPr>
              <a:t>select.innerHTML='&lt;option</a:t>
            </a:r>
            <a:r>
              <a:rPr dirty="0" sz="1200" spc="7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value=""&gt;Select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Product&lt;/option&gt;' data.forEach(p=&gt;{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4695190" cy="1478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select.innerHTML+=`&lt;option</a:t>
            </a:r>
            <a:r>
              <a:rPr dirty="0" sz="1200" spc="9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value="${p.id}"&gt;${p.product_name}&lt;/option&gt;`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92860" y="3013075"/>
            <a:ext cx="3855720" cy="2432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PLACE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ORDER</a:t>
            </a:r>
            <a:endParaRPr sz="1200">
              <a:latin typeface="Calibri"/>
              <a:cs typeface="Calibri"/>
            </a:endParaRPr>
          </a:p>
          <a:p>
            <a:pPr marL="12700" marR="2454275">
              <a:lnSpc>
                <a:spcPct val="346700"/>
              </a:lnSpc>
              <a:spcBef>
                <a:spcPts val="20"/>
              </a:spcBef>
            </a:pP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placeOrder(){ fetch("/place-order",{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40"/>
              </a:spcBef>
            </a:pPr>
            <a:endParaRPr sz="1200">
              <a:latin typeface="Calibri"/>
              <a:cs typeface="Calibri"/>
            </a:endParaRPr>
          </a:p>
          <a:p>
            <a:pPr marL="18415" marR="5080" indent="-6350">
              <a:lnSpc>
                <a:spcPct val="173500"/>
              </a:lnSpc>
              <a:spcBef>
                <a:spcPts val="5"/>
              </a:spcBef>
            </a:pPr>
            <a:r>
              <a:rPr dirty="0" sz="1200" spc="-10">
                <a:latin typeface="Calibri"/>
                <a:cs typeface="Calibri"/>
              </a:rPr>
              <a:t>method:"POST",</a:t>
            </a:r>
            <a:r>
              <a:rPr dirty="0" sz="1200" spc="8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headers:{"Content-Type":"application/json"}, body:JSON.stringify({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92860" y="5979033"/>
            <a:ext cx="4062095" cy="3066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customer_id:document.getElementById("customerSelect").value,</a:t>
            </a:r>
            <a:endParaRPr sz="1200">
              <a:latin typeface="Calibri"/>
              <a:cs typeface="Calibri"/>
            </a:endParaRPr>
          </a:p>
          <a:p>
            <a:pPr marL="18415" marR="194310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product_id:document.getElementById("productSelect").value, quantity:document.getElementById("qty").value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10">
                <a:latin typeface="Calibri"/>
                <a:cs typeface="Calibri"/>
              </a:rPr>
              <a:t>.then(res=&gt;res.text())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.then(alert)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1211326"/>
            <a:ext cx="736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92860" y="2060193"/>
            <a:ext cx="5938520" cy="6549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ORDER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HISTORY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(JOIN)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latin typeface="Calibri"/>
                <a:cs typeface="Calibri"/>
              </a:rPr>
              <a:t>async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loadOrders(){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1200">
              <a:latin typeface="Calibri"/>
              <a:cs typeface="Calibri"/>
            </a:endParaRPr>
          </a:p>
          <a:p>
            <a:pPr marL="18415" marR="3569970" indent="-6350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res=await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fetch("/orders")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const </a:t>
            </a:r>
            <a:r>
              <a:rPr dirty="0" sz="1200" spc="-10">
                <a:latin typeface="Calibri"/>
                <a:cs typeface="Calibri"/>
              </a:rPr>
              <a:t>data=await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res.json()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25">
                <a:latin typeface="Calibri"/>
                <a:cs typeface="Calibri"/>
              </a:rPr>
              <a:t>let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1200" spc="-10">
                <a:latin typeface="Calibri"/>
                <a:cs typeface="Calibri"/>
              </a:rPr>
              <a:t>html="&lt;table&gt;&lt;tr&gt;&lt;th&gt;Customer&lt;/th&gt;&lt;th&gt;Product&lt;/th&gt;&lt;th&gt;Price&lt;/th&gt;&lt;th&gt;Qty&lt;/th&gt;&lt;th&gt;Total&lt;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204"/>
              </a:spcBef>
            </a:pPr>
            <a:r>
              <a:rPr dirty="0" sz="1200" spc="-10">
                <a:latin typeface="Calibri"/>
                <a:cs typeface="Calibri"/>
              </a:rPr>
              <a:t>/th&gt;&lt;/tr&gt;"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7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latin typeface="Calibri"/>
                <a:cs typeface="Calibri"/>
              </a:rPr>
              <a:t>data.forEach(o=&gt;{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latin typeface="Calibri"/>
                <a:cs typeface="Calibri"/>
              </a:rPr>
              <a:t>html+=`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20">
                <a:latin typeface="Calibri"/>
                <a:cs typeface="Calibri"/>
              </a:rPr>
              <a:t>&lt;tr&gt;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latin typeface="Calibri"/>
                <a:cs typeface="Calibri"/>
              </a:rPr>
              <a:t>&lt;td&gt;${o.name}&lt;/td&gt;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10">
                <a:latin typeface="Calibri"/>
                <a:cs typeface="Calibri"/>
              </a:rPr>
              <a:t>&lt;td&gt;${o.product_name}&lt;/td&gt;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&lt;td&gt;${o.price}&lt;/td&gt;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&lt;td&gt;${o.quantity}&lt;/td&gt;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&lt;td&gt;${o.total}&lt;/td&gt;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3329304" cy="33820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&lt;/tr&gt;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50">
                <a:latin typeface="Calibri"/>
                <a:cs typeface="Calibri"/>
              </a:rPr>
              <a:t>`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latin typeface="Calibri"/>
                <a:cs typeface="Calibri"/>
              </a:rPr>
              <a:t>html+="&lt;/table&gt;"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latin typeface="Calibri"/>
                <a:cs typeface="Calibri"/>
              </a:rPr>
              <a:t>document.getElementById("result").innerHTML=html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92860" y="4919598"/>
            <a:ext cx="3044190" cy="4017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-10">
                <a:latin typeface="Calibri"/>
                <a:cs typeface="Calibri"/>
              </a:rPr>
              <a:t> HIGHEST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ORDER</a:t>
            </a:r>
            <a:r>
              <a:rPr dirty="0" sz="1200" spc="-10">
                <a:latin typeface="Calibri"/>
                <a:cs typeface="Calibri"/>
              </a:rPr>
              <a:t> (SUBQUERY)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async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highestOrder(){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200">
              <a:latin typeface="Calibri"/>
              <a:cs typeface="Calibri"/>
            </a:endParaRPr>
          </a:p>
          <a:p>
            <a:pPr marL="18415" marR="233679" indent="-6350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res=await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fetch("/highest-</a:t>
            </a:r>
            <a:r>
              <a:rPr dirty="0" sz="1200">
                <a:latin typeface="Calibri"/>
                <a:cs typeface="Calibri"/>
              </a:rPr>
              <a:t>order")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const </a:t>
            </a:r>
            <a:r>
              <a:rPr dirty="0" sz="1200" spc="-10">
                <a:latin typeface="Calibri"/>
                <a:cs typeface="Calibri"/>
              </a:rPr>
              <a:t>data=await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res.json()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latin typeface="Calibri"/>
                <a:cs typeface="Calibri"/>
              </a:rPr>
              <a:t>document.getElementById("result").innerHTML=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latin typeface="Calibri"/>
                <a:cs typeface="Calibri"/>
              </a:rPr>
              <a:t>`&lt;h2&gt;Highest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Order&lt;/h2&gt;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latin typeface="Calibri"/>
                <a:cs typeface="Calibri"/>
              </a:rPr>
              <a:t>${data[0].name}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-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₹${data[0].total}`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1426209"/>
            <a:ext cx="5171440" cy="37001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MOST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ACTIVE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CUSTOMER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async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activeCustomer(){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55"/>
              </a:spcBef>
            </a:pPr>
            <a:endParaRPr sz="1200">
              <a:latin typeface="Calibri"/>
              <a:cs typeface="Calibri"/>
            </a:endParaRPr>
          </a:p>
          <a:p>
            <a:pPr marL="18415" marR="2202815" indent="-6350">
              <a:lnSpc>
                <a:spcPct val="173500"/>
              </a:lnSpc>
            </a:pP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10">
                <a:latin typeface="Calibri"/>
                <a:cs typeface="Calibri"/>
              </a:rPr>
              <a:t> res=await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fetch("/active-customer") </a:t>
            </a:r>
            <a:r>
              <a:rPr dirty="0" sz="1200" spc="-20">
                <a:latin typeface="Calibri"/>
                <a:cs typeface="Calibri"/>
              </a:rPr>
              <a:t>const </a:t>
            </a:r>
            <a:r>
              <a:rPr dirty="0" sz="1200" spc="-10">
                <a:latin typeface="Calibri"/>
                <a:cs typeface="Calibri"/>
              </a:rPr>
              <a:t>data=await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res.json()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latin typeface="Calibri"/>
                <a:cs typeface="Calibri"/>
              </a:rPr>
              <a:t>document.getElementById("result").innerHTML=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`&lt;h2&gt;Most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Active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Customer&lt;/h2&gt; ${data[0].name}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(${data[0].total_orders}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orders)`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92860" y="5768721"/>
            <a:ext cx="3038475" cy="33820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AUTO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LOAD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DROPDOWNS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PAGE </a:t>
            </a:r>
            <a:r>
              <a:rPr dirty="0" sz="1200" spc="-20">
                <a:latin typeface="Calibri"/>
                <a:cs typeface="Calibri"/>
              </a:rPr>
              <a:t>LOADS</a:t>
            </a:r>
            <a:endParaRPr sz="1200">
              <a:latin typeface="Calibri"/>
              <a:cs typeface="Calibri"/>
            </a:endParaRPr>
          </a:p>
          <a:p>
            <a:pPr marL="12700" marR="1061085">
              <a:lnSpc>
                <a:spcPct val="346700"/>
              </a:lnSpc>
              <a:spcBef>
                <a:spcPts val="10"/>
              </a:spcBef>
            </a:pPr>
            <a:r>
              <a:rPr dirty="0" sz="1200" spc="-10">
                <a:latin typeface="Calibri"/>
                <a:cs typeface="Calibri"/>
              </a:rPr>
              <a:t>window.onload=function(){ loadCustomers()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loadProducts()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 b="1">
                <a:latin typeface="Calibri"/>
                <a:cs typeface="Calibri"/>
              </a:rPr>
              <a:t>SERVER.JS:</a:t>
            </a:r>
            <a:endParaRPr sz="1200">
              <a:latin typeface="Calibri"/>
              <a:cs typeface="Calibri"/>
            </a:endParaRPr>
          </a:p>
          <a:p>
            <a:pPr marL="18415" marR="610870" indent="-6350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express=require("express")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const </a:t>
            </a:r>
            <a:r>
              <a:rPr dirty="0" sz="1200" spc="-10">
                <a:latin typeface="Calibri"/>
                <a:cs typeface="Calibri"/>
              </a:rPr>
              <a:t>db=require("./db")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1211326"/>
            <a:ext cx="4472305" cy="68726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app=express()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latin typeface="Calibri"/>
                <a:cs typeface="Calibri"/>
              </a:rPr>
              <a:t>app.use(express.json())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app.use(express.static(</a:t>
            </a:r>
            <a:r>
              <a:rPr dirty="0" u="sng" sz="1200" spc="229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1200" spc="-10">
                <a:latin typeface="Calibri"/>
                <a:cs typeface="Calibri"/>
              </a:rPr>
              <a:t>dirname))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LOGIN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latin typeface="Calibri"/>
                <a:cs typeface="Calibri"/>
              </a:rPr>
              <a:t>app.post("/login",(req,res)=&gt;{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{username,password}=req.body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346700"/>
              </a:lnSpc>
              <a:spcBef>
                <a:spcPts val="15"/>
              </a:spcBef>
            </a:pP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sql="SELECT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*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username=?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password=?" db.query(sql,[username,password],(err,result)=&gt;{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if(err)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throw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err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latin typeface="Calibri"/>
                <a:cs typeface="Calibri"/>
              </a:rPr>
              <a:t>if(result.length&gt;0){</a:t>
            </a:r>
            <a:r>
              <a:rPr dirty="0" sz="1200" spc="8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res.json({success:true})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>
                <a:latin typeface="Calibri"/>
                <a:cs typeface="Calibri"/>
              </a:rPr>
              <a:t>}else{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res.json({success:false})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92860" y="8727135"/>
            <a:ext cx="11925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CUSTOMER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1211326"/>
            <a:ext cx="3812540" cy="4336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app.post("/add-customer",(req,res)=&gt;{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{name,email}=req.body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sql="INSERT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customers(name,email)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VALUES(?,?)"</a:t>
            </a:r>
            <a:endParaRPr sz="1200">
              <a:latin typeface="Calibri"/>
              <a:cs typeface="Calibri"/>
            </a:endParaRPr>
          </a:p>
          <a:p>
            <a:pPr marL="12700" marR="1642110">
              <a:lnSpc>
                <a:spcPts val="5010"/>
              </a:lnSpc>
              <a:spcBef>
                <a:spcPts val="745"/>
              </a:spcBef>
            </a:pPr>
            <a:r>
              <a:rPr dirty="0" sz="1200" spc="-10">
                <a:latin typeface="Calibri"/>
                <a:cs typeface="Calibri"/>
              </a:rPr>
              <a:t>db.query(sql,[name,email],(err)=&gt;{ </a:t>
            </a:r>
            <a:r>
              <a:rPr dirty="0" sz="1200">
                <a:latin typeface="Calibri"/>
                <a:cs typeface="Calibri"/>
              </a:rPr>
              <a:t>if(err)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throw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err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2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latin typeface="Calibri"/>
                <a:cs typeface="Calibri"/>
              </a:rPr>
              <a:t>res.send("Customer </a:t>
            </a:r>
            <a:r>
              <a:rPr dirty="0" sz="1200">
                <a:latin typeface="Calibri"/>
                <a:cs typeface="Calibri"/>
              </a:rPr>
              <a:t>Added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Successfully")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92860" y="6189345"/>
            <a:ext cx="4249420" cy="2747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PRODUCT</a:t>
            </a:r>
            <a:endParaRPr sz="1200">
              <a:latin typeface="Calibri"/>
              <a:cs typeface="Calibri"/>
            </a:endParaRPr>
          </a:p>
          <a:p>
            <a:pPr marL="12700" marR="1935480">
              <a:lnSpc>
                <a:spcPts val="4990"/>
              </a:lnSpc>
              <a:spcBef>
                <a:spcPts val="760"/>
              </a:spcBef>
            </a:pPr>
            <a:r>
              <a:rPr dirty="0" sz="1200" spc="-10">
                <a:latin typeface="Calibri"/>
                <a:cs typeface="Calibri"/>
              </a:rPr>
              <a:t>app.post("/add-product",(req,res)=&gt;{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{product,price}=req.body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ts val="4990"/>
              </a:lnSpc>
            </a:pP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sql="INSERT </a:t>
            </a:r>
            <a:r>
              <a:rPr dirty="0" sz="1200" spc="-10">
                <a:latin typeface="Calibri"/>
                <a:cs typeface="Calibri"/>
              </a:rPr>
              <a:t>INTO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products(product_name,price)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VALUES(?,?)" db.query(sql,[product,price],(err)=&gt;{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1211326"/>
            <a:ext cx="2456180" cy="17951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if(err)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throw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err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latin typeface="Calibri"/>
                <a:cs typeface="Calibri"/>
              </a:rPr>
              <a:t>res.send("Product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Added </a:t>
            </a:r>
            <a:r>
              <a:rPr dirty="0" sz="1200" spc="-10">
                <a:latin typeface="Calibri"/>
                <a:cs typeface="Calibri"/>
              </a:rPr>
              <a:t>Successfully")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92860" y="3650107"/>
            <a:ext cx="2405380" cy="5285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CUSTOMERS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(for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dropdown)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latin typeface="Calibri"/>
                <a:cs typeface="Calibri"/>
              </a:rPr>
              <a:t>app.get("/customers",(req,res)=&gt;{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346800"/>
              </a:lnSpc>
              <a:spcBef>
                <a:spcPts val="10"/>
              </a:spcBef>
            </a:pP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sql="SELECT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*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customers" db.query(sql,(err,result)=&gt;{</a:t>
            </a:r>
            <a:endParaRPr sz="1200">
              <a:latin typeface="Calibri"/>
              <a:cs typeface="Calibri"/>
            </a:endParaRPr>
          </a:p>
          <a:p>
            <a:pPr marL="12700" marR="1407160">
              <a:lnSpc>
                <a:spcPct val="346700"/>
              </a:lnSpc>
              <a:spcBef>
                <a:spcPts val="10"/>
              </a:spcBef>
            </a:pPr>
            <a:r>
              <a:rPr dirty="0" sz="1200">
                <a:latin typeface="Calibri"/>
                <a:cs typeface="Calibri"/>
              </a:rPr>
              <a:t>if(err)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throw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err </a:t>
            </a:r>
            <a:r>
              <a:rPr dirty="0" sz="1200" spc="-10">
                <a:latin typeface="Calibri"/>
                <a:cs typeface="Calibri"/>
              </a:rPr>
              <a:t>res.json(result)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PRODUCTS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(for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dropdown)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1211326"/>
            <a:ext cx="4993005" cy="750950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app.get("/products",(req,res)=&gt;{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sql="SELECT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*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products"</a:t>
            </a:r>
            <a:endParaRPr sz="1200">
              <a:latin typeface="Calibri"/>
              <a:cs typeface="Calibri"/>
            </a:endParaRPr>
          </a:p>
          <a:p>
            <a:pPr marL="12700" marR="3305810">
              <a:lnSpc>
                <a:spcPct val="346700"/>
              </a:lnSpc>
              <a:spcBef>
                <a:spcPts val="10"/>
              </a:spcBef>
            </a:pPr>
            <a:r>
              <a:rPr dirty="0" sz="1200" spc="-10">
                <a:latin typeface="Calibri"/>
                <a:cs typeface="Calibri"/>
              </a:rPr>
              <a:t>db.query(sql,(err,result)=&gt;{ </a:t>
            </a:r>
            <a:r>
              <a:rPr dirty="0" sz="1200">
                <a:latin typeface="Calibri"/>
                <a:cs typeface="Calibri"/>
              </a:rPr>
              <a:t>if(err)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throw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err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10">
                <a:latin typeface="Calibri"/>
                <a:cs typeface="Calibri"/>
              </a:rPr>
              <a:t>res.json(result)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PLACE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ORDER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latin typeface="Calibri"/>
                <a:cs typeface="Calibri"/>
              </a:rPr>
              <a:t>app.post("/place-order",(req,res)=&gt;{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{customer_id,product_id,quantity}=req.body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346700"/>
              </a:lnSpc>
              <a:spcBef>
                <a:spcPts val="10"/>
              </a:spcBef>
            </a:pP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sql="INSERT </a:t>
            </a:r>
            <a:r>
              <a:rPr dirty="0" sz="1200" spc="-10">
                <a:latin typeface="Calibri"/>
                <a:cs typeface="Calibri"/>
              </a:rPr>
              <a:t>INTO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orders(customer_id,product_id,quantity) VALUES(?,?,?)" db.query(sql,[customer_id,product_id,quantity],(err)=&gt;{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if(err)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throw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err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2623820" cy="77108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res.send("Order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Placed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Successfully")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7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ORDER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HISTORY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(JOIN)</a:t>
            </a:r>
            <a:endParaRPr sz="1200">
              <a:latin typeface="Calibri"/>
              <a:cs typeface="Calibri"/>
            </a:endParaRPr>
          </a:p>
          <a:p>
            <a:pPr marL="12700" marR="750570">
              <a:lnSpc>
                <a:spcPct val="346700"/>
              </a:lnSpc>
              <a:spcBef>
                <a:spcPts val="15"/>
              </a:spcBef>
            </a:pPr>
            <a:r>
              <a:rPr dirty="0" sz="1200" spc="-10">
                <a:latin typeface="Calibri"/>
                <a:cs typeface="Calibri"/>
              </a:rPr>
              <a:t>app.get("/orders",(req,res)=&gt;{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sql=`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40"/>
              </a:spcBef>
            </a:pPr>
            <a:endParaRPr sz="1200">
              <a:latin typeface="Calibri"/>
              <a:cs typeface="Calibri"/>
            </a:endParaRPr>
          </a:p>
          <a:p>
            <a:pPr marL="18415" marR="652145" indent="-6350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SELECT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customers.name, products.product_name, products.price,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orders.quantity,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10">
                <a:latin typeface="Calibri"/>
                <a:cs typeface="Calibri"/>
              </a:rPr>
              <a:t>(products.price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*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orders.quantity)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total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orders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JOIN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customers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orders.customer_id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10">
                <a:latin typeface="Calibri"/>
                <a:cs typeface="Calibri"/>
              </a:rPr>
              <a:t> customers.id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JOIN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products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orders.product_id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products.id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ORDER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orders.order_date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DESC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2623820" cy="8146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libri"/>
                <a:cs typeface="Calibri"/>
              </a:rPr>
              <a:t>`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db.query(sql,(err,result)=&gt;{</a:t>
            </a:r>
            <a:endParaRPr sz="1200">
              <a:latin typeface="Calibri"/>
              <a:cs typeface="Calibri"/>
            </a:endParaRPr>
          </a:p>
          <a:p>
            <a:pPr marL="12700" marR="1626235">
              <a:lnSpc>
                <a:spcPct val="346700"/>
              </a:lnSpc>
              <a:spcBef>
                <a:spcPts val="10"/>
              </a:spcBef>
            </a:pPr>
            <a:r>
              <a:rPr dirty="0" sz="1200">
                <a:latin typeface="Calibri"/>
                <a:cs typeface="Calibri"/>
              </a:rPr>
              <a:t>if(err)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throw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err </a:t>
            </a:r>
            <a:r>
              <a:rPr dirty="0" sz="1200" spc="-10">
                <a:latin typeface="Calibri"/>
                <a:cs typeface="Calibri"/>
              </a:rPr>
              <a:t>res.json(result)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HIGHEST </a:t>
            </a:r>
            <a:r>
              <a:rPr dirty="0" sz="1200" spc="-20">
                <a:latin typeface="Calibri"/>
                <a:cs typeface="Calibri"/>
              </a:rPr>
              <a:t>VALUE </a:t>
            </a:r>
            <a:r>
              <a:rPr dirty="0" sz="1200">
                <a:latin typeface="Calibri"/>
                <a:cs typeface="Calibri"/>
              </a:rPr>
              <a:t>ORDER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(SUBQUERY)</a:t>
            </a:r>
            <a:endParaRPr sz="1200">
              <a:latin typeface="Calibri"/>
              <a:cs typeface="Calibri"/>
            </a:endParaRPr>
          </a:p>
          <a:p>
            <a:pPr marL="12700" marR="309880">
              <a:lnSpc>
                <a:spcPts val="5010"/>
              </a:lnSpc>
              <a:spcBef>
                <a:spcPts val="745"/>
              </a:spcBef>
            </a:pPr>
            <a:r>
              <a:rPr dirty="0" sz="1200" spc="-10">
                <a:latin typeface="Calibri"/>
                <a:cs typeface="Calibri"/>
              </a:rPr>
              <a:t>app.get("/highest-order",(req,res)=&gt;{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sql=`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2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SELECT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customers.name,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(products.price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*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orders.quantity)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total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orders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JOIN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customers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orders.customer_id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10">
                <a:latin typeface="Calibri"/>
                <a:cs typeface="Calibri"/>
              </a:rPr>
              <a:t> customers.id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JOIN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products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4940300" cy="5922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orders.product_id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products.id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WHERE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(products.price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* </a:t>
            </a:r>
            <a:r>
              <a:rPr dirty="0" sz="1200" spc="-10">
                <a:latin typeface="Calibri"/>
                <a:cs typeface="Calibri"/>
              </a:rPr>
              <a:t>orders.quantity)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50">
                <a:latin typeface="Calibri"/>
                <a:cs typeface="Calibri"/>
              </a:rPr>
              <a:t>(</a:t>
            </a:r>
            <a:endParaRPr sz="1200">
              <a:latin typeface="Calibri"/>
              <a:cs typeface="Calibri"/>
            </a:endParaRPr>
          </a:p>
          <a:p>
            <a:pPr marL="12700" marR="2069464">
              <a:lnSpc>
                <a:spcPct val="173300"/>
              </a:lnSpc>
              <a:spcBef>
                <a:spcPts val="15"/>
              </a:spcBef>
            </a:pPr>
            <a:r>
              <a:rPr dirty="0" sz="1200">
                <a:latin typeface="Calibri"/>
                <a:cs typeface="Calibri"/>
              </a:rPr>
              <a:t>SELECT </a:t>
            </a:r>
            <a:r>
              <a:rPr dirty="0" sz="1200" spc="-10">
                <a:latin typeface="Calibri"/>
                <a:cs typeface="Calibri"/>
              </a:rPr>
              <a:t>MAX(products.price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* </a:t>
            </a:r>
            <a:r>
              <a:rPr dirty="0" sz="1200" spc="-10">
                <a:latin typeface="Calibri"/>
                <a:cs typeface="Calibri"/>
              </a:rPr>
              <a:t>orders.quantity)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orders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JOIN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products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orders.product_id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products.id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dirty="0" sz="1200" spc="-50">
                <a:latin typeface="Calibri"/>
                <a:cs typeface="Calibri"/>
              </a:rPr>
              <a:t>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`</a:t>
            </a:r>
            <a:endParaRPr sz="1200">
              <a:latin typeface="Calibri"/>
              <a:cs typeface="Calibri"/>
            </a:endParaRPr>
          </a:p>
          <a:p>
            <a:pPr marL="12700" marR="3253104">
              <a:lnSpc>
                <a:spcPts val="5000"/>
              </a:lnSpc>
              <a:spcBef>
                <a:spcPts val="750"/>
              </a:spcBef>
            </a:pPr>
            <a:r>
              <a:rPr dirty="0" sz="1200" spc="-10">
                <a:latin typeface="Calibri"/>
                <a:cs typeface="Calibri"/>
              </a:rPr>
              <a:t>db.query(sql,(err,result)=&gt;{ </a:t>
            </a:r>
            <a:r>
              <a:rPr dirty="0" sz="1200">
                <a:latin typeface="Calibri"/>
                <a:cs typeface="Calibri"/>
              </a:rPr>
              <a:t>if(err)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throw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err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3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latin typeface="Calibri"/>
                <a:cs typeface="Calibri"/>
              </a:rPr>
              <a:t>res.json(result)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92860" y="7460742"/>
            <a:ext cx="2478405" cy="1159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MOST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ACTIVE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CUSTOMER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app.get("/active-customer",(req,res)=&gt;{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sql=`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2407285" cy="7510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SELECT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customers.name,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COUNT(orders.id)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total_orders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customers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latin typeface="Calibri"/>
                <a:cs typeface="Calibri"/>
              </a:rPr>
              <a:t>JOIN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orders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customers.id</a:t>
            </a:r>
            <a:r>
              <a:rPr dirty="0" sz="1200">
                <a:latin typeface="Calibri"/>
                <a:cs typeface="Calibri"/>
              </a:rPr>
              <a:t> =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orders.customer_id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GROUP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customers.id</a:t>
            </a:r>
            <a:endParaRPr sz="1200">
              <a:latin typeface="Calibri"/>
              <a:cs typeface="Calibri"/>
            </a:endParaRPr>
          </a:p>
          <a:p>
            <a:pPr marL="12700" marR="617220">
              <a:lnSpc>
                <a:spcPct val="346700"/>
              </a:lnSpc>
              <a:spcBef>
                <a:spcPts val="15"/>
              </a:spcBef>
            </a:pPr>
            <a:r>
              <a:rPr dirty="0" sz="1200">
                <a:latin typeface="Calibri"/>
                <a:cs typeface="Calibri"/>
              </a:rPr>
              <a:t>ORDER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total_orders</a:t>
            </a:r>
            <a:r>
              <a:rPr dirty="0" sz="1200" spc="-20">
                <a:latin typeface="Calibri"/>
                <a:cs typeface="Calibri"/>
              </a:rPr>
              <a:t> DESC </a:t>
            </a:r>
            <a:r>
              <a:rPr dirty="0" sz="1200">
                <a:latin typeface="Calibri"/>
                <a:cs typeface="Calibri"/>
              </a:rPr>
              <a:t>LIMIT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50">
                <a:latin typeface="Calibri"/>
                <a:cs typeface="Calibri"/>
              </a:rPr>
              <a:t>`</a:t>
            </a:r>
            <a:endParaRPr sz="1200">
              <a:latin typeface="Calibri"/>
              <a:cs typeface="Calibri"/>
            </a:endParaRPr>
          </a:p>
          <a:p>
            <a:pPr marL="12700" marR="720090">
              <a:lnSpc>
                <a:spcPts val="5000"/>
              </a:lnSpc>
              <a:spcBef>
                <a:spcPts val="750"/>
              </a:spcBef>
            </a:pPr>
            <a:r>
              <a:rPr dirty="0" sz="1200" spc="-10">
                <a:latin typeface="Calibri"/>
                <a:cs typeface="Calibri"/>
              </a:rPr>
              <a:t>db.query(sql,(err,result)=&gt;{ </a:t>
            </a:r>
            <a:r>
              <a:rPr dirty="0" sz="1200">
                <a:latin typeface="Calibri"/>
                <a:cs typeface="Calibri"/>
              </a:rPr>
              <a:t>if(err)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throw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err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3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latin typeface="Calibri"/>
                <a:cs typeface="Calibri"/>
              </a:rPr>
              <a:t>res.json(result)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3361690" cy="2749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START</a:t>
            </a:r>
            <a:r>
              <a:rPr dirty="0" sz="1200" spc="-10">
                <a:latin typeface="Calibri"/>
                <a:cs typeface="Calibri"/>
              </a:rPr>
              <a:t> SERVER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latin typeface="Calibri"/>
                <a:cs typeface="Calibri"/>
              </a:rPr>
              <a:t>app.listen(3000,()=&gt;{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latin typeface="Calibri"/>
                <a:cs typeface="Calibri"/>
              </a:rPr>
              <a:t>console.log("Server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running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at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  <a:hlinkClick r:id="rId2"/>
              </a:rPr>
              <a:t>http://localhost:3000</a:t>
            </a:r>
            <a:r>
              <a:rPr dirty="0" sz="1200" spc="-10">
                <a:latin typeface="Calibri"/>
                <a:cs typeface="Calibri"/>
              </a:rPr>
              <a:t>")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 b="1">
                <a:latin typeface="Calibri"/>
                <a:cs typeface="Calibri"/>
              </a:rPr>
              <a:t>OUTPUTS: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9960" y="3739007"/>
            <a:ext cx="5943599" cy="356997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4884292"/>
            <a:ext cx="5826760" cy="4037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 marR="73025" indent="-6350">
              <a:lnSpc>
                <a:spcPct val="114300"/>
              </a:lnSpc>
              <a:spcBef>
                <a:spcPts val="100"/>
              </a:spcBef>
            </a:pPr>
            <a:r>
              <a:rPr dirty="0" sz="1200" spc="-25" b="1">
                <a:latin typeface="Calibri"/>
                <a:cs typeface="Calibri"/>
              </a:rPr>
              <a:t>RESULT: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system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successfully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retrieves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analyzes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customer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order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joins</a:t>
            </a:r>
            <a:r>
              <a:rPr dirty="0" sz="1200" spc="-25">
                <a:latin typeface="Calibri"/>
                <a:cs typeface="Calibri"/>
              </a:rPr>
              <a:t> and </a:t>
            </a:r>
            <a:r>
              <a:rPr dirty="0" sz="1200">
                <a:latin typeface="Calibri"/>
                <a:cs typeface="Calibri"/>
              </a:rPr>
              <a:t>subqueries,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displaying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meaningful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insights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like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highest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order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value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most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active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customer.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20" b="1">
                <a:latin typeface="Calibri"/>
                <a:cs typeface="Calibri"/>
              </a:rPr>
              <a:t>TASK5:</a:t>
            </a:r>
            <a:r>
              <a:rPr dirty="0" sz="1200" spc="20" b="1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Transaction-</a:t>
            </a:r>
            <a:r>
              <a:rPr dirty="0" sz="1200" b="1">
                <a:latin typeface="Calibri"/>
                <a:cs typeface="Calibri"/>
              </a:rPr>
              <a:t>Based</a:t>
            </a:r>
            <a:r>
              <a:rPr dirty="0" sz="1200" spc="2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Payment</a:t>
            </a:r>
            <a:r>
              <a:rPr dirty="0" sz="1200" spc="2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Simulation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1200">
              <a:latin typeface="Calibri"/>
              <a:cs typeface="Calibri"/>
            </a:endParaRPr>
          </a:p>
          <a:p>
            <a:pPr marL="18415" marR="5080" indent="-6350">
              <a:lnSpc>
                <a:spcPct val="114199"/>
              </a:lnSpc>
            </a:pPr>
            <a:r>
              <a:rPr dirty="0" sz="1200" b="1">
                <a:latin typeface="Calibri"/>
                <a:cs typeface="Calibri"/>
              </a:rPr>
              <a:t>AIM</a:t>
            </a:r>
            <a:r>
              <a:rPr dirty="0" sz="1200">
                <a:latin typeface="Calibri"/>
                <a:cs typeface="Calibri"/>
              </a:rPr>
              <a:t>: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6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simulate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online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payment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system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database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transactions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ensures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safe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and </a:t>
            </a:r>
            <a:r>
              <a:rPr dirty="0" sz="1200">
                <a:latin typeface="Calibri"/>
                <a:cs typeface="Calibri"/>
              </a:rPr>
              <a:t>reliable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transfer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between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merchant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accounts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COMMIT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ROLLBACK operations.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 b="1">
                <a:latin typeface="Calibri"/>
                <a:cs typeface="Calibri"/>
              </a:rPr>
              <a:t>ALGORITHM: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6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Start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process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Create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database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tables:</a:t>
            </a:r>
            <a:endParaRPr sz="1200">
              <a:latin typeface="Calibri"/>
              <a:cs typeface="Calibri"/>
            </a:endParaRPr>
          </a:p>
          <a:p>
            <a:pPr marL="707390">
              <a:lnSpc>
                <a:spcPct val="100000"/>
              </a:lnSpc>
              <a:spcBef>
                <a:spcPts val="1080"/>
              </a:spcBef>
              <a:tabLst>
                <a:tab pos="935990" algn="l"/>
              </a:tabLst>
            </a:pPr>
            <a:r>
              <a:rPr dirty="0" sz="1000" spc="-50">
                <a:latin typeface="Courier New"/>
                <a:cs typeface="Courier New"/>
              </a:rPr>
              <a:t>o</a:t>
            </a:r>
            <a:r>
              <a:rPr dirty="0" sz="1000">
                <a:latin typeface="Courier New"/>
                <a:cs typeface="Courier New"/>
              </a:rPr>
              <a:t>	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Account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(UserID,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Balance)</a:t>
            </a:r>
            <a:r>
              <a:rPr dirty="0" sz="1200" spc="245">
                <a:latin typeface="Calibri"/>
                <a:cs typeface="Calibri"/>
              </a:rPr>
              <a:t> </a:t>
            </a:r>
            <a:r>
              <a:rPr dirty="0" sz="1000" spc="-50">
                <a:latin typeface="Courier New"/>
                <a:cs typeface="Courier New"/>
              </a:rPr>
              <a:t>o</a:t>
            </a:r>
            <a:endParaRPr sz="1000">
              <a:latin typeface="Courier New"/>
              <a:cs typeface="Courier New"/>
            </a:endParaRPr>
          </a:p>
          <a:p>
            <a:pPr marL="250190" marR="2480945" indent="227965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Merchant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Account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(MerchantID,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Balance)</a:t>
            </a:r>
            <a:r>
              <a:rPr dirty="0" sz="1200" spc="2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3. </a:t>
            </a:r>
            <a:r>
              <a:rPr dirty="0" sz="1200">
                <a:latin typeface="Calibri"/>
                <a:cs typeface="Calibri"/>
              </a:rPr>
              <a:t>Insert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initial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balance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values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merchant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9960" y="914400"/>
            <a:ext cx="5943599" cy="360934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914145"/>
            <a:ext cx="2997835" cy="1814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Segoe UI Symbol"/>
                <a:cs typeface="Segoe UI Symbol"/>
              </a:rPr>
              <a:t>➤</a:t>
            </a:r>
            <a:r>
              <a:rPr dirty="0" sz="1200" spc="-75">
                <a:latin typeface="Segoe UI Symbol"/>
                <a:cs typeface="Segoe UI Symbol"/>
              </a:rPr>
              <a:t> </a:t>
            </a:r>
            <a:r>
              <a:rPr dirty="0" sz="1200" spc="-10">
                <a:latin typeface="Calibri"/>
                <a:cs typeface="Calibri"/>
              </a:rPr>
              <a:t>Transaction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Process: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960"/>
              </a:spcBef>
              <a:buAutoNum type="arabicPeriod" startAt="4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Begin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transaction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(START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TRANSACTION)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65"/>
              </a:spcBef>
              <a:buAutoNum type="arabicPeriod" startAt="4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Deduct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amount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account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 startAt="4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Add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amount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merchant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account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dirty="0" sz="1200">
                <a:latin typeface="Segoe UI Symbol"/>
                <a:cs typeface="Segoe UI Symbol"/>
              </a:rPr>
              <a:t>➤</a:t>
            </a:r>
            <a:r>
              <a:rPr dirty="0" sz="1200" spc="-55">
                <a:latin typeface="Segoe UI Symbol"/>
                <a:cs typeface="Segoe UI Symbol"/>
              </a:rPr>
              <a:t> </a:t>
            </a:r>
            <a:r>
              <a:rPr dirty="0" sz="1200" spc="-10">
                <a:latin typeface="Calibri"/>
                <a:cs typeface="Calibri"/>
              </a:rPr>
              <a:t>Validation: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969"/>
              </a:spcBef>
              <a:buAutoNum type="arabicPeriod" startAt="7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Check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if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sufficient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balance</a:t>
            </a:r>
            <a:r>
              <a:rPr dirty="0" sz="1200" spc="265">
                <a:latin typeface="Calibri"/>
                <a:cs typeface="Calibri"/>
              </a:rPr>
              <a:t> </a:t>
            </a:r>
            <a:r>
              <a:rPr dirty="0" sz="1000" spc="-50">
                <a:latin typeface="Courier New"/>
                <a:cs typeface="Courier New"/>
              </a:rPr>
              <a:t>o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102989" y="2520442"/>
            <a:ext cx="12077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If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→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proceed</a:t>
            </a:r>
            <a:r>
              <a:rPr dirty="0" sz="1200" spc="245">
                <a:latin typeface="Calibri"/>
                <a:cs typeface="Calibri"/>
              </a:rPr>
              <a:t> </a:t>
            </a:r>
            <a:r>
              <a:rPr dirty="0" sz="1000" spc="-50">
                <a:latin typeface="Courier New"/>
                <a:cs typeface="Courier New"/>
              </a:rPr>
              <a:t>o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474589" y="2520442"/>
            <a:ext cx="13500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If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→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rollback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92860" y="2877057"/>
            <a:ext cx="4149090" cy="6123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Segoe UI Symbol"/>
                <a:cs typeface="Segoe UI Symbol"/>
              </a:rPr>
              <a:t>➤</a:t>
            </a:r>
            <a:r>
              <a:rPr dirty="0" sz="1200" spc="-70">
                <a:latin typeface="Segoe UI Symbol"/>
                <a:cs typeface="Segoe UI Symbol"/>
              </a:rPr>
              <a:t> </a:t>
            </a:r>
            <a:r>
              <a:rPr dirty="0" sz="1200">
                <a:latin typeface="Calibri"/>
                <a:cs typeface="Calibri"/>
              </a:rPr>
              <a:t>Commit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/</a:t>
            </a:r>
            <a:r>
              <a:rPr dirty="0" sz="1200" spc="-10">
                <a:latin typeface="Calibri"/>
                <a:cs typeface="Calibri"/>
              </a:rPr>
              <a:t> Rollback: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960"/>
              </a:spcBef>
              <a:buAutoNum type="arabicPeriod" startAt="8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If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10">
                <a:latin typeface="Calibri"/>
                <a:cs typeface="Calibri"/>
              </a:rPr>
              <a:t> operations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10">
                <a:latin typeface="Calibri"/>
                <a:cs typeface="Calibri"/>
              </a:rPr>
              <a:t> successful </a:t>
            </a:r>
            <a:r>
              <a:rPr dirty="0" sz="1200">
                <a:latin typeface="Calibri"/>
                <a:cs typeface="Calibri"/>
              </a:rPr>
              <a:t>→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COMMIT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transaction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 startAt="8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If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error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occurs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→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ROLLBACK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transaction</a:t>
            </a:r>
            <a:endParaRPr sz="1200">
              <a:latin typeface="Calibri"/>
              <a:cs typeface="Calibri"/>
            </a:endParaRPr>
          </a:p>
          <a:p>
            <a:pPr marL="477520" indent="-227329">
              <a:lnSpc>
                <a:spcPct val="100000"/>
              </a:lnSpc>
              <a:spcBef>
                <a:spcPts val="1070"/>
              </a:spcBef>
              <a:buAutoNum type="arabicPeriod" startAt="8"/>
              <a:tabLst>
                <a:tab pos="477520" algn="l"/>
              </a:tabLst>
            </a:pPr>
            <a:r>
              <a:rPr dirty="0" sz="1200">
                <a:latin typeface="Calibri"/>
                <a:cs typeface="Calibri"/>
              </a:rPr>
              <a:t>Display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transaction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status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(Success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/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Failed)</a:t>
            </a:r>
            <a:endParaRPr sz="1200">
              <a:latin typeface="Calibri"/>
              <a:cs typeface="Calibri"/>
            </a:endParaRPr>
          </a:p>
          <a:p>
            <a:pPr marL="477520" indent="-227329">
              <a:lnSpc>
                <a:spcPct val="100000"/>
              </a:lnSpc>
              <a:spcBef>
                <a:spcPts val="1065"/>
              </a:spcBef>
              <a:buAutoNum type="arabicPeriod" startAt="8"/>
              <a:tabLst>
                <a:tab pos="477520" algn="l"/>
              </a:tabLst>
            </a:pPr>
            <a:r>
              <a:rPr dirty="0" sz="1200" spc="-20">
                <a:latin typeface="Calibri"/>
                <a:cs typeface="Calibri"/>
              </a:rPr>
              <a:t>Stop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7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 b="1">
                <a:latin typeface="Calibri"/>
                <a:cs typeface="Calibri"/>
              </a:rPr>
              <a:t>PROGRAM: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 b="1">
                <a:latin typeface="Calibri"/>
                <a:cs typeface="Calibri"/>
              </a:rPr>
              <a:t>INDEX.HTML: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>
                <a:latin typeface="Calibri"/>
                <a:cs typeface="Calibri"/>
              </a:rPr>
              <a:t>&lt;!DOCTYPE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html&gt;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&lt;html&gt;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&lt;head&gt;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&lt;title&gt;Payment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Simulation&lt;/title&gt;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&lt;link </a:t>
            </a:r>
            <a:r>
              <a:rPr dirty="0" sz="1200" spc="-10">
                <a:latin typeface="Calibri"/>
                <a:cs typeface="Calibri"/>
              </a:rPr>
              <a:t>rel="stylesheet"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href="style.css"&gt;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&lt;/head&gt;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&lt;body&gt;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&lt;div </a:t>
            </a:r>
            <a:r>
              <a:rPr dirty="0" sz="1200" spc="-10">
                <a:latin typeface="Calibri"/>
                <a:cs typeface="Calibri"/>
              </a:rPr>
              <a:t>class="container"&gt;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&lt;h2&gt;Online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Payment&lt;/h2&gt;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&lt;select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id="user"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onchange="updateBalances()"&gt;&lt;/select&gt;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&lt;select </a:t>
            </a:r>
            <a:r>
              <a:rPr dirty="0" sz="1200" spc="-10">
                <a:latin typeface="Calibri"/>
                <a:cs typeface="Calibri"/>
              </a:rPr>
              <a:t>id="merchant"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onchange="updateBalances()"&gt;&lt;/select&gt;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&lt;input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type="number"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id="amount"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placeholder="Enter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amount"&gt;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2466975" cy="78403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&lt;button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onclick="pay()"&gt;Pay&lt;/button&gt;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&lt;h3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id="userBalance"&gt;&lt;/h3&gt;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&lt;h3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id="merchantBalance"&gt;&lt;/h3&gt;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&lt;p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id="result"&gt;&lt;/p&gt;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&lt;/div&gt;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&lt;script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src="script.js"&gt;&lt;/script&gt;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&lt;/body&gt;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&lt;/html&gt;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 b="1">
                <a:latin typeface="Calibri"/>
                <a:cs typeface="Calibri"/>
              </a:rPr>
              <a:t>STYLE.CSS:</a:t>
            </a:r>
            <a:r>
              <a:rPr dirty="0" sz="1200" spc="25" b="1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body{</a:t>
            </a:r>
            <a:endParaRPr sz="1200">
              <a:latin typeface="Calibri"/>
              <a:cs typeface="Calibri"/>
            </a:endParaRPr>
          </a:p>
          <a:p>
            <a:pPr marL="18415" marR="1367155">
              <a:lnSpc>
                <a:spcPct val="173300"/>
              </a:lnSpc>
              <a:spcBef>
                <a:spcPts val="15"/>
              </a:spcBef>
            </a:pPr>
            <a:r>
              <a:rPr dirty="0" sz="1200" spc="-25">
                <a:latin typeface="Calibri"/>
                <a:cs typeface="Calibri"/>
              </a:rPr>
              <a:t>font-</a:t>
            </a:r>
            <a:r>
              <a:rPr dirty="0" sz="1200">
                <a:latin typeface="Calibri"/>
                <a:cs typeface="Calibri"/>
              </a:rPr>
              <a:t>family: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Arial; background: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linear-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60"/>
              </a:spcBef>
            </a:pPr>
            <a:r>
              <a:rPr dirty="0" sz="1200" spc="-10">
                <a:latin typeface="Calibri"/>
                <a:cs typeface="Calibri"/>
              </a:rPr>
              <a:t>gradient(135deg,</a:t>
            </a:r>
            <a:endParaRPr sz="1200">
              <a:latin typeface="Calibri"/>
              <a:cs typeface="Calibri"/>
            </a:endParaRPr>
          </a:p>
          <a:p>
            <a:pPr marL="18415" marR="1497330">
              <a:lnSpc>
                <a:spcPct val="173700"/>
              </a:lnSpc>
              <a:spcBef>
                <a:spcPts val="5"/>
              </a:spcBef>
            </a:pPr>
            <a:r>
              <a:rPr dirty="0" sz="1200" spc="-10">
                <a:latin typeface="Calibri"/>
                <a:cs typeface="Calibri"/>
              </a:rPr>
              <a:t>#dfe9f3,#ffffff); display:flex; justify-</a:t>
            </a:r>
            <a:endParaRPr sz="1200">
              <a:latin typeface="Calibri"/>
              <a:cs typeface="Calibri"/>
            </a:endParaRPr>
          </a:p>
          <a:p>
            <a:pPr marL="18415" marR="1483360">
              <a:lnSpc>
                <a:spcPct val="173300"/>
              </a:lnSpc>
              <a:spcBef>
                <a:spcPts val="15"/>
              </a:spcBef>
            </a:pPr>
            <a:r>
              <a:rPr dirty="0" sz="1200" spc="-10">
                <a:latin typeface="Calibri"/>
                <a:cs typeface="Calibri"/>
              </a:rPr>
              <a:t>content:center; align-</a:t>
            </a:r>
            <a:endParaRPr sz="1200">
              <a:latin typeface="Calibri"/>
              <a:cs typeface="Calibri"/>
            </a:endParaRPr>
          </a:p>
          <a:p>
            <a:pPr marL="18415" marR="1584960">
              <a:lnSpc>
                <a:spcPct val="173500"/>
              </a:lnSpc>
              <a:spcBef>
                <a:spcPts val="10"/>
              </a:spcBef>
            </a:pPr>
            <a:r>
              <a:rPr dirty="0" sz="1200" spc="-10">
                <a:latin typeface="Calibri"/>
                <a:cs typeface="Calibri"/>
              </a:rPr>
              <a:t>items:center; height:100vh;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.container{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background:white;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padding:30px;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border-radius:15px;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box-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2363470" cy="81419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shadow:0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10px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25px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rgba(0,0,0,0.2);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text-</a:t>
            </a:r>
            <a:r>
              <a:rPr dirty="0" sz="1200" spc="-10">
                <a:latin typeface="Calibri"/>
                <a:cs typeface="Calibri"/>
              </a:rPr>
              <a:t>align:center;</a:t>
            </a:r>
            <a:r>
              <a:rPr dirty="0" sz="1200" spc="8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width:400px;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200">
              <a:latin typeface="Calibri"/>
              <a:cs typeface="Calibri"/>
            </a:endParaRPr>
          </a:p>
          <a:p>
            <a:pPr marL="18415" marR="1457325" indent="-6350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select,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input{ padding:10px;</a:t>
            </a:r>
            <a:endParaRPr sz="1200">
              <a:latin typeface="Calibri"/>
              <a:cs typeface="Calibri"/>
            </a:endParaRPr>
          </a:p>
          <a:p>
            <a:pPr marL="18415" marR="790575">
              <a:lnSpc>
                <a:spcPts val="2500"/>
              </a:lnSpc>
              <a:spcBef>
                <a:spcPts val="254"/>
              </a:spcBef>
            </a:pPr>
            <a:r>
              <a:rPr dirty="0" sz="1200" spc="-10">
                <a:latin typeface="Calibri"/>
                <a:cs typeface="Calibri"/>
              </a:rPr>
              <a:t>margin:10px;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width:90%; border-radius:5px;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795"/>
              </a:spcBef>
            </a:pPr>
            <a:r>
              <a:rPr dirty="0" sz="1200" spc="-10">
                <a:latin typeface="Calibri"/>
                <a:cs typeface="Calibri"/>
              </a:rPr>
              <a:t>border:1px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solid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#ccc;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55"/>
              </a:spcBef>
            </a:pPr>
            <a:endParaRPr sz="1200">
              <a:latin typeface="Calibri"/>
              <a:cs typeface="Calibri"/>
            </a:endParaRPr>
          </a:p>
          <a:p>
            <a:pPr marL="18415" marR="964565" indent="-6350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button{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padding:10px; width:95%;</a:t>
            </a:r>
            <a:endParaRPr sz="1200">
              <a:latin typeface="Calibri"/>
              <a:cs typeface="Calibri"/>
            </a:endParaRPr>
          </a:p>
          <a:p>
            <a:pPr marL="18415" marR="1170305">
              <a:lnSpc>
                <a:spcPts val="2500"/>
              </a:lnSpc>
              <a:spcBef>
                <a:spcPts val="259"/>
              </a:spcBef>
            </a:pPr>
            <a:r>
              <a:rPr dirty="0" sz="1200" spc="-10">
                <a:latin typeface="Calibri"/>
                <a:cs typeface="Calibri"/>
              </a:rPr>
              <a:t>background:green; color:white;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790"/>
              </a:spcBef>
            </a:pPr>
            <a:r>
              <a:rPr dirty="0" sz="1200">
                <a:latin typeface="Calibri"/>
                <a:cs typeface="Calibri"/>
              </a:rPr>
              <a:t>border:none;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border-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60"/>
              </a:spcBef>
            </a:pPr>
            <a:r>
              <a:rPr dirty="0" sz="1200" spc="-10">
                <a:latin typeface="Calibri"/>
                <a:cs typeface="Calibri"/>
              </a:rPr>
              <a:t>radius:5px;</a:t>
            </a:r>
            <a:endParaRPr sz="1200">
              <a:latin typeface="Calibri"/>
              <a:cs typeface="Calibri"/>
            </a:endParaRPr>
          </a:p>
          <a:p>
            <a:pPr marL="18415" marR="1083310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cursor:pointer;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font- </a:t>
            </a:r>
            <a:r>
              <a:rPr dirty="0" sz="1200" spc="-10">
                <a:latin typeface="Calibri"/>
                <a:cs typeface="Calibri"/>
              </a:rPr>
              <a:t>size:16px;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latin typeface="Calibri"/>
                <a:cs typeface="Calibri"/>
              </a:rPr>
              <a:t>button:hover{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background:darkgreen;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40"/>
              </a:spcBef>
            </a:pPr>
            <a:endParaRPr sz="1200">
              <a:latin typeface="Calibri"/>
              <a:cs typeface="Calibri"/>
            </a:endParaRPr>
          </a:p>
          <a:p>
            <a:pPr marL="18415" marR="1368425" indent="-6350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h3{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margin:5px; color:#333;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3613150" cy="81508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10" b="1">
                <a:latin typeface="Calibri"/>
                <a:cs typeface="Calibri"/>
              </a:rPr>
              <a:t>SCRIPT.JS: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let</a:t>
            </a:r>
            <a:endParaRPr sz="1200">
              <a:latin typeface="Calibri"/>
              <a:cs typeface="Calibri"/>
            </a:endParaRPr>
          </a:p>
          <a:p>
            <a:pPr marL="18415" marR="2404745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usersData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[]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let </a:t>
            </a:r>
            <a:r>
              <a:rPr dirty="0" sz="1200" spc="-10">
                <a:latin typeface="Calibri"/>
                <a:cs typeface="Calibri"/>
              </a:rPr>
              <a:t>merchantsData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[]</a:t>
            </a:r>
            <a:endParaRPr sz="1200">
              <a:latin typeface="Calibri"/>
              <a:cs typeface="Calibri"/>
            </a:endParaRPr>
          </a:p>
          <a:p>
            <a:pPr marL="18415" marR="2339340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loadData(){ fetch("/balances")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.then(res=&gt;res.json())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.then(data=&gt;{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usersData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data.users</a:t>
            </a:r>
            <a:endParaRPr sz="1200">
              <a:latin typeface="Calibri"/>
              <a:cs typeface="Calibri"/>
            </a:endParaRPr>
          </a:p>
          <a:p>
            <a:pPr marL="18415" marR="2422525">
              <a:lnSpc>
                <a:spcPct val="173800"/>
              </a:lnSpc>
              <a:spcBef>
                <a:spcPts val="5"/>
              </a:spcBef>
            </a:pPr>
            <a:r>
              <a:rPr dirty="0" sz="1200" spc="-10">
                <a:latin typeface="Calibri"/>
                <a:cs typeface="Calibri"/>
              </a:rPr>
              <a:t>merchantsData </a:t>
            </a:r>
            <a:r>
              <a:rPr dirty="0" sz="1200" spc="-5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data.merchants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let </a:t>
            </a:r>
            <a:r>
              <a:rPr dirty="0" sz="1200">
                <a:latin typeface="Calibri"/>
                <a:cs typeface="Calibri"/>
              </a:rPr>
              <a:t>userSelect</a:t>
            </a:r>
            <a:r>
              <a:rPr dirty="0" sz="1200" spc="-7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</a:t>
            </a:r>
            <a:endParaRPr sz="1200">
              <a:latin typeface="Calibri"/>
              <a:cs typeface="Calibri"/>
            </a:endParaRPr>
          </a:p>
          <a:p>
            <a:pPr marL="18415" marR="2122805">
              <a:lnSpc>
                <a:spcPts val="2510"/>
              </a:lnSpc>
              <a:spcBef>
                <a:spcPts val="245"/>
              </a:spcBef>
            </a:pPr>
            <a:r>
              <a:rPr dirty="0" sz="1200" spc="-10">
                <a:latin typeface="Calibri"/>
                <a:cs typeface="Calibri"/>
              </a:rPr>
              <a:t>document.getElementB </a:t>
            </a:r>
            <a:r>
              <a:rPr dirty="0" sz="1200">
                <a:latin typeface="Calibri"/>
                <a:cs typeface="Calibri"/>
              </a:rPr>
              <a:t>yId("user")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let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795"/>
              </a:spcBef>
            </a:pPr>
            <a:r>
              <a:rPr dirty="0" sz="1200" spc="-10">
                <a:latin typeface="Calibri"/>
                <a:cs typeface="Calibri"/>
              </a:rPr>
              <a:t>merchantSelect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</a:t>
            </a:r>
            <a:endParaRPr sz="1200">
              <a:latin typeface="Calibri"/>
              <a:cs typeface="Calibri"/>
            </a:endParaRPr>
          </a:p>
          <a:p>
            <a:pPr marL="18415" marR="2122805">
              <a:lnSpc>
                <a:spcPct val="173300"/>
              </a:lnSpc>
              <a:spcBef>
                <a:spcPts val="15"/>
              </a:spcBef>
            </a:pPr>
            <a:r>
              <a:rPr dirty="0" sz="1200" spc="-10">
                <a:latin typeface="Calibri"/>
                <a:cs typeface="Calibri"/>
              </a:rPr>
              <a:t>document.getElementB yId("merchant")</a:t>
            </a:r>
            <a:endParaRPr sz="1200">
              <a:latin typeface="Calibri"/>
              <a:cs typeface="Calibri"/>
            </a:endParaRPr>
          </a:p>
          <a:p>
            <a:pPr marL="18415" marR="2144395">
              <a:lnSpc>
                <a:spcPct val="173300"/>
              </a:lnSpc>
              <a:spcBef>
                <a:spcPts val="10"/>
              </a:spcBef>
            </a:pPr>
            <a:r>
              <a:rPr dirty="0" sz="1200" spc="-10">
                <a:latin typeface="Calibri"/>
                <a:cs typeface="Calibri"/>
              </a:rPr>
              <a:t>userSelect.innerHTML= </a:t>
            </a:r>
            <a:r>
              <a:rPr dirty="0" sz="1200" spc="-25">
                <a:latin typeface="Calibri"/>
                <a:cs typeface="Calibri"/>
              </a:rPr>
              <a:t>""</a:t>
            </a:r>
            <a:endParaRPr sz="1200">
              <a:latin typeface="Calibri"/>
              <a:cs typeface="Calibri"/>
            </a:endParaRPr>
          </a:p>
          <a:p>
            <a:pPr marL="18415" marR="2160270">
              <a:lnSpc>
                <a:spcPct val="174200"/>
              </a:lnSpc>
              <a:spcBef>
                <a:spcPts val="5"/>
              </a:spcBef>
            </a:pPr>
            <a:r>
              <a:rPr dirty="0" sz="1200" spc="-10">
                <a:latin typeface="Calibri"/>
                <a:cs typeface="Calibri"/>
              </a:rPr>
              <a:t>merchantSelect.innerH TML=""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users</a:t>
            </a:r>
            <a:endParaRPr sz="1200">
              <a:latin typeface="Calibri"/>
              <a:cs typeface="Calibri"/>
            </a:endParaRPr>
          </a:p>
          <a:p>
            <a:pPr marL="18415" marR="5080" indent="-6350">
              <a:lnSpc>
                <a:spcPct val="173300"/>
              </a:lnSpc>
              <a:spcBef>
                <a:spcPts val="10"/>
              </a:spcBef>
            </a:pPr>
            <a:r>
              <a:rPr dirty="0" sz="1200" spc="-10">
                <a:latin typeface="Calibri"/>
                <a:cs typeface="Calibri"/>
              </a:rPr>
              <a:t>usersData.forEach(u=&gt;{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userSelect.innerHTML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+=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`&lt;option value="${u.id}"&gt;${u.name}&lt;/option&gt;`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5615940" cy="825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window.onload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loadData</a:t>
            </a:r>
            <a:r>
              <a:rPr dirty="0" sz="1200">
                <a:latin typeface="Calibri"/>
                <a:cs typeface="Calibri"/>
              </a:rPr>
              <a:t> //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merchants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merchantsData.forEach(m=&gt;{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merchantSelect.innerHTML</a:t>
            </a:r>
            <a:r>
              <a:rPr dirty="0" sz="1200">
                <a:latin typeface="Calibri"/>
                <a:cs typeface="Calibri"/>
              </a:rPr>
              <a:t> +=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`&lt;option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value="${m.id}"&gt;${m.name}&lt;/option&gt;`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show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initial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balances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updateBalances()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10">
                <a:latin typeface="Calibri"/>
                <a:cs typeface="Calibri"/>
              </a:rPr>
              <a:t> updateBalances(){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userId </a:t>
            </a:r>
            <a:r>
              <a:rPr dirty="0" sz="1200" spc="-50">
                <a:latin typeface="Calibri"/>
                <a:cs typeface="Calibri"/>
              </a:rPr>
              <a:t>=</a:t>
            </a:r>
            <a:endParaRPr sz="1200">
              <a:latin typeface="Calibri"/>
              <a:cs typeface="Calibri"/>
            </a:endParaRPr>
          </a:p>
          <a:p>
            <a:pPr marL="18415" marR="2037080">
              <a:lnSpc>
                <a:spcPct val="173300"/>
              </a:lnSpc>
              <a:spcBef>
                <a:spcPts val="5"/>
              </a:spcBef>
            </a:pPr>
            <a:r>
              <a:rPr dirty="0" sz="1200" spc="-10">
                <a:latin typeface="Calibri"/>
                <a:cs typeface="Calibri"/>
              </a:rPr>
              <a:t>document.getElementById("user").value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let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merchantId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document.getElementById("merchant").value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let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usersData.find(u=&gt;u.id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== userId)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let</a:t>
            </a:r>
            <a:r>
              <a:rPr dirty="0" sz="1200" spc="-10">
                <a:latin typeface="Calibri"/>
                <a:cs typeface="Calibri"/>
              </a:rPr>
              <a:t> merchant </a:t>
            </a:r>
            <a:r>
              <a:rPr dirty="0" sz="1200" spc="-50">
                <a:latin typeface="Calibri"/>
                <a:cs typeface="Calibri"/>
              </a:rPr>
              <a:t>=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merchantsData.find(m=&gt;m.id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== </a:t>
            </a:r>
            <a:r>
              <a:rPr dirty="0" sz="1200" spc="-10">
                <a:latin typeface="Calibri"/>
                <a:cs typeface="Calibri"/>
              </a:rPr>
              <a:t>merchantId)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document.getElementById("userBalance").innerText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"User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Balance: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₹"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+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user.balance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document.getElementById("merchantBalance").innerText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"Shop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Balance: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₹"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+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merchant.balance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pay(){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userId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60">
                <a:latin typeface="Calibri"/>
                <a:cs typeface="Calibri"/>
              </a:rPr>
              <a:t>=</a:t>
            </a:r>
            <a:endParaRPr sz="1200">
              <a:latin typeface="Calibri"/>
              <a:cs typeface="Calibri"/>
            </a:endParaRPr>
          </a:p>
          <a:p>
            <a:pPr marL="18415" marR="1938020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document.getElementById("user").value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let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merchantId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document.getElementById("merchant").value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let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amount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document.getElementById("amount").value</a:t>
            </a:r>
            <a:r>
              <a:rPr dirty="0" sz="1200" spc="10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fetch("/pay",{ method:"POST",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headers:{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10">
                <a:latin typeface="Calibri"/>
                <a:cs typeface="Calibri"/>
              </a:rPr>
              <a:t>"Content-Type":"application/json"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25">
                <a:latin typeface="Calibri"/>
                <a:cs typeface="Calibri"/>
              </a:rPr>
              <a:t>},</a:t>
            </a:r>
            <a:endParaRPr sz="1200">
              <a:latin typeface="Calibri"/>
              <a:cs typeface="Calibri"/>
            </a:endParaRPr>
          </a:p>
          <a:p>
            <a:pPr marL="18415" marR="3406140" indent="-6350">
              <a:lnSpc>
                <a:spcPct val="173300"/>
              </a:lnSpc>
              <a:spcBef>
                <a:spcPts val="10"/>
              </a:spcBef>
            </a:pPr>
            <a:r>
              <a:rPr dirty="0" sz="1200" spc="-10">
                <a:latin typeface="Calibri"/>
                <a:cs typeface="Calibri"/>
              </a:rPr>
              <a:t>body:JSON.stringify({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userId:userId, merchantId:merchantId, amount:amount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3854450" cy="4654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.then(res=&gt;res.json())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.then(data=&gt;{</a:t>
            </a:r>
            <a:endParaRPr sz="1200">
              <a:latin typeface="Calibri"/>
              <a:cs typeface="Calibri"/>
            </a:endParaRPr>
          </a:p>
          <a:p>
            <a:pPr marL="18415" marR="5080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document.getElementById("result").innerText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data.message loadData()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window.onload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loadData</a:t>
            </a:r>
            <a:endParaRPr sz="1200">
              <a:latin typeface="Calibri"/>
              <a:cs typeface="Calibri"/>
            </a:endParaRPr>
          </a:p>
          <a:p>
            <a:pPr marL="18415" marR="2024380" indent="-6350">
              <a:lnSpc>
                <a:spcPct val="173300"/>
              </a:lnSpc>
              <a:spcBef>
                <a:spcPts val="15"/>
              </a:spcBef>
            </a:pPr>
            <a:r>
              <a:rPr dirty="0" sz="1200" b="1">
                <a:latin typeface="Calibri"/>
                <a:cs typeface="Calibri"/>
              </a:rPr>
              <a:t>SERVER.JS: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express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require("express")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db </a:t>
            </a:r>
            <a:r>
              <a:rPr dirty="0" sz="1200" spc="-50">
                <a:latin typeface="Calibri"/>
                <a:cs typeface="Calibri"/>
              </a:rPr>
              <a:t>=</a:t>
            </a:r>
            <a:endParaRPr sz="1200">
              <a:latin typeface="Calibri"/>
              <a:cs typeface="Calibri"/>
            </a:endParaRPr>
          </a:p>
          <a:p>
            <a:pPr marL="18415" marR="1569720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require("./db")</a:t>
            </a:r>
            <a:r>
              <a:rPr dirty="0" sz="1200">
                <a:latin typeface="Calibri"/>
                <a:cs typeface="Calibri"/>
              </a:rPr>
              <a:t> const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express() app.use(express.json())</a:t>
            </a:r>
            <a:endParaRPr sz="1200">
              <a:latin typeface="Calibri"/>
              <a:cs typeface="Calibri"/>
            </a:endParaRPr>
          </a:p>
          <a:p>
            <a:pPr marL="18415" marR="1653539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app.use(express.static(</a:t>
            </a:r>
            <a:r>
              <a:rPr dirty="0" u="sng" sz="1200" spc="18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1200" spc="-10">
                <a:latin typeface="Calibri"/>
                <a:cs typeface="Calibri"/>
              </a:rPr>
              <a:t>dirname)) </a:t>
            </a:r>
            <a:r>
              <a:rPr dirty="0" sz="1200">
                <a:latin typeface="Calibri"/>
                <a:cs typeface="Calibri"/>
              </a:rPr>
              <a:t>app.get("/",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(req,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res)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res.sendFile(</a:t>
            </a:r>
            <a:r>
              <a:rPr dirty="0" u="sng" sz="1200" spc="24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1200">
                <a:latin typeface="Calibri"/>
                <a:cs typeface="Calibri"/>
              </a:rPr>
              <a:t>dirname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+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"/index.html")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92860" y="5658992"/>
            <a:ext cx="19126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app.post("/pay",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(req,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res)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955163" y="5658992"/>
            <a:ext cx="89979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const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{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userId,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98956" y="5975984"/>
            <a:ext cx="20783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merchantId, </a:t>
            </a:r>
            <a:r>
              <a:rPr dirty="0" sz="1200">
                <a:latin typeface="Calibri"/>
                <a:cs typeface="Calibri"/>
              </a:rPr>
              <a:t>amount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}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req.body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127375" y="5975984"/>
            <a:ext cx="7461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const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amt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98956" y="6292977"/>
            <a:ext cx="2672080" cy="525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71270" algn="l"/>
              </a:tabLst>
            </a:pPr>
            <a:r>
              <a:rPr dirty="0" sz="1200" spc="-10">
                <a:latin typeface="Calibri"/>
                <a:cs typeface="Calibri"/>
              </a:rPr>
              <a:t>parseInt(amount)</a:t>
            </a:r>
            <a:r>
              <a:rPr dirty="0" sz="1200">
                <a:latin typeface="Calibri"/>
                <a:cs typeface="Calibri"/>
              </a:rPr>
              <a:t>	if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(!amt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||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amt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&lt;=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0)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res.json({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message: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"Enter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valid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amount"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804030" y="6292977"/>
            <a:ext cx="4159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return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98956" y="6926960"/>
            <a:ext cx="4839970" cy="2112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478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 marR="1812289" indent="132080">
              <a:lnSpc>
                <a:spcPct val="173300"/>
              </a:lnSpc>
              <a:spcBef>
                <a:spcPts val="15"/>
              </a:spcBef>
              <a:tabLst>
                <a:tab pos="2204085" algn="l"/>
              </a:tabLst>
            </a:pPr>
            <a:r>
              <a:rPr dirty="0" sz="1200" spc="-10">
                <a:latin typeface="Calibri"/>
                <a:cs typeface="Calibri"/>
              </a:rPr>
              <a:t>db.beginTransaction(err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if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(err)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return res.status(500).send("Transaction error")</a:t>
            </a:r>
            <a:endParaRPr sz="1200">
              <a:latin typeface="Calibri"/>
              <a:cs typeface="Calibri"/>
            </a:endParaRPr>
          </a:p>
          <a:p>
            <a:pPr marL="12700" marR="5080" indent="269240">
              <a:lnSpc>
                <a:spcPct val="173300"/>
              </a:lnSpc>
              <a:tabLst>
                <a:tab pos="1937385" algn="l"/>
                <a:tab pos="2366010" algn="l"/>
              </a:tabLst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1.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balance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db.query("SELECT </a:t>
            </a:r>
            <a:r>
              <a:rPr dirty="0" sz="1200">
                <a:latin typeface="Calibri"/>
                <a:cs typeface="Calibri"/>
              </a:rPr>
              <a:t>balance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WHERE </a:t>
            </a:r>
            <a:r>
              <a:rPr dirty="0" sz="1200">
                <a:latin typeface="Calibri"/>
                <a:cs typeface="Calibri"/>
              </a:rPr>
              <a:t>id=?",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[userId],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(err,</a:t>
            </a:r>
            <a:r>
              <a:rPr dirty="0" sz="1200" spc="-10">
                <a:latin typeface="Calibri"/>
                <a:cs typeface="Calibri"/>
              </a:rPr>
              <a:t> result)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	if (err ||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result.length</a:t>
            </a:r>
            <a:r>
              <a:rPr dirty="0" sz="1200">
                <a:latin typeface="Calibri"/>
                <a:cs typeface="Calibri"/>
              </a:rPr>
              <a:t> ===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0)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return </a:t>
            </a:r>
            <a:r>
              <a:rPr dirty="0" sz="1200" spc="-10">
                <a:latin typeface="Calibri"/>
                <a:cs typeface="Calibri"/>
              </a:rPr>
              <a:t>db.rollback(()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res.send("User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not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found"))</a:t>
            </a:r>
            <a:endParaRPr sz="1200">
              <a:latin typeface="Calibri"/>
              <a:cs typeface="Calibri"/>
            </a:endParaRPr>
          </a:p>
          <a:p>
            <a:pPr marL="421005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8956" y="895857"/>
            <a:ext cx="2578100" cy="527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59055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let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balance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result[0].balance</a:t>
            </a:r>
            <a:endParaRPr sz="1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065"/>
              </a:spcBef>
              <a:tabLst>
                <a:tab pos="1034415" algn="l"/>
              </a:tabLst>
            </a:pPr>
            <a:r>
              <a:rPr dirty="0" sz="1200">
                <a:latin typeface="Calibri"/>
                <a:cs typeface="Calibri"/>
              </a:rPr>
              <a:t>&lt;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amt)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return </a:t>
            </a:r>
            <a:r>
              <a:rPr dirty="0" sz="1200" spc="-10">
                <a:latin typeface="Calibri"/>
                <a:cs typeface="Calibri"/>
              </a:rPr>
              <a:t>db.rollback(()</a:t>
            </a:r>
            <a:r>
              <a:rPr dirty="0" sz="1200">
                <a:latin typeface="Calibri"/>
                <a:cs typeface="Calibri"/>
              </a:rPr>
              <a:t> =&gt;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551046" y="895857"/>
            <a:ext cx="667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if </a:t>
            </a:r>
            <a:r>
              <a:rPr dirty="0" sz="1200" spc="-10">
                <a:latin typeface="Calibri"/>
                <a:cs typeface="Calibri"/>
              </a:rPr>
              <a:t>(balance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98956" y="1529842"/>
            <a:ext cx="4826000" cy="7310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res.json({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message: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"Insufficient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Balance"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1200">
              <a:latin typeface="Calibri"/>
              <a:cs typeface="Calibri"/>
            </a:endParaRPr>
          </a:p>
          <a:p>
            <a:pPr marL="533400">
              <a:lnSpc>
                <a:spcPct val="100000"/>
              </a:lnSpc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 marL="396240">
              <a:lnSpc>
                <a:spcPct val="100000"/>
              </a:lnSpc>
              <a:spcBef>
                <a:spcPts val="107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15"/>
              </a:spcBef>
            </a:pPr>
            <a:endParaRPr sz="1200">
              <a:latin typeface="Calibri"/>
              <a:cs typeface="Calibri"/>
            </a:endParaRPr>
          </a:p>
          <a:p>
            <a:pPr marL="12700" marR="3014345" indent="408305">
              <a:lnSpc>
                <a:spcPct val="174400"/>
              </a:lnSpc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Deduct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user </a:t>
            </a:r>
            <a:r>
              <a:rPr dirty="0" sz="1200" spc="-10">
                <a:latin typeface="Calibri"/>
                <a:cs typeface="Calibri"/>
              </a:rPr>
              <a:t>db.query(</a:t>
            </a:r>
            <a:endParaRPr sz="1200">
              <a:latin typeface="Calibri"/>
              <a:cs typeface="Calibri"/>
            </a:endParaRPr>
          </a:p>
          <a:p>
            <a:pPr marL="558165" marR="871219" indent="1270">
              <a:lnSpc>
                <a:spcPct val="173300"/>
              </a:lnSpc>
            </a:pPr>
            <a:r>
              <a:rPr dirty="0" sz="1200" spc="-25">
                <a:latin typeface="Calibri"/>
                <a:cs typeface="Calibri"/>
              </a:rPr>
              <a:t>"UPDATE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balance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balance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-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?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id=?", </a:t>
            </a:r>
            <a:r>
              <a:rPr dirty="0" sz="1200">
                <a:latin typeface="Calibri"/>
                <a:cs typeface="Calibri"/>
              </a:rPr>
              <a:t>[amt,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userId],</a:t>
            </a:r>
            <a:endParaRPr sz="1200">
              <a:latin typeface="Calibri"/>
              <a:cs typeface="Calibri"/>
            </a:endParaRPr>
          </a:p>
          <a:p>
            <a:pPr marL="559435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(err)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73152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if</a:t>
            </a:r>
            <a:r>
              <a:rPr dirty="0" sz="1200" spc="-10">
                <a:latin typeface="Calibri"/>
                <a:cs typeface="Calibri"/>
              </a:rPr>
              <a:t> (err)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833755">
              <a:lnSpc>
                <a:spcPct val="100000"/>
              </a:lnSpc>
              <a:spcBef>
                <a:spcPts val="1060"/>
              </a:spcBef>
            </a:pPr>
            <a:r>
              <a:rPr dirty="0" sz="1200">
                <a:latin typeface="Calibri"/>
                <a:cs typeface="Calibri"/>
              </a:rPr>
              <a:t>return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db.rollback(()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res.send("Deduction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failed"))</a:t>
            </a:r>
            <a:endParaRPr sz="1200">
              <a:latin typeface="Calibri"/>
              <a:cs typeface="Calibri"/>
            </a:endParaRPr>
          </a:p>
          <a:p>
            <a:pPr marL="696595">
              <a:lnSpc>
                <a:spcPct val="100000"/>
              </a:lnSpc>
              <a:spcBef>
                <a:spcPts val="107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200">
              <a:latin typeface="Calibri"/>
              <a:cs typeface="Calibri"/>
            </a:endParaRPr>
          </a:p>
          <a:p>
            <a:pPr marL="696595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3.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merchant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10">
                <a:latin typeface="Calibri"/>
                <a:cs typeface="Calibri"/>
              </a:rPr>
              <a:t>db.query(</a:t>
            </a:r>
            <a:endParaRPr sz="1200">
              <a:latin typeface="Calibri"/>
              <a:cs typeface="Calibri"/>
            </a:endParaRPr>
          </a:p>
          <a:p>
            <a:pPr marL="833755" marR="240029" indent="1270">
              <a:lnSpc>
                <a:spcPts val="2510"/>
              </a:lnSpc>
              <a:spcBef>
                <a:spcPts val="245"/>
              </a:spcBef>
            </a:pPr>
            <a:r>
              <a:rPr dirty="0" sz="1200" spc="-25">
                <a:latin typeface="Calibri"/>
                <a:cs typeface="Calibri"/>
              </a:rPr>
              <a:t>"UPDATE</a:t>
            </a:r>
            <a:r>
              <a:rPr dirty="0" sz="1200" spc="-10">
                <a:latin typeface="Calibri"/>
                <a:cs typeface="Calibri"/>
              </a:rPr>
              <a:t> merchants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balance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balance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+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?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WHERE</a:t>
            </a:r>
            <a:r>
              <a:rPr dirty="0" sz="1200" spc="-10">
                <a:latin typeface="Calibri"/>
                <a:cs typeface="Calibri"/>
              </a:rPr>
              <a:t> id=?", </a:t>
            </a:r>
            <a:r>
              <a:rPr dirty="0" sz="1200">
                <a:latin typeface="Calibri"/>
                <a:cs typeface="Calibri"/>
              </a:rPr>
              <a:t>[amt,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merchantId],</a:t>
            </a:r>
            <a:endParaRPr sz="1200">
              <a:latin typeface="Calibri"/>
              <a:cs typeface="Calibri"/>
            </a:endParaRPr>
          </a:p>
          <a:p>
            <a:pPr marL="835025">
              <a:lnSpc>
                <a:spcPct val="100000"/>
              </a:lnSpc>
              <a:spcBef>
                <a:spcPts val="810"/>
              </a:spcBef>
            </a:pPr>
            <a:r>
              <a:rPr dirty="0" sz="1200">
                <a:latin typeface="Calibri"/>
                <a:cs typeface="Calibri"/>
              </a:rPr>
              <a:t>(err)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007744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if</a:t>
            </a:r>
            <a:r>
              <a:rPr dirty="0" sz="1200" spc="-10">
                <a:latin typeface="Calibri"/>
                <a:cs typeface="Calibri"/>
              </a:rPr>
              <a:t> (err)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109345">
              <a:lnSpc>
                <a:spcPct val="100000"/>
              </a:lnSpc>
              <a:spcBef>
                <a:spcPts val="1060"/>
              </a:spcBef>
            </a:pPr>
            <a:r>
              <a:rPr dirty="0" sz="1200">
                <a:latin typeface="Calibri"/>
                <a:cs typeface="Calibri"/>
              </a:rPr>
              <a:t>return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db.rollback(()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res.send("Merchant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update </a:t>
            </a:r>
            <a:r>
              <a:rPr dirty="0" sz="1200" spc="-10">
                <a:latin typeface="Calibri"/>
                <a:cs typeface="Calibri"/>
              </a:rPr>
              <a:t>failed"))</a:t>
            </a:r>
            <a:endParaRPr sz="1200">
              <a:latin typeface="Calibri"/>
              <a:cs typeface="Calibri"/>
            </a:endParaRPr>
          </a:p>
          <a:p>
            <a:pPr marL="972185">
              <a:lnSpc>
                <a:spcPct val="100000"/>
              </a:lnSpc>
              <a:spcBef>
                <a:spcPts val="106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8956" y="894333"/>
            <a:ext cx="4392295" cy="179641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1716405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4.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Commit</a:t>
            </a:r>
            <a:endParaRPr sz="1200">
              <a:latin typeface="Calibri"/>
              <a:cs typeface="Calibri"/>
            </a:endParaRPr>
          </a:p>
          <a:p>
            <a:pPr algn="r" marR="3202305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db.commit(err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Calibri"/>
              <a:cs typeface="Calibri"/>
            </a:endParaRPr>
          </a:p>
          <a:p>
            <a:pPr algn="ctr" marR="1739264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if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(err)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259205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return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db.rollback(()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res.send("Commit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failed"))</a:t>
            </a:r>
            <a:endParaRPr sz="1200">
              <a:latin typeface="Calibri"/>
              <a:cs typeface="Calibri"/>
            </a:endParaRPr>
          </a:p>
          <a:p>
            <a:pPr algn="r" marR="3250565">
              <a:lnSpc>
                <a:spcPct val="100000"/>
              </a:lnSpc>
              <a:spcBef>
                <a:spcPts val="106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92860" y="3138043"/>
            <a:ext cx="4011295" cy="5601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15695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res.json({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message: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"Payment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Successful</a:t>
            </a:r>
            <a:r>
              <a:rPr dirty="0" sz="1200" spc="3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"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 marL="978535">
              <a:lnSpc>
                <a:spcPct val="100000"/>
              </a:lnSpc>
              <a:spcBef>
                <a:spcPts val="944"/>
              </a:spcBef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 marL="841375">
              <a:lnSpc>
                <a:spcPct val="100000"/>
              </a:lnSpc>
              <a:spcBef>
                <a:spcPts val="107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702945">
              <a:lnSpc>
                <a:spcPct val="100000"/>
              </a:lnSpc>
              <a:spcBef>
                <a:spcPts val="1065"/>
              </a:spcBef>
            </a:pPr>
            <a:r>
              <a:rPr dirty="0" sz="1200" spc="-50">
                <a:latin typeface="Calibri"/>
                <a:cs typeface="Calibri"/>
              </a:rPr>
              <a:t>)</a:t>
            </a:r>
            <a:endParaRPr sz="1200">
              <a:latin typeface="Calibri"/>
              <a:cs typeface="Calibri"/>
            </a:endParaRPr>
          </a:p>
          <a:p>
            <a:pPr marL="565785">
              <a:lnSpc>
                <a:spcPct val="100000"/>
              </a:lnSpc>
              <a:spcBef>
                <a:spcPts val="107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42672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)</a:t>
            </a:r>
            <a:endParaRPr sz="1200">
              <a:latin typeface="Calibri"/>
              <a:cs typeface="Calibri"/>
            </a:endParaRPr>
          </a:p>
          <a:p>
            <a:pPr marL="289560">
              <a:lnSpc>
                <a:spcPct val="100000"/>
              </a:lnSpc>
              <a:spcBef>
                <a:spcPts val="1070"/>
              </a:spcBef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app.get("/balances",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(req,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res)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289560" marR="802005" indent="-139065">
              <a:lnSpc>
                <a:spcPts val="5010"/>
              </a:lnSpc>
              <a:spcBef>
                <a:spcPts val="755"/>
              </a:spcBef>
            </a:pPr>
            <a:r>
              <a:rPr dirty="0" sz="1200" spc="-10">
                <a:latin typeface="Calibri"/>
                <a:cs typeface="Calibri"/>
              </a:rPr>
              <a:t>db.query("SELECT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*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users",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(err,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users)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>
                <a:latin typeface="Calibri"/>
                <a:cs typeface="Calibri"/>
              </a:rPr>
              <a:t>if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(err)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return </a:t>
            </a:r>
            <a:r>
              <a:rPr dirty="0" sz="1200" spc="-10">
                <a:latin typeface="Calibri"/>
                <a:cs typeface="Calibri"/>
              </a:rPr>
              <a:t>res.send("Error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fetching users")</a:t>
            </a:r>
            <a:endParaRPr sz="1200">
              <a:latin typeface="Calibri"/>
              <a:cs typeface="Calibri"/>
            </a:endParaRPr>
          </a:p>
          <a:p>
            <a:pPr marL="426720" marR="5080" indent="-139065">
              <a:lnSpc>
                <a:spcPts val="5000"/>
              </a:lnSpc>
            </a:pPr>
            <a:r>
              <a:rPr dirty="0" sz="1200">
                <a:latin typeface="Calibri"/>
                <a:cs typeface="Calibri"/>
              </a:rPr>
              <a:t>db.query("SELECT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*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merchants",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(err,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merchants)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>
                <a:latin typeface="Calibri"/>
                <a:cs typeface="Calibri"/>
              </a:rPr>
              <a:t>if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(err)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return </a:t>
            </a:r>
            <a:r>
              <a:rPr dirty="0" sz="1200" spc="-10">
                <a:latin typeface="Calibri"/>
                <a:cs typeface="Calibri"/>
              </a:rPr>
              <a:t>res.send("Error fetching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merchants")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72286" y="894333"/>
            <a:ext cx="6026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res.json({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398522" y="894333"/>
            <a:ext cx="3930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users: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98956" y="1211326"/>
            <a:ext cx="3898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users,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814829" y="1211326"/>
            <a:ext cx="7200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merchants: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92860" y="1528318"/>
            <a:ext cx="687070" cy="1480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5715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merchants</a:t>
            </a:r>
            <a:endParaRPr sz="1200">
              <a:latin typeface="Calibri"/>
              <a:cs typeface="Calibri"/>
            </a:endParaRPr>
          </a:p>
          <a:p>
            <a:pPr marL="436245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 algn="ctr" marL="4445">
              <a:lnSpc>
                <a:spcPct val="100000"/>
              </a:lnSpc>
              <a:spcBef>
                <a:spcPts val="1065"/>
              </a:spcBef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 marL="160020">
              <a:lnSpc>
                <a:spcPct val="100000"/>
              </a:lnSpc>
              <a:spcBef>
                <a:spcPts val="1070"/>
              </a:spcBef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92860" y="3119755"/>
            <a:ext cx="1419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app.listen(3000,</a:t>
            </a:r>
            <a:r>
              <a:rPr dirty="0" sz="1200">
                <a:latin typeface="Calibri"/>
                <a:cs typeface="Calibri"/>
              </a:rPr>
              <a:t> ()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459863" y="3119755"/>
            <a:ext cx="1937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console.log("Server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running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92860" y="3436746"/>
            <a:ext cx="1459230" cy="843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  <a:hlinkClick r:id="rId2"/>
              </a:rPr>
              <a:t>http://localhost:3000</a:t>
            </a:r>
            <a:r>
              <a:rPr dirty="0" sz="1200" spc="-10">
                <a:latin typeface="Calibri"/>
                <a:cs typeface="Calibri"/>
              </a:rPr>
              <a:t>")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 b="1">
                <a:latin typeface="Calibri"/>
                <a:cs typeface="Calibri"/>
              </a:rPr>
              <a:t>OUTPUTS: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892860" y="8013954"/>
            <a:ext cx="5761990" cy="760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 marR="5080" indent="-6350">
              <a:lnSpc>
                <a:spcPct val="114199"/>
              </a:lnSpc>
              <a:spcBef>
                <a:spcPts val="100"/>
              </a:spcBef>
            </a:pPr>
            <a:r>
              <a:rPr dirty="0" sz="1200" spc="-25" b="1">
                <a:latin typeface="Calibri"/>
                <a:cs typeface="Calibri"/>
              </a:rPr>
              <a:t>RESULT: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system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successfully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performs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secure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payment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transactions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updating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balances accurately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COMMIT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success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0">
                <a:latin typeface="Calibri"/>
                <a:cs typeface="Calibri"/>
              </a:rPr>
              <a:t> ROLLBACK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failure.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20" b="1">
                <a:latin typeface="Calibri"/>
                <a:cs typeface="Calibri"/>
              </a:rPr>
              <a:t>TASK6: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Automated </a:t>
            </a:r>
            <a:r>
              <a:rPr dirty="0" sz="1200" b="1">
                <a:latin typeface="Calibri"/>
                <a:cs typeface="Calibri"/>
              </a:rPr>
              <a:t>Logging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using</a:t>
            </a:r>
            <a:r>
              <a:rPr dirty="0" sz="1200" spc="-20" b="1">
                <a:latin typeface="Calibri"/>
                <a:cs typeface="Calibri"/>
              </a:rPr>
              <a:t> Triggers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&amp;</a:t>
            </a:r>
            <a:r>
              <a:rPr dirty="0" sz="1200" spc="-20" b="1">
                <a:latin typeface="Calibri"/>
                <a:cs typeface="Calibri"/>
              </a:rPr>
              <a:t> Views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9960" y="4378452"/>
            <a:ext cx="5943599" cy="3589147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62329"/>
            <a:ext cx="5988685" cy="8305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8415" marR="5080" indent="-6350">
              <a:lnSpc>
                <a:spcPct val="117900"/>
              </a:lnSpc>
              <a:spcBef>
                <a:spcPts val="95"/>
              </a:spcBef>
            </a:pPr>
            <a:r>
              <a:rPr dirty="0" sz="1200" b="1">
                <a:latin typeface="Calibri"/>
                <a:cs typeface="Calibri"/>
              </a:rPr>
              <a:t>AIM:</a:t>
            </a:r>
            <a:r>
              <a:rPr dirty="0" sz="1200" spc="15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1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develop</a:t>
            </a:r>
            <a:r>
              <a:rPr dirty="0" sz="1200" spc="1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1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web-</a:t>
            </a:r>
            <a:r>
              <a:rPr dirty="0" sz="1200">
                <a:latin typeface="Calibri"/>
                <a:cs typeface="Calibri"/>
              </a:rPr>
              <a:t>based</a:t>
            </a:r>
            <a:r>
              <a:rPr dirty="0" sz="1200" spc="1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application</a:t>
            </a:r>
            <a:r>
              <a:rPr dirty="0" sz="1200" spc="1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1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automated</a:t>
            </a:r>
            <a:r>
              <a:rPr dirty="0" sz="1200" spc="1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logging</a:t>
            </a:r>
            <a:r>
              <a:rPr dirty="0" sz="1200" spc="1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1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database</a:t>
            </a:r>
            <a:r>
              <a:rPr dirty="0" sz="1200" spc="1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activities</a:t>
            </a:r>
            <a:r>
              <a:rPr dirty="0" sz="1200" spc="1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using </a:t>
            </a:r>
            <a:r>
              <a:rPr dirty="0" sz="1200">
                <a:latin typeface="Calibri"/>
                <a:cs typeface="Calibri"/>
              </a:rPr>
              <a:t>MySQL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triggers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views,</a:t>
            </a:r>
            <a:r>
              <a:rPr dirty="0" sz="1200" spc="-10">
                <a:latin typeface="Calibri"/>
                <a:cs typeface="Calibri"/>
              </a:rPr>
              <a:t> integrated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Node.js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backend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frontend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interface,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order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to </a:t>
            </a:r>
            <a:r>
              <a:rPr dirty="0" sz="1200">
                <a:latin typeface="Calibri"/>
                <a:cs typeface="Calibri"/>
              </a:rPr>
              <a:t>track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INSERT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UPDATE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operations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0">
                <a:latin typeface="Calibri"/>
                <a:cs typeface="Calibri"/>
              </a:rPr>
              <a:t> generate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daily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activity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reports.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 b="1">
                <a:latin typeface="Calibri"/>
                <a:cs typeface="Calibri"/>
              </a:rPr>
              <a:t>ALGORITHM: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Start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program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Create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database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required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tables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6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Create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triggers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INSERT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UPDATE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operations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Store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actions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table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automatically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Create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view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daily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activity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report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6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Develop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backend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Node.js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Express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Connect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backend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MySQL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database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Create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APIs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add,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update,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logs,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report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6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Design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frontend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HTML,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CSS,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JavaScript</a:t>
            </a:r>
            <a:endParaRPr sz="1200">
              <a:latin typeface="Calibri"/>
              <a:cs typeface="Calibri"/>
            </a:endParaRPr>
          </a:p>
          <a:p>
            <a:pPr marL="477520" indent="-227329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7520" algn="l"/>
              </a:tabLst>
            </a:pPr>
            <a:r>
              <a:rPr dirty="0" sz="1200">
                <a:latin typeface="Calibri"/>
                <a:cs typeface="Calibri"/>
              </a:rPr>
              <a:t>Run 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application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display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results</a:t>
            </a:r>
            <a:endParaRPr sz="1200">
              <a:latin typeface="Calibri"/>
              <a:cs typeface="Calibri"/>
            </a:endParaRPr>
          </a:p>
          <a:p>
            <a:pPr marL="477520" indent="-227329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7520" algn="l"/>
              </a:tabLst>
            </a:pPr>
            <a:r>
              <a:rPr dirty="0" sz="1200">
                <a:latin typeface="Calibri"/>
                <a:cs typeface="Calibri"/>
              </a:rPr>
              <a:t>Stop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program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10" b="1">
                <a:latin typeface="Calibri"/>
                <a:cs typeface="Calibri"/>
              </a:rPr>
              <a:t>PROGRAM: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 b="1">
                <a:latin typeface="Calibri"/>
                <a:cs typeface="Calibri"/>
              </a:rPr>
              <a:t>INDEX.HTML: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&lt;!DOCTYPE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html&gt;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&lt;html&gt;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&lt;head&gt;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&lt;title&gt;Employee </a:t>
            </a:r>
            <a:r>
              <a:rPr dirty="0" sz="1200">
                <a:latin typeface="Calibri"/>
                <a:cs typeface="Calibri"/>
              </a:rPr>
              <a:t>Audit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System&lt;/title&gt;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&lt;link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rel="stylesheet"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href="style.css"&gt;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&lt;/head&gt;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&lt;body&gt;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&lt;h2&gt;Employee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Management&lt;/h2&gt;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4353560" cy="81603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&lt;div </a:t>
            </a:r>
            <a:r>
              <a:rPr dirty="0" sz="1200" spc="-10">
                <a:latin typeface="Calibri"/>
                <a:cs typeface="Calibri"/>
              </a:rPr>
              <a:t>class="form"&gt;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&lt;input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type="number"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id="emp_id"</a:t>
            </a:r>
            <a:r>
              <a:rPr dirty="0" sz="1200" spc="-10">
                <a:latin typeface="Calibri"/>
                <a:cs typeface="Calibri"/>
              </a:rPr>
              <a:t> placeholder="Employee </a:t>
            </a:r>
            <a:r>
              <a:rPr dirty="0" sz="1200" spc="-20">
                <a:latin typeface="Calibri"/>
                <a:cs typeface="Calibri"/>
              </a:rPr>
              <a:t>ID"&gt;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&lt;input</a:t>
            </a:r>
            <a:r>
              <a:rPr dirty="0" sz="1200" spc="-10">
                <a:latin typeface="Calibri"/>
                <a:cs typeface="Calibri"/>
              </a:rPr>
              <a:t> type="text"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id="name"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placeholder="Name"&gt;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&lt;input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type="number"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id="salary"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placeholder="Salary"&gt;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&lt;button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onclick="addEmployee()"&gt;Add&lt;/button&gt;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&lt;/div&gt;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&lt;div </a:t>
            </a:r>
            <a:r>
              <a:rPr dirty="0" sz="1200" spc="-10">
                <a:latin typeface="Calibri"/>
                <a:cs typeface="Calibri"/>
              </a:rPr>
              <a:t>class="form"&gt;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&lt;input type="number" </a:t>
            </a:r>
            <a:r>
              <a:rPr dirty="0" sz="1200" spc="-10">
                <a:latin typeface="Calibri"/>
                <a:cs typeface="Calibri"/>
              </a:rPr>
              <a:t>id="update_id"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placeholder="Employee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ID"&gt;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&lt;input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type="number"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id="new_salary"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placeholder="New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Salary"&gt;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&lt;button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onclick="updateEmployee()"&gt;Update&lt;/button&gt;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&lt;/div&gt;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&lt;button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onclick="loadLogs()"&gt;View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Logs&lt;/button&gt;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&lt;button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onclick="loadReport()"&gt;View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Daily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Report&lt;/button&gt;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&lt;h3&gt;Output&lt;/h3&gt;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&lt;pre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id="output"&gt;&lt;/pre&gt;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&lt;script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src="script.js"&gt;&lt;/script&gt;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10">
                <a:latin typeface="Calibri"/>
                <a:cs typeface="Calibri"/>
              </a:rPr>
              <a:t>&lt;/body&gt;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&lt;/html&gt;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 b="1">
                <a:latin typeface="Calibri"/>
                <a:cs typeface="Calibri"/>
              </a:rPr>
              <a:t>STYLE.CSS:</a:t>
            </a:r>
            <a:r>
              <a:rPr dirty="0" sz="1200" spc="1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body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8415" marR="3235325">
              <a:lnSpc>
                <a:spcPct val="173300"/>
              </a:lnSpc>
              <a:spcBef>
                <a:spcPts val="5"/>
              </a:spcBef>
            </a:pPr>
            <a:r>
              <a:rPr dirty="0" sz="1200" spc="-25">
                <a:latin typeface="Calibri"/>
                <a:cs typeface="Calibri"/>
              </a:rPr>
              <a:t>font-</a:t>
            </a:r>
            <a:r>
              <a:rPr dirty="0" sz="1200">
                <a:latin typeface="Calibri"/>
                <a:cs typeface="Calibri"/>
              </a:rPr>
              <a:t>family: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Arial; </a:t>
            </a:r>
            <a:r>
              <a:rPr dirty="0" sz="1200" spc="-25">
                <a:latin typeface="Calibri"/>
                <a:cs typeface="Calibri"/>
              </a:rPr>
              <a:t>text-</a:t>
            </a:r>
            <a:r>
              <a:rPr dirty="0" sz="1200">
                <a:latin typeface="Calibri"/>
                <a:cs typeface="Calibri"/>
              </a:rPr>
              <a:t>align: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center;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background:</a:t>
            </a:r>
            <a:r>
              <a:rPr dirty="0" sz="1200" spc="-7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#f4f4f4;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.form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margin: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15px;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1424305" cy="4651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560705" indent="-6350">
              <a:lnSpc>
                <a:spcPct val="173300"/>
              </a:lnSpc>
              <a:spcBef>
                <a:spcPts val="10"/>
              </a:spcBef>
            </a:pPr>
            <a:r>
              <a:rPr dirty="0" sz="1200">
                <a:latin typeface="Calibri"/>
                <a:cs typeface="Calibri"/>
              </a:rPr>
              <a:t>input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>
                <a:latin typeface="Calibri"/>
                <a:cs typeface="Calibri"/>
              </a:rPr>
              <a:t>padding: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8px; </a:t>
            </a:r>
            <a:r>
              <a:rPr dirty="0" sz="1200">
                <a:latin typeface="Calibri"/>
                <a:cs typeface="Calibri"/>
              </a:rPr>
              <a:t>margin: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5px;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191135" indent="-6350">
              <a:lnSpc>
                <a:spcPct val="173300"/>
              </a:lnSpc>
              <a:spcBef>
                <a:spcPts val="15"/>
              </a:spcBef>
              <a:tabLst>
                <a:tab pos="682625" algn="l"/>
              </a:tabLst>
            </a:pPr>
            <a:r>
              <a:rPr dirty="0" sz="1200" spc="-10">
                <a:latin typeface="Calibri"/>
                <a:cs typeface="Calibri"/>
              </a:rPr>
              <a:t>button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padding: </a:t>
            </a:r>
            <a:r>
              <a:rPr dirty="0" sz="1200">
                <a:latin typeface="Calibri"/>
                <a:cs typeface="Calibri"/>
              </a:rPr>
              <a:t>8px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15px;</a:t>
            </a:r>
            <a:endParaRPr sz="1200">
              <a:latin typeface="Calibri"/>
              <a:cs typeface="Calibri"/>
            </a:endParaRPr>
          </a:p>
          <a:p>
            <a:pPr marL="18415" marR="280670">
              <a:lnSpc>
                <a:spcPct val="173300"/>
              </a:lnSpc>
              <a:spcBef>
                <a:spcPts val="5"/>
              </a:spcBef>
            </a:pPr>
            <a:r>
              <a:rPr dirty="0" sz="1200">
                <a:latin typeface="Calibri"/>
                <a:cs typeface="Calibri"/>
              </a:rPr>
              <a:t>background:</a:t>
            </a:r>
            <a:r>
              <a:rPr dirty="0" sz="1200" spc="-7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blue; </a:t>
            </a:r>
            <a:r>
              <a:rPr dirty="0" sz="1200">
                <a:latin typeface="Calibri"/>
                <a:cs typeface="Calibri"/>
              </a:rPr>
              <a:t>color: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white;</a:t>
            </a:r>
            <a:endParaRPr sz="1200">
              <a:latin typeface="Calibri"/>
              <a:cs typeface="Calibri"/>
            </a:endParaRPr>
          </a:p>
          <a:p>
            <a:pPr marL="18415" marR="439420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border: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none; </a:t>
            </a:r>
            <a:r>
              <a:rPr dirty="0" sz="1200">
                <a:latin typeface="Calibri"/>
                <a:cs typeface="Calibri"/>
              </a:rPr>
              <a:t>cursor: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pointer;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button:hover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60"/>
              </a:spcBef>
            </a:pPr>
            <a:r>
              <a:rPr dirty="0" sz="1200">
                <a:latin typeface="Calibri"/>
                <a:cs typeface="Calibri"/>
              </a:rPr>
              <a:t>background:</a:t>
            </a:r>
            <a:r>
              <a:rPr dirty="0" sz="1200" spc="-7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darkblue;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92860" y="5655945"/>
            <a:ext cx="315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pre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354582" y="5655945"/>
            <a:ext cx="7975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background: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98956" y="5972936"/>
            <a:ext cx="4152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white;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462786" y="5972936"/>
            <a:ext cx="5657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padding: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92860" y="6289928"/>
            <a:ext cx="5336540" cy="2429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  <a:tabLst>
                <a:tab pos="530225" algn="l"/>
              </a:tabLst>
            </a:pPr>
            <a:r>
              <a:rPr dirty="0" sz="1200" spc="-10">
                <a:latin typeface="Calibri"/>
                <a:cs typeface="Calibri"/>
              </a:rPr>
              <a:t>10px;</a:t>
            </a:r>
            <a:r>
              <a:rPr dirty="0" sz="1200">
                <a:latin typeface="Calibri"/>
                <a:cs typeface="Calibri"/>
              </a:rPr>
              <a:t>	width: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60%;</a:t>
            </a:r>
            <a:endParaRPr sz="1200">
              <a:latin typeface="Calibri"/>
              <a:cs typeface="Calibri"/>
            </a:endParaRPr>
          </a:p>
          <a:p>
            <a:pPr marL="18415" marR="4022725">
              <a:lnSpc>
                <a:spcPct val="173300"/>
              </a:lnSpc>
              <a:tabLst>
                <a:tab pos="1024255" algn="l"/>
              </a:tabLst>
            </a:pPr>
            <a:r>
              <a:rPr dirty="0" sz="1200">
                <a:latin typeface="Calibri"/>
                <a:cs typeface="Calibri"/>
              </a:rPr>
              <a:t>margin: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auto;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30">
                <a:latin typeface="Calibri"/>
                <a:cs typeface="Calibri"/>
              </a:rPr>
              <a:t>text- </a:t>
            </a:r>
            <a:r>
              <a:rPr dirty="0" sz="1200">
                <a:latin typeface="Calibri"/>
                <a:cs typeface="Calibri"/>
              </a:rPr>
              <a:t>align: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left;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 b="1">
                <a:latin typeface="Calibri"/>
                <a:cs typeface="Calibri"/>
              </a:rPr>
              <a:t>SCRIPT.JS:</a:t>
            </a:r>
            <a:endParaRPr sz="1200">
              <a:latin typeface="Calibri"/>
              <a:cs typeface="Calibri"/>
            </a:endParaRPr>
          </a:p>
          <a:p>
            <a:pPr marL="151130" marR="5080" indent="-139065">
              <a:lnSpc>
                <a:spcPct val="173300"/>
              </a:lnSpc>
              <a:tabLst>
                <a:tab pos="1295400" algn="l"/>
              </a:tabLst>
            </a:pP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10">
                <a:latin typeface="Calibri"/>
                <a:cs typeface="Calibri"/>
              </a:rPr>
              <a:t> BASE_URL </a:t>
            </a:r>
            <a:r>
              <a:rPr dirty="0" sz="120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  <a:hlinkClick r:id="rId2"/>
              </a:rPr>
              <a:t>"http://localhost:3000</a:t>
            </a:r>
            <a:r>
              <a:rPr dirty="0" sz="1200" spc="-10">
                <a:latin typeface="Calibri"/>
                <a:cs typeface="Calibri"/>
              </a:rPr>
              <a:t>";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// Add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Employee</a:t>
            </a:r>
            <a:r>
              <a:rPr dirty="0" sz="1200">
                <a:latin typeface="Calibri"/>
                <a:cs typeface="Calibri"/>
              </a:rPr>
              <a:t> function</a:t>
            </a:r>
            <a:r>
              <a:rPr dirty="0" sz="1200" spc="-10">
                <a:latin typeface="Calibri"/>
                <a:cs typeface="Calibri"/>
              </a:rPr>
              <a:t> addEmployee()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emp_id: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  <a:tabLst>
                <a:tab pos="3063875" algn="l"/>
              </a:tabLst>
            </a:pPr>
            <a:r>
              <a:rPr dirty="0" sz="1200" spc="-10">
                <a:latin typeface="Calibri"/>
                <a:cs typeface="Calibri"/>
              </a:rPr>
              <a:t>document.getElementById("emp_id").value,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name: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8956" y="894333"/>
            <a:ext cx="26422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document.getElementById("name").value,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826890" y="894333"/>
            <a:ext cx="4279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salary: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92860" y="1211326"/>
            <a:ext cx="3942079" cy="3705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document.getElementById("salary").value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};</a:t>
            </a:r>
            <a:endParaRPr sz="1200">
              <a:latin typeface="Calibri"/>
              <a:cs typeface="Calibri"/>
            </a:endParaRPr>
          </a:p>
          <a:p>
            <a:pPr marL="18415" marR="763270" indent="132080">
              <a:lnSpc>
                <a:spcPct val="173800"/>
              </a:lnSpc>
              <a:spcBef>
                <a:spcPts val="15"/>
              </a:spcBef>
              <a:tabLst>
                <a:tab pos="2124710" algn="l"/>
              </a:tabLst>
            </a:pPr>
            <a:r>
              <a:rPr dirty="0" sz="1200" spc="-10">
                <a:latin typeface="Calibri"/>
                <a:cs typeface="Calibri"/>
              </a:rPr>
              <a:t>fetch(`${BASE_URL}/add`,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method: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"POST", </a:t>
            </a:r>
            <a:r>
              <a:rPr dirty="0" sz="1200">
                <a:latin typeface="Calibri"/>
                <a:cs typeface="Calibri"/>
              </a:rPr>
              <a:t>headers: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{ </a:t>
            </a:r>
            <a:r>
              <a:rPr dirty="0" sz="1200" spc="-10">
                <a:latin typeface="Calibri"/>
                <a:cs typeface="Calibri"/>
              </a:rPr>
              <a:t>"Content-Type":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"application/json"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}, </a:t>
            </a:r>
            <a:r>
              <a:rPr dirty="0" sz="1200">
                <a:latin typeface="Calibri"/>
                <a:cs typeface="Calibri"/>
              </a:rPr>
              <a:t>body:</a:t>
            </a:r>
            <a:r>
              <a:rPr dirty="0" sz="1200" spc="-10">
                <a:latin typeface="Calibri"/>
                <a:cs typeface="Calibri"/>
              </a:rPr>
              <a:t> JSON.stringify(data)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60"/>
              </a:spcBef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.then(res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res.text())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.then(data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alert(data));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5080" indent="-6350">
              <a:lnSpc>
                <a:spcPct val="173300"/>
              </a:lnSpc>
              <a:spcBef>
                <a:spcPts val="10"/>
              </a:spcBef>
              <a:tabLst>
                <a:tab pos="3088005" algn="l"/>
                <a:tab pos="3243580" algn="l"/>
              </a:tabLst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Update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Employee </a:t>
            </a: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updateEmployee()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	const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document.getElementById("update_id").value;</a:t>
            </a:r>
            <a:r>
              <a:rPr dirty="0" sz="1200">
                <a:latin typeface="Calibri"/>
                <a:cs typeface="Calibri"/>
              </a:rPr>
              <a:t>	const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salary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document.getElementById("new_salary").value;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98956" y="5342001"/>
            <a:ext cx="2393950" cy="525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24765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fetch(`${BASE_URL}/update/${id}`,</a:t>
            </a:r>
            <a:r>
              <a:rPr dirty="0" sz="1200" spc="8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  <a:spcBef>
                <a:spcPts val="1055"/>
              </a:spcBef>
              <a:tabLst>
                <a:tab pos="721995" algn="l"/>
              </a:tabLst>
            </a:pPr>
            <a:r>
              <a:rPr dirty="0" sz="1200" spc="-10">
                <a:latin typeface="Calibri"/>
                <a:cs typeface="Calibri"/>
              </a:rPr>
              <a:t>"PUT",</a:t>
            </a:r>
            <a:r>
              <a:rPr dirty="0" sz="1200">
                <a:latin typeface="Calibri"/>
                <a:cs typeface="Calibri"/>
              </a:rPr>
              <a:t>	headers: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{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"Content-Type":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558666" y="5342001"/>
            <a:ext cx="5556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method: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92860" y="5975984"/>
            <a:ext cx="2918460" cy="27527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  <a:tabLst>
                <a:tab pos="1570355" algn="l"/>
              </a:tabLst>
            </a:pPr>
            <a:r>
              <a:rPr dirty="0" sz="1200" spc="-10">
                <a:latin typeface="Calibri"/>
                <a:cs typeface="Calibri"/>
              </a:rPr>
              <a:t>"application/json"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},</a:t>
            </a:r>
            <a:r>
              <a:rPr dirty="0" sz="1200">
                <a:latin typeface="Calibri"/>
                <a:cs typeface="Calibri"/>
              </a:rPr>
              <a:t>	body:</a:t>
            </a:r>
            <a:r>
              <a:rPr dirty="0" sz="1200" spc="-10">
                <a:latin typeface="Calibri"/>
                <a:cs typeface="Calibri"/>
              </a:rPr>
              <a:t> JSON.stringify({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salary </a:t>
            </a: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.then(res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res.text())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.then(data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alert(data));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1586230" indent="-6350">
              <a:lnSpc>
                <a:spcPct val="173300"/>
              </a:lnSpc>
              <a:spcBef>
                <a:spcPts val="10"/>
              </a:spcBef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Load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Logs</a:t>
            </a:r>
            <a:r>
              <a:rPr dirty="0" sz="1200" spc="-10">
                <a:latin typeface="Calibri"/>
                <a:cs typeface="Calibri"/>
              </a:rPr>
              <a:t> function loadLogs()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60"/>
              </a:spcBef>
            </a:pPr>
            <a:r>
              <a:rPr dirty="0" sz="1200" spc="-10">
                <a:latin typeface="Calibri"/>
                <a:cs typeface="Calibri"/>
              </a:rPr>
              <a:t>fetch(`${BASE_URL}/logs`)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3042285" cy="82638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1130">
              <a:lnSpc>
                <a:spcPct val="100000"/>
              </a:lnSpc>
              <a:spcBef>
                <a:spcPts val="100"/>
              </a:spcBef>
              <a:tabLst>
                <a:tab pos="1719580" algn="l"/>
              </a:tabLst>
            </a:pPr>
            <a:r>
              <a:rPr dirty="0" sz="1200" spc="-10">
                <a:latin typeface="Calibri"/>
                <a:cs typeface="Calibri"/>
              </a:rPr>
              <a:t>.then(res </a:t>
            </a:r>
            <a:r>
              <a:rPr dirty="0" sz="1200">
                <a:latin typeface="Calibri"/>
                <a:cs typeface="Calibri"/>
              </a:rPr>
              <a:t>=&gt; </a:t>
            </a:r>
            <a:r>
              <a:rPr dirty="0" sz="1200" spc="-10">
                <a:latin typeface="Calibri"/>
                <a:cs typeface="Calibri"/>
              </a:rPr>
              <a:t>res.json())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.then(data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426720" marR="5080" indent="-408940">
              <a:lnSpc>
                <a:spcPts val="2510"/>
              </a:lnSpc>
              <a:spcBef>
                <a:spcPts val="245"/>
              </a:spcBef>
            </a:pPr>
            <a:r>
              <a:rPr dirty="0" sz="1200" spc="-10">
                <a:latin typeface="Calibri"/>
                <a:cs typeface="Calibri"/>
              </a:rPr>
              <a:t>document.getElementById("output").innerText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JSON.stringify(data,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null,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2);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805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1565910" indent="-6350">
              <a:lnSpc>
                <a:spcPct val="173300"/>
              </a:lnSpc>
              <a:spcBef>
                <a:spcPts val="10"/>
              </a:spcBef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Load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Report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function </a:t>
            </a:r>
            <a:r>
              <a:rPr dirty="0" sz="1200">
                <a:latin typeface="Calibri"/>
                <a:cs typeface="Calibri"/>
              </a:rPr>
              <a:t>loadReport()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60"/>
              </a:spcBef>
            </a:pPr>
            <a:r>
              <a:rPr dirty="0" sz="1200" spc="-10">
                <a:latin typeface="Calibri"/>
                <a:cs typeface="Calibri"/>
              </a:rPr>
              <a:t>fetch(`${BASE_URL}/report`)</a:t>
            </a:r>
            <a:endParaRPr sz="1200">
              <a:latin typeface="Calibri"/>
              <a:cs typeface="Calibri"/>
            </a:endParaRPr>
          </a:p>
          <a:p>
            <a:pPr marL="18415" marR="5080" indent="132080">
              <a:lnSpc>
                <a:spcPct val="173300"/>
              </a:lnSpc>
              <a:tabLst>
                <a:tab pos="1719580" algn="l"/>
              </a:tabLst>
            </a:pPr>
            <a:r>
              <a:rPr dirty="0" sz="1200" spc="-10">
                <a:latin typeface="Calibri"/>
                <a:cs typeface="Calibri"/>
              </a:rPr>
              <a:t>.then(res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res.json())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.then(data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 spc="-10">
                <a:latin typeface="Calibri"/>
                <a:cs typeface="Calibri"/>
              </a:rPr>
              <a:t>document.getElementById("output").innerText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</a:t>
            </a:r>
            <a:endParaRPr sz="1200">
              <a:latin typeface="Calibri"/>
              <a:cs typeface="Calibri"/>
            </a:endParaRPr>
          </a:p>
          <a:p>
            <a:pPr marL="42672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JSON.stringify(data,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null,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2);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10" b="1">
                <a:latin typeface="Calibri"/>
                <a:cs typeface="Calibri"/>
              </a:rPr>
              <a:t>DB.JS:</a:t>
            </a:r>
            <a:endParaRPr sz="1200">
              <a:latin typeface="Calibri"/>
              <a:cs typeface="Calibri"/>
            </a:endParaRPr>
          </a:p>
          <a:p>
            <a:pPr marL="18415" marR="691515" indent="-6350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mysql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require('mysql2');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const </a:t>
            </a:r>
            <a:r>
              <a:rPr dirty="0" sz="1200">
                <a:latin typeface="Calibri"/>
                <a:cs typeface="Calibri"/>
              </a:rPr>
              <a:t>db =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mysql.createConnection({</a:t>
            </a:r>
            <a:endParaRPr sz="1200">
              <a:latin typeface="Calibri"/>
              <a:cs typeface="Calibri"/>
            </a:endParaRPr>
          </a:p>
          <a:p>
            <a:pPr marL="18415" marR="1877060" indent="132080">
              <a:lnSpc>
                <a:spcPct val="174200"/>
              </a:lnSpc>
            </a:pPr>
            <a:r>
              <a:rPr dirty="0" sz="1200">
                <a:latin typeface="Calibri"/>
                <a:cs typeface="Calibri"/>
              </a:rPr>
              <a:t>host: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'localhost', </a:t>
            </a:r>
            <a:r>
              <a:rPr dirty="0" sz="1200">
                <a:latin typeface="Calibri"/>
                <a:cs typeface="Calibri"/>
              </a:rPr>
              <a:t>user: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'root',</a:t>
            </a:r>
            <a:endParaRPr sz="1200">
              <a:latin typeface="Calibri"/>
              <a:cs typeface="Calibri"/>
            </a:endParaRPr>
          </a:p>
          <a:p>
            <a:pPr marL="18415" marR="1754505">
              <a:lnSpc>
                <a:spcPct val="172500"/>
              </a:lnSpc>
              <a:spcBef>
                <a:spcPts val="25"/>
              </a:spcBef>
            </a:pPr>
            <a:r>
              <a:rPr dirty="0" sz="1200">
                <a:latin typeface="Calibri"/>
                <a:cs typeface="Calibri"/>
              </a:rPr>
              <a:t>password:</a:t>
            </a:r>
            <a:r>
              <a:rPr dirty="0" sz="1200" spc="-7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'fahi', </a:t>
            </a:r>
            <a:r>
              <a:rPr dirty="0" sz="1200">
                <a:latin typeface="Calibri"/>
                <a:cs typeface="Calibri"/>
              </a:rPr>
              <a:t>database:</a:t>
            </a:r>
            <a:r>
              <a:rPr dirty="0" sz="1200" spc="-7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'audit_db'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51130" marR="1738630" indent="-139065">
              <a:lnSpc>
                <a:spcPct val="174200"/>
              </a:lnSpc>
            </a:pPr>
            <a:r>
              <a:rPr dirty="0" sz="1200" spc="-10">
                <a:latin typeface="Calibri"/>
                <a:cs typeface="Calibri"/>
              </a:rPr>
              <a:t>db.connect((err)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>
                <a:latin typeface="Calibri"/>
                <a:cs typeface="Calibri"/>
              </a:rPr>
              <a:t>if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(err)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console.error('DB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Connection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Failed:',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err);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}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else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28956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console.log('Connected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MySQL');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2027555" cy="8458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181991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algn="r" marR="1872614">
              <a:lnSpc>
                <a:spcPct val="100000"/>
              </a:lnSpc>
              <a:spcBef>
                <a:spcPts val="1065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module.exports</a:t>
            </a:r>
            <a:r>
              <a:rPr dirty="0" sz="1200">
                <a:latin typeface="Calibri"/>
                <a:cs typeface="Calibri"/>
              </a:rPr>
              <a:t> =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db;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OUTPUTS: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92860" y="5838825"/>
            <a:ext cx="5799455" cy="3191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 marR="142875" indent="-6350">
              <a:lnSpc>
                <a:spcPct val="114199"/>
              </a:lnSpc>
              <a:spcBef>
                <a:spcPts val="100"/>
              </a:spcBef>
            </a:pPr>
            <a:r>
              <a:rPr dirty="0" sz="1200" spc="-25" b="1">
                <a:latin typeface="Calibri"/>
                <a:cs typeface="Calibri"/>
              </a:rPr>
              <a:t>RESULT: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system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successfully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logs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INSERT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UPDATE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operations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automatically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using </a:t>
            </a:r>
            <a:r>
              <a:rPr dirty="0" sz="1200">
                <a:latin typeface="Calibri"/>
                <a:cs typeface="Calibri"/>
              </a:rPr>
              <a:t>triggers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displays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daily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activity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reports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through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web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interface.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20" b="1">
                <a:latin typeface="Calibri"/>
                <a:cs typeface="Calibri"/>
              </a:rPr>
              <a:t>TASK7: </a:t>
            </a:r>
            <a:r>
              <a:rPr dirty="0" sz="1200" spc="-10" b="1">
                <a:latin typeface="Calibri"/>
                <a:cs typeface="Calibri"/>
              </a:rPr>
              <a:t>Interactive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Web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Form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with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Events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&amp;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Functions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200">
              <a:latin typeface="Calibri"/>
              <a:cs typeface="Calibri"/>
            </a:endParaRPr>
          </a:p>
          <a:p>
            <a:pPr marL="18415" marR="5080" indent="-6350">
              <a:lnSpc>
                <a:spcPct val="113500"/>
              </a:lnSpc>
            </a:pPr>
            <a:r>
              <a:rPr dirty="0" sz="1200" b="1">
                <a:latin typeface="Calibri"/>
                <a:cs typeface="Calibri"/>
              </a:rPr>
              <a:t>AIM: </a:t>
            </a:r>
            <a:r>
              <a:rPr dirty="0" sz="1200" spc="-6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develop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interactive web-</a:t>
            </a:r>
            <a:r>
              <a:rPr dirty="0" sz="1200">
                <a:latin typeface="Calibri"/>
                <a:cs typeface="Calibri"/>
              </a:rPr>
              <a:t>based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feedback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form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10">
                <a:latin typeface="Calibri"/>
                <a:cs typeface="Calibri"/>
              </a:rPr>
              <a:t> real-</a:t>
            </a:r>
            <a:r>
              <a:rPr dirty="0" sz="1200">
                <a:latin typeface="Calibri"/>
                <a:cs typeface="Calibri"/>
              </a:rPr>
              <a:t>time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validation, </a:t>
            </a:r>
            <a:r>
              <a:rPr dirty="0" sz="1200">
                <a:latin typeface="Calibri"/>
                <a:cs typeface="Calibri"/>
              </a:rPr>
              <a:t>UI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effects,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backend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storage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HTML,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CSS,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JavaScript,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Node.js.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 b="1">
                <a:latin typeface="Calibri"/>
                <a:cs typeface="Calibri"/>
              </a:rPr>
              <a:t>ALGORITHM:</a:t>
            </a:r>
            <a:endParaRPr sz="1200">
              <a:latin typeface="Calibri"/>
              <a:cs typeface="Calibri"/>
            </a:endParaRPr>
          </a:p>
          <a:p>
            <a:pPr marL="250825" indent="-229235">
              <a:lnSpc>
                <a:spcPct val="100000"/>
              </a:lnSpc>
              <a:spcBef>
                <a:spcPts val="1060"/>
              </a:spcBef>
              <a:buAutoNum type="arabicPeriod"/>
              <a:tabLst>
                <a:tab pos="250825" algn="l"/>
              </a:tabLst>
            </a:pPr>
            <a:r>
              <a:rPr dirty="0" sz="1200">
                <a:latin typeface="Calibri"/>
                <a:cs typeface="Calibri"/>
              </a:rPr>
              <a:t>Start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program</a:t>
            </a:r>
            <a:endParaRPr sz="1200">
              <a:latin typeface="Calibri"/>
              <a:cs typeface="Calibri"/>
            </a:endParaRPr>
          </a:p>
          <a:p>
            <a:pPr marL="250825" indent="-229235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250825" algn="l"/>
              </a:tabLst>
            </a:pPr>
            <a:r>
              <a:rPr dirty="0" sz="1200">
                <a:latin typeface="Calibri"/>
                <a:cs typeface="Calibri"/>
              </a:rPr>
              <a:t>Create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project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(HTML,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CSS,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JS,</a:t>
            </a:r>
            <a:r>
              <a:rPr dirty="0" sz="1200" spc="-20">
                <a:latin typeface="Calibri"/>
                <a:cs typeface="Calibri"/>
              </a:rPr>
              <a:t> server.js,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db.js)</a:t>
            </a:r>
            <a:endParaRPr sz="1200">
              <a:latin typeface="Calibri"/>
              <a:cs typeface="Calibri"/>
            </a:endParaRPr>
          </a:p>
          <a:p>
            <a:pPr marL="250825" indent="-229235">
              <a:lnSpc>
                <a:spcPct val="100000"/>
              </a:lnSpc>
              <a:spcBef>
                <a:spcPts val="1065"/>
              </a:spcBef>
              <a:buAutoNum type="arabicPeriod"/>
              <a:tabLst>
                <a:tab pos="250825" algn="l"/>
              </a:tabLst>
            </a:pPr>
            <a:r>
              <a:rPr dirty="0" sz="1200">
                <a:latin typeface="Calibri"/>
                <a:cs typeface="Calibri"/>
              </a:rPr>
              <a:t>Design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feedback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form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input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fields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(name,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email,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message)</a:t>
            </a:r>
            <a:endParaRPr sz="1200">
              <a:latin typeface="Calibri"/>
              <a:cs typeface="Calibri"/>
            </a:endParaRPr>
          </a:p>
          <a:p>
            <a:pPr marL="250825" indent="-229235">
              <a:lnSpc>
                <a:spcPct val="100000"/>
              </a:lnSpc>
              <a:spcBef>
                <a:spcPts val="1060"/>
              </a:spcBef>
              <a:buAutoNum type="arabicPeriod"/>
              <a:tabLst>
                <a:tab pos="250825" algn="l"/>
              </a:tabLst>
            </a:pPr>
            <a:r>
              <a:rPr dirty="0" sz="1200">
                <a:latin typeface="Calibri"/>
                <a:cs typeface="Calibri"/>
              </a:rPr>
              <a:t>Apply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CSS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styling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layout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visual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effects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9960" y="1868423"/>
            <a:ext cx="5943599" cy="3609086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4994910" cy="8155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0825" indent="-229235">
              <a:lnSpc>
                <a:spcPct val="100000"/>
              </a:lnSpc>
              <a:spcBef>
                <a:spcPts val="100"/>
              </a:spcBef>
              <a:buAutoNum type="arabicPeriod" startAt="5"/>
              <a:tabLst>
                <a:tab pos="250825" algn="l"/>
              </a:tabLst>
            </a:pPr>
            <a:r>
              <a:rPr dirty="0" sz="1200">
                <a:latin typeface="Calibri"/>
                <a:cs typeface="Calibri"/>
              </a:rPr>
              <a:t>Define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reusable validation </a:t>
            </a:r>
            <a:r>
              <a:rPr dirty="0" sz="1200">
                <a:latin typeface="Calibri"/>
                <a:cs typeface="Calibri"/>
              </a:rPr>
              <a:t>functions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0">
                <a:latin typeface="Calibri"/>
                <a:cs typeface="Calibri"/>
              </a:rPr>
              <a:t> JavaScript</a:t>
            </a:r>
            <a:endParaRPr sz="1200">
              <a:latin typeface="Calibri"/>
              <a:cs typeface="Calibri"/>
            </a:endParaRPr>
          </a:p>
          <a:p>
            <a:pPr marL="250825" indent="-229235">
              <a:lnSpc>
                <a:spcPct val="100000"/>
              </a:lnSpc>
              <a:spcBef>
                <a:spcPts val="1055"/>
              </a:spcBef>
              <a:buAutoNum type="arabicPeriod" startAt="5"/>
              <a:tabLst>
                <a:tab pos="250825" algn="l"/>
              </a:tabLst>
            </a:pPr>
            <a:r>
              <a:rPr dirty="0" sz="1200">
                <a:latin typeface="Calibri"/>
                <a:cs typeface="Calibri"/>
              </a:rPr>
              <a:t>Capture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input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DOM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elements</a:t>
            </a:r>
            <a:endParaRPr sz="1200">
              <a:latin typeface="Calibri"/>
              <a:cs typeface="Calibri"/>
            </a:endParaRPr>
          </a:p>
          <a:p>
            <a:pPr marL="250825" indent="-229235">
              <a:lnSpc>
                <a:spcPct val="100000"/>
              </a:lnSpc>
              <a:spcBef>
                <a:spcPts val="1070"/>
              </a:spcBef>
              <a:buAutoNum type="arabicPeriod" startAt="5"/>
              <a:tabLst>
                <a:tab pos="250825" algn="l"/>
              </a:tabLst>
            </a:pPr>
            <a:r>
              <a:rPr dirty="0" sz="1200">
                <a:latin typeface="Calibri"/>
                <a:cs typeface="Calibri"/>
              </a:rPr>
              <a:t>Apply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keyup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event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real-</a:t>
            </a:r>
            <a:r>
              <a:rPr dirty="0" sz="1200">
                <a:latin typeface="Calibri"/>
                <a:cs typeface="Calibri"/>
              </a:rPr>
              <a:t>time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validation</a:t>
            </a:r>
            <a:endParaRPr sz="1200">
              <a:latin typeface="Calibri"/>
              <a:cs typeface="Calibri"/>
            </a:endParaRPr>
          </a:p>
          <a:p>
            <a:pPr marL="250825" indent="-229235">
              <a:lnSpc>
                <a:spcPct val="100000"/>
              </a:lnSpc>
              <a:spcBef>
                <a:spcPts val="1055"/>
              </a:spcBef>
              <a:buAutoNum type="arabicPeriod" startAt="5"/>
              <a:tabLst>
                <a:tab pos="250825" algn="l"/>
              </a:tabLst>
            </a:pPr>
            <a:r>
              <a:rPr dirty="0" sz="1200">
                <a:latin typeface="Calibri"/>
                <a:cs typeface="Calibri"/>
              </a:rPr>
              <a:t>Add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hover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effect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highlight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input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fields</a:t>
            </a:r>
            <a:endParaRPr sz="1200">
              <a:latin typeface="Calibri"/>
              <a:cs typeface="Calibri"/>
            </a:endParaRPr>
          </a:p>
          <a:p>
            <a:pPr marL="250825" indent="-229235">
              <a:lnSpc>
                <a:spcPct val="100000"/>
              </a:lnSpc>
              <a:spcBef>
                <a:spcPts val="1065"/>
              </a:spcBef>
              <a:buAutoNum type="arabicPeriod" startAt="5"/>
              <a:tabLst>
                <a:tab pos="250825" algn="l"/>
              </a:tabLst>
            </a:pPr>
            <a:r>
              <a:rPr dirty="0" sz="1200">
                <a:latin typeface="Calibri"/>
                <a:cs typeface="Calibri"/>
              </a:rPr>
              <a:t>Implement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double-</a:t>
            </a: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event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submit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button</a:t>
            </a:r>
            <a:endParaRPr sz="1200">
              <a:latin typeface="Calibri"/>
              <a:cs typeface="Calibri"/>
            </a:endParaRPr>
          </a:p>
          <a:p>
            <a:pPr marL="248920" indent="-227329">
              <a:lnSpc>
                <a:spcPct val="100000"/>
              </a:lnSpc>
              <a:spcBef>
                <a:spcPts val="1060"/>
              </a:spcBef>
              <a:buAutoNum type="arabicPeriod" startAt="5"/>
              <a:tabLst>
                <a:tab pos="248920" algn="l"/>
              </a:tabLst>
            </a:pPr>
            <a:r>
              <a:rPr dirty="0" sz="1200" spc="-10">
                <a:latin typeface="Calibri"/>
                <a:cs typeface="Calibri"/>
              </a:rPr>
              <a:t>Validate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fields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before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submission</a:t>
            </a:r>
            <a:endParaRPr sz="1200">
              <a:latin typeface="Calibri"/>
              <a:cs typeface="Calibri"/>
            </a:endParaRPr>
          </a:p>
          <a:p>
            <a:pPr marL="248920" indent="-227329">
              <a:lnSpc>
                <a:spcPct val="100000"/>
              </a:lnSpc>
              <a:spcBef>
                <a:spcPts val="1065"/>
              </a:spcBef>
              <a:buAutoNum type="arabicPeriod" startAt="5"/>
              <a:tabLst>
                <a:tab pos="248920" algn="l"/>
              </a:tabLst>
            </a:pPr>
            <a:r>
              <a:rPr dirty="0" sz="1200">
                <a:latin typeface="Calibri"/>
                <a:cs typeface="Calibri"/>
              </a:rPr>
              <a:t>Send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fetch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API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(POST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request)</a:t>
            </a:r>
            <a:endParaRPr sz="1200">
              <a:latin typeface="Calibri"/>
              <a:cs typeface="Calibri"/>
            </a:endParaRPr>
          </a:p>
          <a:p>
            <a:pPr marL="248920" indent="-227329">
              <a:lnSpc>
                <a:spcPct val="100000"/>
              </a:lnSpc>
              <a:spcBef>
                <a:spcPts val="1060"/>
              </a:spcBef>
              <a:buAutoNum type="arabicPeriod" startAt="5"/>
              <a:tabLst>
                <a:tab pos="248920" algn="l"/>
              </a:tabLst>
            </a:pPr>
            <a:r>
              <a:rPr dirty="0" sz="1200">
                <a:latin typeface="Calibri"/>
                <a:cs typeface="Calibri"/>
              </a:rPr>
              <a:t>Store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database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module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display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success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message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 b="1">
                <a:latin typeface="Calibri"/>
                <a:cs typeface="Calibri"/>
              </a:rPr>
              <a:t>PROGRAM: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 b="1">
                <a:latin typeface="Calibri"/>
                <a:cs typeface="Calibri"/>
              </a:rPr>
              <a:t>INDEX.HTML: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&lt;!DOCTYPE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html&gt;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&lt;html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lang="en"&gt;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&lt;head&gt;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60"/>
              </a:spcBef>
            </a:pPr>
            <a:r>
              <a:rPr dirty="0" sz="1200" spc="-10">
                <a:latin typeface="Calibri"/>
                <a:cs typeface="Calibri"/>
              </a:rPr>
              <a:t>&lt;title&gt;Feedback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Form&lt;/title&gt;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&lt;link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rel="stylesheet"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href="style.css"&gt;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&lt;/head&gt;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&lt;body&gt;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&lt;div </a:t>
            </a:r>
            <a:r>
              <a:rPr dirty="0" sz="1200" spc="-10">
                <a:latin typeface="Calibri"/>
                <a:cs typeface="Calibri"/>
              </a:rPr>
              <a:t>class="container"&gt;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225"/>
              </a:spcBef>
            </a:pPr>
            <a:r>
              <a:rPr dirty="0" sz="1200">
                <a:latin typeface="Calibri"/>
                <a:cs typeface="Calibri"/>
              </a:rPr>
              <a:t>&lt;h2&gt;</a:t>
            </a:r>
            <a:r>
              <a:rPr dirty="0" sz="1200" spc="2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Customer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Feedback&lt;/h2&gt;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950"/>
              </a:spcBef>
            </a:pPr>
            <a:r>
              <a:rPr dirty="0" sz="1200">
                <a:latin typeface="Calibri"/>
                <a:cs typeface="Calibri"/>
              </a:rPr>
              <a:t>&lt;form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id="feedbackForm"&gt;</a:t>
            </a:r>
            <a:endParaRPr sz="1200">
              <a:latin typeface="Calibri"/>
              <a:cs typeface="Calibri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&lt;input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type="text" </a:t>
            </a:r>
            <a:r>
              <a:rPr dirty="0" sz="1200">
                <a:latin typeface="Calibri"/>
                <a:cs typeface="Calibri"/>
              </a:rPr>
              <a:t>id="name"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placeholder="Your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Name"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required&gt;</a:t>
            </a:r>
            <a:endParaRPr sz="1200">
              <a:latin typeface="Calibri"/>
              <a:cs typeface="Calibri"/>
            </a:endParaRPr>
          </a:p>
          <a:p>
            <a:pPr marL="28956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&lt;span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class="error"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id="nameError"&gt;&lt;/span&gt;</a:t>
            </a:r>
            <a:endParaRPr sz="1200">
              <a:latin typeface="Calibri"/>
              <a:cs typeface="Calibri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&lt;input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type="email"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id="email"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placeholder="Your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Email"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required&gt;</a:t>
            </a:r>
            <a:endParaRPr sz="1200">
              <a:latin typeface="Calibri"/>
              <a:cs typeface="Calibri"/>
            </a:endParaRPr>
          </a:p>
          <a:p>
            <a:pPr marL="28956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&lt;span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class="error"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id="emailError"&gt;&lt;/span&gt;</a:t>
            </a:r>
            <a:endParaRPr sz="1200">
              <a:latin typeface="Calibri"/>
              <a:cs typeface="Calibri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&lt;textarea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id="message"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placeholder="Your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Feedback"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required&gt;&lt;/textarea&gt;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3843020" cy="825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956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&lt;span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class="error"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id="msgError"&gt;&lt;/span&gt;</a:t>
            </a:r>
            <a:endParaRPr sz="1200">
              <a:latin typeface="Calibri"/>
              <a:cs typeface="Calibri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&lt;button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type="button"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id="submitBtn"&gt;Submit&lt;/button&gt;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&lt;/form&gt;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&lt;p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id="successMsg"&gt;&lt;/p&gt;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&lt;/div&gt;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10">
                <a:latin typeface="Calibri"/>
                <a:cs typeface="Calibri"/>
              </a:rPr>
              <a:t>&lt;script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src="script.js"&gt;&lt;/script&gt;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&lt;/body&gt;</a:t>
            </a:r>
            <a:endParaRPr sz="1200">
              <a:latin typeface="Calibri"/>
              <a:cs typeface="Calibri"/>
            </a:endParaRPr>
          </a:p>
          <a:p>
            <a:pPr marL="18415" marR="274320" indent="-6350">
              <a:lnSpc>
                <a:spcPct val="174200"/>
              </a:lnSpc>
              <a:spcBef>
                <a:spcPts val="5"/>
              </a:spcBef>
              <a:tabLst>
                <a:tab pos="502284" algn="l"/>
                <a:tab pos="1811020" algn="l"/>
              </a:tabLst>
            </a:pPr>
            <a:r>
              <a:rPr dirty="0" sz="1200">
                <a:latin typeface="Calibri"/>
                <a:cs typeface="Calibri"/>
              </a:rPr>
              <a:t>&lt;/html&gt;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STYLE.CSS: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body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6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20">
                <a:latin typeface="Calibri"/>
                <a:cs typeface="Calibri"/>
              </a:rPr>
              <a:t>font-</a:t>
            </a:r>
            <a:r>
              <a:rPr dirty="0" sz="1200">
                <a:latin typeface="Calibri"/>
                <a:cs typeface="Calibri"/>
              </a:rPr>
              <a:t>family: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'Segoe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UI',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sans- serif;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background: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linear-gradient(135deg,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#1f1c2c,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#928dab);</a:t>
            </a:r>
            <a:endParaRPr sz="1200">
              <a:latin typeface="Calibri"/>
              <a:cs typeface="Calibri"/>
            </a:endParaRPr>
          </a:p>
          <a:p>
            <a:pPr algn="just" marL="18415" marR="2311400" indent="132080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display: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flex;</a:t>
            </a:r>
            <a:r>
              <a:rPr dirty="0" sz="1200" spc="370">
                <a:latin typeface="Calibri"/>
                <a:cs typeface="Calibri"/>
              </a:rPr>
              <a:t>  </a:t>
            </a:r>
            <a:r>
              <a:rPr dirty="0" sz="1200" spc="-10">
                <a:latin typeface="Calibri"/>
                <a:cs typeface="Calibri"/>
              </a:rPr>
              <a:t>justify- content: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center;</a:t>
            </a:r>
            <a:r>
              <a:rPr dirty="0" sz="1200" spc="390">
                <a:latin typeface="Calibri"/>
                <a:cs typeface="Calibri"/>
              </a:rPr>
              <a:t>  </a:t>
            </a:r>
            <a:r>
              <a:rPr dirty="0" sz="1200" spc="-10">
                <a:latin typeface="Calibri"/>
                <a:cs typeface="Calibri"/>
              </a:rPr>
              <a:t>align- </a:t>
            </a:r>
            <a:r>
              <a:rPr dirty="0" sz="1200">
                <a:latin typeface="Calibri"/>
                <a:cs typeface="Calibri"/>
              </a:rPr>
              <a:t>items: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center;</a:t>
            </a:r>
            <a:r>
              <a:rPr dirty="0" sz="1200" spc="370">
                <a:latin typeface="Calibri"/>
                <a:cs typeface="Calibri"/>
              </a:rPr>
              <a:t>  </a:t>
            </a:r>
            <a:r>
              <a:rPr dirty="0" sz="1200" spc="-10">
                <a:latin typeface="Calibri"/>
                <a:cs typeface="Calibri"/>
              </a:rPr>
              <a:t>height:</a:t>
            </a:r>
            <a:endParaRPr sz="1200">
              <a:latin typeface="Calibri"/>
              <a:cs typeface="Calibri"/>
            </a:endParaRPr>
          </a:p>
          <a:p>
            <a:pPr algn="just" marL="18415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100vh;</a:t>
            </a:r>
            <a:r>
              <a:rPr dirty="0" sz="1200" spc="380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color: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white;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1184275" indent="-6350">
              <a:lnSpc>
                <a:spcPct val="173300"/>
              </a:lnSpc>
              <a:tabLst>
                <a:tab pos="775335" algn="l"/>
                <a:tab pos="894080" algn="l"/>
                <a:tab pos="982344" algn="l"/>
                <a:tab pos="1036955" algn="l"/>
                <a:tab pos="1859280" algn="l"/>
              </a:tabLst>
            </a:pPr>
            <a:r>
              <a:rPr dirty="0" sz="1200">
                <a:latin typeface="Calibri"/>
                <a:cs typeface="Calibri"/>
              </a:rPr>
              <a:t>.container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	background: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rgba(255,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255, </a:t>
            </a:r>
            <a:r>
              <a:rPr dirty="0" sz="1200">
                <a:latin typeface="Calibri"/>
                <a:cs typeface="Calibri"/>
              </a:rPr>
              <a:t>255,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0.1);</a:t>
            </a:r>
            <a:r>
              <a:rPr dirty="0" sz="1200">
                <a:latin typeface="Calibri"/>
                <a:cs typeface="Calibri"/>
              </a:rPr>
              <a:t>	padding: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25px;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border- </a:t>
            </a:r>
            <a:r>
              <a:rPr dirty="0" sz="1200">
                <a:latin typeface="Calibri"/>
                <a:cs typeface="Calibri"/>
              </a:rPr>
              <a:t>radius: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15px;</a:t>
            </a:r>
            <a:r>
              <a:rPr dirty="0" sz="1200">
                <a:latin typeface="Calibri"/>
                <a:cs typeface="Calibri"/>
              </a:rPr>
              <a:t>		</a:t>
            </a:r>
            <a:r>
              <a:rPr dirty="0" sz="1200" spc="-10">
                <a:latin typeface="Calibri"/>
                <a:cs typeface="Calibri"/>
              </a:rPr>
              <a:t>backdrop-</a:t>
            </a:r>
            <a:r>
              <a:rPr dirty="0" sz="1200">
                <a:latin typeface="Calibri"/>
                <a:cs typeface="Calibri"/>
              </a:rPr>
              <a:t>filter: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blur(10px); </a:t>
            </a:r>
            <a:r>
              <a:rPr dirty="0" sz="1200">
                <a:latin typeface="Calibri"/>
                <a:cs typeface="Calibri"/>
              </a:rPr>
              <a:t>width: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320px;</a:t>
            </a:r>
            <a:r>
              <a:rPr dirty="0" sz="1200">
                <a:latin typeface="Calibri"/>
                <a:cs typeface="Calibri"/>
              </a:rPr>
              <a:t>			</a:t>
            </a:r>
            <a:r>
              <a:rPr dirty="0" sz="1200" spc="-30">
                <a:latin typeface="Calibri"/>
                <a:cs typeface="Calibri"/>
              </a:rPr>
              <a:t>box-</a:t>
            </a:r>
            <a:r>
              <a:rPr dirty="0" sz="1200" spc="-10">
                <a:latin typeface="Calibri"/>
                <a:cs typeface="Calibri"/>
              </a:rPr>
              <a:t>shadow: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0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10px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25px </a:t>
            </a:r>
            <a:r>
              <a:rPr dirty="0" sz="1200" spc="-10">
                <a:latin typeface="Calibri"/>
                <a:cs typeface="Calibri"/>
              </a:rPr>
              <a:t>rgba(0,0,0,0.3);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2791460" indent="-6350">
              <a:lnSpc>
                <a:spcPct val="173300"/>
              </a:lnSpc>
              <a:spcBef>
                <a:spcPts val="10"/>
              </a:spcBef>
              <a:tabLst>
                <a:tab pos="424815" algn="l"/>
              </a:tabLst>
            </a:pPr>
            <a:r>
              <a:rPr dirty="0" sz="1200">
                <a:latin typeface="Calibri"/>
                <a:cs typeface="Calibri"/>
              </a:rPr>
              <a:t>h2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25">
                <a:latin typeface="Calibri"/>
                <a:cs typeface="Calibri"/>
              </a:rPr>
              <a:t>text-</a:t>
            </a:r>
            <a:r>
              <a:rPr dirty="0" sz="1200" spc="-10">
                <a:latin typeface="Calibri"/>
                <a:cs typeface="Calibri"/>
              </a:rPr>
              <a:t>align: center;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2828290" indent="-6350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input,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textarea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>
                <a:latin typeface="Calibri"/>
                <a:cs typeface="Calibri"/>
              </a:rPr>
              <a:t>width: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100%;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2388870" cy="81419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padding: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10px;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margin: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8px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0;</a:t>
            </a:r>
            <a:endParaRPr sz="1200">
              <a:latin typeface="Calibri"/>
              <a:cs typeface="Calibri"/>
            </a:endParaRPr>
          </a:p>
          <a:p>
            <a:pPr marL="18415" marR="1184910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border-</a:t>
            </a:r>
            <a:r>
              <a:rPr dirty="0" sz="1200">
                <a:latin typeface="Calibri"/>
                <a:cs typeface="Calibri"/>
              </a:rPr>
              <a:t>radius: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8px; </a:t>
            </a:r>
            <a:r>
              <a:rPr dirty="0" sz="1200">
                <a:latin typeface="Calibri"/>
                <a:cs typeface="Calibri"/>
              </a:rPr>
              <a:t>border: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none; </a:t>
            </a:r>
            <a:r>
              <a:rPr dirty="0" sz="1200">
                <a:latin typeface="Calibri"/>
                <a:cs typeface="Calibri"/>
              </a:rPr>
              <a:t>outline: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none; transition: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0.3s;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input:hover,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textarea:hover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8415" marR="5080">
              <a:lnSpc>
                <a:spcPct val="173300"/>
              </a:lnSpc>
              <a:tabLst>
                <a:tab pos="1587500" algn="l"/>
              </a:tabLst>
            </a:pPr>
            <a:r>
              <a:rPr dirty="0" sz="1200" spc="-10">
                <a:latin typeface="Calibri"/>
                <a:cs typeface="Calibri"/>
              </a:rPr>
              <a:t>transform: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scale(1.05);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25">
                <a:latin typeface="Calibri"/>
                <a:cs typeface="Calibri"/>
              </a:rPr>
              <a:t>box-</a:t>
            </a:r>
            <a:r>
              <a:rPr dirty="0" sz="1200" spc="-10">
                <a:latin typeface="Calibri"/>
                <a:cs typeface="Calibri"/>
              </a:rPr>
              <a:t>shadow: </a:t>
            </a:r>
            <a:r>
              <a:rPr dirty="0" sz="1200">
                <a:latin typeface="Calibri"/>
                <a:cs typeface="Calibri"/>
              </a:rPr>
              <a:t>0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0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8px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#00f7ff;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button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8415" marR="1417955" indent="132080">
              <a:lnSpc>
                <a:spcPct val="173300"/>
              </a:lnSpc>
              <a:spcBef>
                <a:spcPts val="15"/>
              </a:spcBef>
            </a:pPr>
            <a:r>
              <a:rPr dirty="0" sz="1200">
                <a:latin typeface="Calibri"/>
                <a:cs typeface="Calibri"/>
              </a:rPr>
              <a:t>width: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100%; </a:t>
            </a:r>
            <a:r>
              <a:rPr dirty="0" sz="1200">
                <a:latin typeface="Calibri"/>
                <a:cs typeface="Calibri"/>
              </a:rPr>
              <a:t>padding: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10px;</a:t>
            </a:r>
            <a:endParaRPr sz="1200">
              <a:latin typeface="Calibri"/>
              <a:cs typeface="Calibri"/>
            </a:endParaRPr>
          </a:p>
          <a:p>
            <a:pPr marL="18415" marR="873760">
              <a:lnSpc>
                <a:spcPct val="173300"/>
              </a:lnSpc>
              <a:tabLst>
                <a:tab pos="508000" algn="l"/>
                <a:tab pos="581025" algn="l"/>
                <a:tab pos="982344" algn="l"/>
                <a:tab pos="1042669" algn="l"/>
              </a:tabLst>
            </a:pPr>
            <a:r>
              <a:rPr dirty="0" sz="1200">
                <a:latin typeface="Calibri"/>
                <a:cs typeface="Calibri"/>
              </a:rPr>
              <a:t>background:</a:t>
            </a:r>
            <a:r>
              <a:rPr dirty="0" sz="1200" spc="-7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#00c6ff; </a:t>
            </a:r>
            <a:r>
              <a:rPr dirty="0" sz="1200">
                <a:latin typeface="Calibri"/>
                <a:cs typeface="Calibri"/>
              </a:rPr>
              <a:t>border: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none;</a:t>
            </a:r>
            <a:r>
              <a:rPr dirty="0" sz="1200">
                <a:latin typeface="Calibri"/>
                <a:cs typeface="Calibri"/>
              </a:rPr>
              <a:t>		</a:t>
            </a:r>
            <a:r>
              <a:rPr dirty="0" sz="1200" spc="-10">
                <a:latin typeface="Calibri"/>
                <a:cs typeface="Calibri"/>
              </a:rPr>
              <a:t>border- </a:t>
            </a:r>
            <a:r>
              <a:rPr dirty="0" sz="1200">
                <a:latin typeface="Calibri"/>
                <a:cs typeface="Calibri"/>
              </a:rPr>
              <a:t>radius: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10px;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color: white;</a:t>
            </a:r>
            <a:r>
              <a:rPr dirty="0" sz="1200">
                <a:latin typeface="Calibri"/>
                <a:cs typeface="Calibri"/>
              </a:rPr>
              <a:t>		</a:t>
            </a:r>
            <a:r>
              <a:rPr dirty="0" sz="1200" spc="-25">
                <a:latin typeface="Calibri"/>
                <a:cs typeface="Calibri"/>
              </a:rPr>
              <a:t>font-</a:t>
            </a:r>
            <a:r>
              <a:rPr dirty="0" sz="1200" spc="-10">
                <a:latin typeface="Calibri"/>
                <a:cs typeface="Calibri"/>
              </a:rPr>
              <a:t>weight: bold;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cursor: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pointer;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10">
                <a:latin typeface="Calibri"/>
                <a:cs typeface="Calibri"/>
              </a:rPr>
              <a:t>button:hover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background:</a:t>
            </a:r>
            <a:r>
              <a:rPr dirty="0" sz="1200" spc="-7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#0072ff;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  <a:tabLst>
                <a:tab pos="746125" algn="l"/>
              </a:tabLst>
            </a:pPr>
            <a:r>
              <a:rPr dirty="0" sz="1200">
                <a:latin typeface="Calibri"/>
                <a:cs typeface="Calibri"/>
              </a:rPr>
              <a:t>.error</a:t>
            </a:r>
            <a:r>
              <a:rPr dirty="0" sz="1200" spc="15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color:</a:t>
            </a:r>
            <a:endParaRPr sz="1200">
              <a:latin typeface="Calibri"/>
              <a:cs typeface="Calibri"/>
            </a:endParaRPr>
          </a:p>
          <a:p>
            <a:pPr marL="18415" marR="1282065">
              <a:lnSpc>
                <a:spcPct val="173300"/>
              </a:lnSpc>
              <a:tabLst>
                <a:tab pos="802005" algn="l"/>
              </a:tabLst>
            </a:pPr>
            <a:r>
              <a:rPr dirty="0" sz="1200" spc="-10">
                <a:latin typeface="Calibri"/>
                <a:cs typeface="Calibri"/>
              </a:rPr>
              <a:t>#ff6b6b;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25">
                <a:latin typeface="Calibri"/>
                <a:cs typeface="Calibri"/>
              </a:rPr>
              <a:t>font- </a:t>
            </a:r>
            <a:r>
              <a:rPr dirty="0" sz="1200">
                <a:latin typeface="Calibri"/>
                <a:cs typeface="Calibri"/>
              </a:rPr>
              <a:t>size: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12px;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1254125" cy="843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#successMsg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 spc="-25">
                <a:latin typeface="Calibri"/>
                <a:cs typeface="Calibri"/>
              </a:rPr>
              <a:t>text-</a:t>
            </a:r>
            <a:r>
              <a:rPr dirty="0" sz="1200">
                <a:latin typeface="Calibri"/>
                <a:cs typeface="Calibri"/>
              </a:rPr>
              <a:t>align: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center;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98956" y="1846833"/>
            <a:ext cx="11296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margin-</a:t>
            </a:r>
            <a:r>
              <a:rPr dirty="0" sz="1200">
                <a:latin typeface="Calibri"/>
                <a:cs typeface="Calibri"/>
              </a:rPr>
              <a:t>top: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10px;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175103" y="1846833"/>
            <a:ext cx="3771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color: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92860" y="2163826"/>
            <a:ext cx="4467225" cy="6878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#00ffae;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 b="1">
                <a:latin typeface="Calibri"/>
                <a:cs typeface="Calibri"/>
              </a:rPr>
              <a:t>SCRIPT.JS:</a:t>
            </a:r>
            <a:endParaRPr sz="1200">
              <a:latin typeface="Calibri"/>
              <a:cs typeface="Calibri"/>
            </a:endParaRPr>
          </a:p>
          <a:p>
            <a:pPr marL="18415" marR="631190" indent="-6350">
              <a:lnSpc>
                <a:spcPct val="173300"/>
              </a:lnSpc>
              <a:spcBef>
                <a:spcPts val="20"/>
              </a:spcBef>
            </a:pP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nameInput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document.getElementById("name");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const </a:t>
            </a:r>
            <a:r>
              <a:rPr dirty="0" sz="1200">
                <a:latin typeface="Calibri"/>
                <a:cs typeface="Calibri"/>
              </a:rPr>
              <a:t>emailInput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document.getElementById("email");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const</a:t>
            </a:r>
            <a:endParaRPr sz="1200">
              <a:latin typeface="Calibri"/>
              <a:cs typeface="Calibri"/>
            </a:endParaRPr>
          </a:p>
          <a:p>
            <a:pPr marL="18415" marR="620395">
              <a:lnSpc>
                <a:spcPct val="173700"/>
              </a:lnSpc>
              <a:spcBef>
                <a:spcPts val="5"/>
              </a:spcBef>
              <a:tabLst>
                <a:tab pos="1770380" algn="l"/>
              </a:tabLst>
            </a:pPr>
            <a:r>
              <a:rPr dirty="0" sz="1200">
                <a:latin typeface="Calibri"/>
                <a:cs typeface="Calibri"/>
              </a:rPr>
              <a:t>messageInput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document.getElementById("message");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const </a:t>
            </a:r>
            <a:r>
              <a:rPr dirty="0" sz="1200">
                <a:latin typeface="Calibri"/>
                <a:cs typeface="Calibri"/>
              </a:rPr>
              <a:t>submitBtn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document.getElementById("submitBtn");</a:t>
            </a:r>
            <a:r>
              <a:rPr dirty="0" sz="1200" spc="5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validateName()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if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(nameInput.value.length</a:t>
            </a:r>
            <a:r>
              <a:rPr dirty="0" sz="1200">
                <a:latin typeface="Calibri"/>
                <a:cs typeface="Calibri"/>
              </a:rPr>
              <a:t> &lt;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3)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 spc="-10">
                <a:latin typeface="Calibri"/>
                <a:cs typeface="Calibri"/>
              </a:rPr>
              <a:t>document.getElementById("nameError").innerText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"Min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3 </a:t>
            </a:r>
            <a:r>
              <a:rPr dirty="0" sz="1200" spc="-10">
                <a:latin typeface="Calibri"/>
                <a:cs typeface="Calibri"/>
              </a:rPr>
              <a:t>characters";</a:t>
            </a:r>
            <a:endParaRPr sz="1200">
              <a:latin typeface="Calibri"/>
              <a:cs typeface="Calibri"/>
            </a:endParaRPr>
          </a:p>
          <a:p>
            <a:pPr marL="288290">
              <a:lnSpc>
                <a:spcPct val="100000"/>
              </a:lnSpc>
              <a:spcBef>
                <a:spcPts val="1060"/>
              </a:spcBef>
            </a:pPr>
            <a:r>
              <a:rPr dirty="0" sz="1200">
                <a:latin typeface="Calibri"/>
                <a:cs typeface="Calibri"/>
              </a:rPr>
              <a:t>return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false;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858519" indent="132080">
              <a:lnSpc>
                <a:spcPct val="173300"/>
              </a:lnSpc>
              <a:spcBef>
                <a:spcPts val="10"/>
              </a:spcBef>
            </a:pPr>
            <a:r>
              <a:rPr dirty="0" sz="1200" spc="-10">
                <a:latin typeface="Calibri"/>
                <a:cs typeface="Calibri"/>
              </a:rPr>
              <a:t>document.getElementById("nameError").innerText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""; </a:t>
            </a:r>
            <a:r>
              <a:rPr dirty="0" sz="1200">
                <a:latin typeface="Calibri"/>
                <a:cs typeface="Calibri"/>
              </a:rPr>
              <a:t>return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true;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5080" indent="-6350">
              <a:lnSpc>
                <a:spcPct val="173500"/>
              </a:lnSpc>
              <a:spcBef>
                <a:spcPts val="10"/>
              </a:spcBef>
              <a:tabLst>
                <a:tab pos="1735455" algn="l"/>
                <a:tab pos="4371975" algn="l"/>
              </a:tabLst>
            </a:pP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validateEmail()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let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pattern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/^[^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]+@[^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]+\.[a-</a:t>
            </a:r>
            <a:r>
              <a:rPr dirty="0" sz="1200" spc="-10">
                <a:latin typeface="Calibri"/>
                <a:cs typeface="Calibri"/>
              </a:rPr>
              <a:t>z]{2,3}$/;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25">
                <a:latin typeface="Calibri"/>
                <a:cs typeface="Calibri"/>
              </a:rPr>
              <a:t>if </a:t>
            </a:r>
            <a:r>
              <a:rPr dirty="0" sz="1200" spc="-10">
                <a:latin typeface="Calibri"/>
                <a:cs typeface="Calibri"/>
              </a:rPr>
              <a:t>(!emailInput.value.match(pattern))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288290" marR="221615" indent="-269875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document.getElementById("emailError").innerText</a:t>
            </a:r>
            <a:r>
              <a:rPr dirty="0" sz="1200">
                <a:latin typeface="Calibri"/>
                <a:cs typeface="Calibri"/>
              </a:rPr>
              <a:t> =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"Invalid </a:t>
            </a:r>
            <a:r>
              <a:rPr dirty="0" sz="1200" spc="-10">
                <a:latin typeface="Calibri"/>
                <a:cs typeface="Calibri"/>
              </a:rPr>
              <a:t>email"; </a:t>
            </a:r>
            <a:r>
              <a:rPr dirty="0" sz="1200">
                <a:latin typeface="Calibri"/>
                <a:cs typeface="Calibri"/>
              </a:rPr>
              <a:t>return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false;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6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869315" indent="132080">
              <a:lnSpc>
                <a:spcPct val="173300"/>
              </a:lnSpc>
              <a:spcBef>
                <a:spcPts val="10"/>
              </a:spcBef>
            </a:pPr>
            <a:r>
              <a:rPr dirty="0" sz="1200" spc="-10">
                <a:latin typeface="Calibri"/>
                <a:cs typeface="Calibri"/>
              </a:rPr>
              <a:t>document.getElementById("emailError").innerText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""; </a:t>
            </a:r>
            <a:r>
              <a:rPr dirty="0" sz="1200">
                <a:latin typeface="Calibri"/>
                <a:cs typeface="Calibri"/>
              </a:rPr>
              <a:t>return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true;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5745480" cy="7826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1626870" indent="-6350">
              <a:lnSpc>
                <a:spcPts val="2510"/>
              </a:lnSpc>
              <a:spcBef>
                <a:spcPts val="245"/>
              </a:spcBef>
              <a:tabLst>
                <a:tab pos="1939925" algn="l"/>
              </a:tabLst>
            </a:pP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validateMessage()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if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(messageInput.value.length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&lt;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5)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 spc="-10">
                <a:latin typeface="Calibri"/>
                <a:cs typeface="Calibri"/>
              </a:rPr>
              <a:t>document.getElementById("msgError").innerText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"Too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short";</a:t>
            </a:r>
            <a:endParaRPr sz="1200">
              <a:latin typeface="Calibri"/>
              <a:cs typeface="Calibri"/>
            </a:endParaRPr>
          </a:p>
          <a:p>
            <a:pPr marL="288290">
              <a:lnSpc>
                <a:spcPct val="100000"/>
              </a:lnSpc>
              <a:spcBef>
                <a:spcPts val="795"/>
              </a:spcBef>
            </a:pPr>
            <a:r>
              <a:rPr dirty="0" sz="1200">
                <a:latin typeface="Calibri"/>
                <a:cs typeface="Calibri"/>
              </a:rPr>
              <a:t>return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false;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2234565" indent="132080">
              <a:lnSpc>
                <a:spcPct val="173300"/>
              </a:lnSpc>
              <a:spcBef>
                <a:spcPts val="10"/>
              </a:spcBef>
            </a:pPr>
            <a:r>
              <a:rPr dirty="0" sz="1200" spc="-10">
                <a:latin typeface="Calibri"/>
                <a:cs typeface="Calibri"/>
              </a:rPr>
              <a:t>document.getElementById("msgError").innerText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""; </a:t>
            </a:r>
            <a:r>
              <a:rPr dirty="0" sz="1200">
                <a:latin typeface="Calibri"/>
                <a:cs typeface="Calibri"/>
              </a:rPr>
              <a:t>return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true;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5080" indent="-6350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nameInput.addEventListener("keyup",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validateName);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emailInput.addEventListener("keyup", validateEmail);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messageInput.addEventListener("keyup",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validateMessage);</a:t>
            </a:r>
            <a:endParaRPr sz="1200">
              <a:latin typeface="Calibri"/>
              <a:cs typeface="Calibri"/>
            </a:endParaRPr>
          </a:p>
          <a:p>
            <a:pPr marL="18415" marR="191135">
              <a:lnSpc>
                <a:spcPct val="173300"/>
              </a:lnSpc>
              <a:tabLst>
                <a:tab pos="1580515" algn="l"/>
                <a:tab pos="2469515" algn="l"/>
                <a:tab pos="3001010" algn="l"/>
                <a:tab pos="3189605" algn="l"/>
              </a:tabLst>
            </a:pPr>
            <a:r>
              <a:rPr dirty="0" sz="1200" spc="-10">
                <a:latin typeface="Calibri"/>
                <a:cs typeface="Calibri"/>
              </a:rPr>
              <a:t>submitBtn.addEventListener("dblclick",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()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if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(validateName()</a:t>
            </a:r>
            <a:r>
              <a:rPr dirty="0" sz="1200">
                <a:latin typeface="Calibri"/>
                <a:cs typeface="Calibri"/>
              </a:rPr>
              <a:t> &amp;&amp;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validateEmail()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&amp;&amp; </a:t>
            </a:r>
            <a:r>
              <a:rPr dirty="0" sz="1200" spc="-10">
                <a:latin typeface="Calibri"/>
                <a:cs typeface="Calibri"/>
              </a:rPr>
              <a:t>validateMessage())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sendData();</a:t>
            </a:r>
            <a:r>
              <a:rPr dirty="0" sz="1200">
                <a:latin typeface="Calibri"/>
                <a:cs typeface="Calibri"/>
              </a:rPr>
              <a:t>	}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else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	alert("Fix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errors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before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submitting!");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6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function </a:t>
            </a:r>
            <a:r>
              <a:rPr dirty="0" sz="1200" spc="-10">
                <a:latin typeface="Calibri"/>
                <a:cs typeface="Calibri"/>
              </a:rPr>
              <a:t>sendData()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8415" marR="3315335">
              <a:lnSpc>
                <a:spcPct val="173300"/>
              </a:lnSpc>
              <a:tabLst>
                <a:tab pos="1374775" algn="l"/>
              </a:tabLst>
            </a:pPr>
            <a:r>
              <a:rPr dirty="0" sz="1200" spc="-10">
                <a:latin typeface="Calibri"/>
                <a:cs typeface="Calibri"/>
              </a:rPr>
              <a:t>fetch("</a:t>
            </a:r>
            <a:r>
              <a:rPr dirty="0" sz="1200" spc="-10">
                <a:latin typeface="Calibri"/>
                <a:cs typeface="Calibri"/>
                <a:hlinkClick r:id="rId2"/>
              </a:rPr>
              <a:t>http://localhost:3000/submit</a:t>
            </a:r>
            <a:r>
              <a:rPr dirty="0" sz="1200" spc="-10">
                <a:latin typeface="Calibri"/>
                <a:cs typeface="Calibri"/>
              </a:rPr>
              <a:t>",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>
                <a:latin typeface="Calibri"/>
                <a:cs typeface="Calibri"/>
              </a:rPr>
              <a:t>method: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"POST",</a:t>
            </a:r>
            <a:r>
              <a:rPr dirty="0" sz="1200">
                <a:latin typeface="Calibri"/>
                <a:cs typeface="Calibri"/>
              </a:rPr>
              <a:t>	headers:</a:t>
            </a:r>
            <a:r>
              <a:rPr dirty="0" sz="1200" spc="-50">
                <a:latin typeface="Calibri"/>
                <a:cs typeface="Calibri"/>
              </a:rPr>
              <a:t> {</a:t>
            </a:r>
            <a:endParaRPr sz="1200">
              <a:latin typeface="Calibri"/>
              <a:cs typeface="Calibri"/>
            </a:endParaRPr>
          </a:p>
          <a:p>
            <a:pPr marL="42672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"Content-Type":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"application/json"</a:t>
            </a:r>
            <a:endParaRPr sz="1200">
              <a:latin typeface="Calibri"/>
              <a:cs typeface="Calibri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},</a:t>
            </a:r>
            <a:endParaRPr sz="1200">
              <a:latin typeface="Calibri"/>
              <a:cs typeface="Calibri"/>
            </a:endParaRPr>
          </a:p>
          <a:p>
            <a:pPr marL="18415" marR="4115435" indent="269240">
              <a:lnSpc>
                <a:spcPct val="173400"/>
              </a:lnSpc>
              <a:spcBef>
                <a:spcPts val="10"/>
              </a:spcBef>
            </a:pPr>
            <a:r>
              <a:rPr dirty="0" sz="1200">
                <a:latin typeface="Calibri"/>
                <a:cs typeface="Calibri"/>
              </a:rPr>
              <a:t>body:</a:t>
            </a:r>
            <a:r>
              <a:rPr dirty="0" sz="1200" spc="-10">
                <a:latin typeface="Calibri"/>
                <a:cs typeface="Calibri"/>
              </a:rPr>
              <a:t> JSON.stringify({ </a:t>
            </a:r>
            <a:r>
              <a:rPr dirty="0" sz="1200">
                <a:latin typeface="Calibri"/>
                <a:cs typeface="Calibri"/>
              </a:rPr>
              <a:t>name: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nameInput.value, </a:t>
            </a:r>
            <a:r>
              <a:rPr dirty="0" sz="1200">
                <a:latin typeface="Calibri"/>
                <a:cs typeface="Calibri"/>
              </a:rPr>
              <a:t>email: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emailInput.value,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message: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messageInput.value</a:t>
            </a:r>
            <a:endParaRPr sz="1200">
              <a:latin typeface="Calibri"/>
              <a:cs typeface="Calibri"/>
            </a:endParaRPr>
          </a:p>
          <a:p>
            <a:pPr marL="289560">
              <a:lnSpc>
                <a:spcPct val="100000"/>
              </a:lnSpc>
              <a:spcBef>
                <a:spcPts val="1060"/>
              </a:spcBef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4929505" cy="432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1130">
              <a:lnSpc>
                <a:spcPct val="100000"/>
              </a:lnSpc>
              <a:spcBef>
                <a:spcPts val="100"/>
              </a:spcBef>
              <a:tabLst>
                <a:tab pos="1717675" algn="l"/>
              </a:tabLst>
            </a:pPr>
            <a:r>
              <a:rPr dirty="0" sz="1200" spc="-10">
                <a:latin typeface="Calibri"/>
                <a:cs typeface="Calibri"/>
              </a:rPr>
              <a:t>.then(res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res.json())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.then(data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19"/>
              </a:spcBef>
            </a:pPr>
            <a:r>
              <a:rPr dirty="0" sz="1200" spc="-10">
                <a:latin typeface="Calibri"/>
                <a:cs typeface="Calibri"/>
              </a:rPr>
              <a:t>document.getElementById("successMsg").innerText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"</a:t>
            </a:r>
            <a:r>
              <a:rPr dirty="0" sz="1200" spc="3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Feedback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Submitted!";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30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1969135" indent="-6350">
              <a:lnSpc>
                <a:spcPct val="173300"/>
              </a:lnSpc>
              <a:spcBef>
                <a:spcPts val="15"/>
              </a:spcBef>
            </a:pPr>
            <a:r>
              <a:rPr dirty="0" sz="1200" b="1">
                <a:latin typeface="Calibri"/>
                <a:cs typeface="Calibri"/>
              </a:rPr>
              <a:t>SERVER.JS: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express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require("express");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cors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require("cors");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bodyParser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require("body-</a:t>
            </a:r>
            <a:r>
              <a:rPr dirty="0" sz="1200">
                <a:latin typeface="Calibri"/>
                <a:cs typeface="Calibri"/>
              </a:rPr>
              <a:t>parser");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path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</a:t>
            </a:r>
            <a:endParaRPr sz="1200">
              <a:latin typeface="Calibri"/>
              <a:cs typeface="Calibri"/>
            </a:endParaRPr>
          </a:p>
          <a:p>
            <a:pPr marL="18415" marR="1880870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require("path");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db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require("./db");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const </a:t>
            </a:r>
            <a:r>
              <a:rPr dirty="0" sz="1200">
                <a:latin typeface="Calibri"/>
                <a:cs typeface="Calibri"/>
              </a:rPr>
              <a:t>app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express();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app.use(cors());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60"/>
              </a:spcBef>
            </a:pPr>
            <a:r>
              <a:rPr dirty="0" sz="1200" spc="-10">
                <a:latin typeface="Calibri"/>
                <a:cs typeface="Calibri"/>
              </a:rPr>
              <a:t>app.use(bodyParser.json());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app.use(express.static(</a:t>
            </a:r>
            <a:r>
              <a:rPr dirty="0" u="sng" sz="1200" spc="1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1200">
                <a:latin typeface="Calibri"/>
                <a:cs typeface="Calibri"/>
              </a:rPr>
              <a:t>dirname));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app.get("/",</a:t>
            </a:r>
            <a:endParaRPr sz="1200">
              <a:latin typeface="Calibri"/>
              <a:cs typeface="Calibri"/>
            </a:endParaRPr>
          </a:p>
          <a:p>
            <a:pPr marL="18415" marR="1815464">
              <a:lnSpc>
                <a:spcPct val="173300"/>
              </a:lnSpc>
              <a:tabLst>
                <a:tab pos="1017269" algn="l"/>
              </a:tabLst>
            </a:pPr>
            <a:r>
              <a:rPr dirty="0" sz="1200">
                <a:latin typeface="Calibri"/>
                <a:cs typeface="Calibri"/>
              </a:rPr>
              <a:t>(req,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res)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res.sendFile(path.join(</a:t>
            </a:r>
            <a:r>
              <a:rPr dirty="0" u="sng" sz="1200" spc="2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1200" spc="-10">
                <a:latin typeface="Calibri"/>
                <a:cs typeface="Calibri"/>
              </a:rPr>
              <a:t>dirname, "index.html"));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92860" y="5328284"/>
            <a:ext cx="21177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app.post("/submit",</a:t>
            </a:r>
            <a:r>
              <a:rPr dirty="0" sz="1200">
                <a:latin typeface="Calibri"/>
                <a:cs typeface="Calibri"/>
              </a:rPr>
              <a:t> (req,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res)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157176" y="5328284"/>
            <a:ext cx="43878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const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92860" y="5645277"/>
            <a:ext cx="3503295" cy="3063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name,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email,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message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}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req.body;</a:t>
            </a:r>
            <a:endParaRPr sz="1200">
              <a:latin typeface="Calibri"/>
              <a:cs typeface="Calibri"/>
            </a:endParaRPr>
          </a:p>
          <a:p>
            <a:pPr marL="18415" marR="747395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db.saveFeedback({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name,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email,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message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}); </a:t>
            </a:r>
            <a:r>
              <a:rPr dirty="0" sz="1200" spc="-10">
                <a:latin typeface="Calibri"/>
                <a:cs typeface="Calibri"/>
              </a:rPr>
              <a:t>res.json({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status: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"success"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8415" marR="5080" indent="-6350">
              <a:lnSpc>
                <a:spcPts val="2500"/>
              </a:lnSpc>
              <a:spcBef>
                <a:spcPts val="254"/>
              </a:spcBef>
              <a:tabLst>
                <a:tab pos="1577975" algn="l"/>
              </a:tabLst>
            </a:pPr>
            <a:r>
              <a:rPr dirty="0" sz="1200" spc="-10">
                <a:latin typeface="Calibri"/>
                <a:cs typeface="Calibri"/>
              </a:rPr>
              <a:t>app.listen(3000,</a:t>
            </a:r>
            <a:r>
              <a:rPr dirty="0" sz="1200">
                <a:latin typeface="Calibri"/>
                <a:cs typeface="Calibri"/>
              </a:rPr>
              <a:t> ()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console.log("Server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running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on </a:t>
            </a:r>
            <a:r>
              <a:rPr dirty="0" sz="1200" spc="-10">
                <a:latin typeface="Calibri"/>
                <a:cs typeface="Calibri"/>
                <a:hlinkClick r:id="rId2"/>
              </a:rPr>
              <a:t>http://localhost:3000</a:t>
            </a:r>
            <a:r>
              <a:rPr dirty="0" sz="1200" spc="-10">
                <a:latin typeface="Calibri"/>
                <a:cs typeface="Calibri"/>
              </a:rPr>
              <a:t>");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 b="1">
                <a:latin typeface="Calibri"/>
                <a:cs typeface="Calibri"/>
              </a:rPr>
              <a:t>DB.JS:</a:t>
            </a:r>
            <a:endParaRPr sz="1200">
              <a:latin typeface="Calibri"/>
              <a:cs typeface="Calibri"/>
            </a:endParaRPr>
          </a:p>
          <a:p>
            <a:pPr marL="18415" marR="1614805" indent="-6350">
              <a:lnSpc>
                <a:spcPct val="173300"/>
              </a:lnSpc>
              <a:tabLst>
                <a:tab pos="1831339" algn="l"/>
              </a:tabLst>
            </a:pPr>
            <a:r>
              <a:rPr dirty="0" sz="1200">
                <a:latin typeface="Calibri"/>
                <a:cs typeface="Calibri"/>
              </a:rPr>
              <a:t>let</a:t>
            </a:r>
            <a:r>
              <a:rPr dirty="0" sz="1200" spc="4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feedbacks</a:t>
            </a:r>
            <a:r>
              <a:rPr dirty="0" sz="1200" spc="4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4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[];</a:t>
            </a:r>
            <a:r>
              <a:rPr dirty="0" sz="1200" spc="4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function saveFeedback(data)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1821180" cy="191071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feedbacks.push(data);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console.log("Saved:",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data);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631190" indent="-6350">
              <a:lnSpc>
                <a:spcPct val="173300"/>
              </a:lnSpc>
              <a:spcBef>
                <a:spcPts val="910"/>
              </a:spcBef>
            </a:pPr>
            <a:r>
              <a:rPr dirty="0" sz="1200" spc="-10">
                <a:latin typeface="Calibri"/>
                <a:cs typeface="Calibri"/>
              </a:rPr>
              <a:t>module.exports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 spc="-10">
                <a:latin typeface="Calibri"/>
                <a:cs typeface="Calibri"/>
              </a:rPr>
              <a:t>saveFeedback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25">
                <a:latin typeface="Calibri"/>
                <a:cs typeface="Calibri"/>
              </a:rPr>
              <a:t>};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 b="1">
                <a:latin typeface="Calibri"/>
                <a:cs typeface="Calibri"/>
              </a:rPr>
              <a:t>OUTPUT: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92860" y="6832472"/>
            <a:ext cx="5928360" cy="1804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 marR="5080" indent="28575">
              <a:lnSpc>
                <a:spcPct val="114199"/>
              </a:lnSpc>
              <a:spcBef>
                <a:spcPts val="100"/>
              </a:spcBef>
            </a:pPr>
            <a:r>
              <a:rPr dirty="0" sz="1200" spc="-20" b="1">
                <a:latin typeface="Calibri"/>
                <a:cs typeface="Calibri"/>
              </a:rPr>
              <a:t>RESULT: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interactive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feedback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form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successfully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implemented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real-</a:t>
            </a:r>
            <a:r>
              <a:rPr dirty="0" sz="1200">
                <a:latin typeface="Calibri"/>
                <a:cs typeface="Calibri"/>
              </a:rPr>
              <a:t>time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validation, </a:t>
            </a:r>
            <a:r>
              <a:rPr dirty="0" sz="1200">
                <a:latin typeface="Calibri"/>
                <a:cs typeface="Calibri"/>
              </a:rPr>
              <a:t>enhanced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UI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effects,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backend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handling.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7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20" b="1">
                <a:latin typeface="Calibri"/>
                <a:cs typeface="Calibri"/>
              </a:rPr>
              <a:t>TASK8:</a:t>
            </a:r>
            <a:r>
              <a:rPr dirty="0" sz="120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Employee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Management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200">
              <a:latin typeface="Calibri"/>
              <a:cs typeface="Calibri"/>
            </a:endParaRPr>
          </a:p>
          <a:p>
            <a:pPr marL="18415" marR="329565" indent="-6350">
              <a:lnSpc>
                <a:spcPct val="114199"/>
              </a:lnSpc>
            </a:pPr>
            <a:r>
              <a:rPr dirty="0" sz="1200" b="1">
                <a:latin typeface="Calibri"/>
                <a:cs typeface="Calibri"/>
              </a:rPr>
              <a:t>AIM: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 spc="-6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develop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simple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Employee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Management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system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HTML,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CSS,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JavaScript,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and </a:t>
            </a:r>
            <a:r>
              <a:rPr dirty="0" sz="1200">
                <a:latin typeface="Calibri"/>
                <a:cs typeface="Calibri"/>
              </a:rPr>
              <a:t>Node.js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adding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displaying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employee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data.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9960" y="2903220"/>
            <a:ext cx="5943599" cy="3566541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3860165" cy="81508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Calibri"/>
                <a:cs typeface="Calibri"/>
              </a:rPr>
              <a:t>ALGORITHM: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Start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program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Create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project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(HTML,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CSS,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JS,</a:t>
            </a:r>
            <a:r>
              <a:rPr dirty="0" sz="1200" spc="-20">
                <a:latin typeface="Calibri"/>
                <a:cs typeface="Calibri"/>
              </a:rPr>
              <a:t> server.js,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db.js)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Design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interface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input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fields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(name,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role)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Apply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CSS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styling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layout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centering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Capture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input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JavaScript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Create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employee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data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Send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fetch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API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(POST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request)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Create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backend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Node.js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Express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Receive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store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employee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memory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(db.js)</a:t>
            </a:r>
            <a:endParaRPr sz="1200">
              <a:latin typeface="Calibri"/>
              <a:cs typeface="Calibri"/>
            </a:endParaRPr>
          </a:p>
          <a:p>
            <a:pPr marL="477520" indent="-227329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477520" algn="l"/>
              </a:tabLst>
            </a:pPr>
            <a:r>
              <a:rPr dirty="0" sz="1200">
                <a:latin typeface="Calibri"/>
                <a:cs typeface="Calibri"/>
              </a:rPr>
              <a:t>Create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API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fetch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employee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records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(GET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request)</a:t>
            </a:r>
            <a:endParaRPr sz="1200">
              <a:latin typeface="Calibri"/>
              <a:cs typeface="Calibri"/>
            </a:endParaRPr>
          </a:p>
          <a:p>
            <a:pPr marL="477520" indent="-227329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7520" algn="l"/>
              </a:tabLst>
            </a:pPr>
            <a:r>
              <a:rPr dirty="0" sz="1200">
                <a:latin typeface="Calibri"/>
                <a:cs typeface="Calibri"/>
              </a:rPr>
              <a:t>Display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employee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dynamically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webpage</a:t>
            </a:r>
            <a:endParaRPr sz="1200">
              <a:latin typeface="Calibri"/>
              <a:cs typeface="Calibri"/>
            </a:endParaRPr>
          </a:p>
          <a:p>
            <a:pPr marL="477520" indent="-227329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477520" algn="l"/>
              </a:tabLst>
            </a:pPr>
            <a:r>
              <a:rPr dirty="0" sz="1200">
                <a:latin typeface="Calibri"/>
                <a:cs typeface="Calibri"/>
              </a:rPr>
              <a:t>Stop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program</a:t>
            </a:r>
            <a:endParaRPr sz="1200">
              <a:latin typeface="Calibri"/>
              <a:cs typeface="Calibri"/>
            </a:endParaRPr>
          </a:p>
          <a:p>
            <a:pPr marL="250190">
              <a:lnSpc>
                <a:spcPct val="100000"/>
              </a:lnSpc>
              <a:spcBef>
                <a:spcPts val="1065"/>
              </a:spcBef>
            </a:pPr>
            <a:r>
              <a:rPr dirty="0" sz="1200" spc="-10" b="1">
                <a:latin typeface="Calibri"/>
                <a:cs typeface="Calibri"/>
              </a:rPr>
              <a:t>PROGRAM:</a:t>
            </a:r>
            <a:endParaRPr sz="1200">
              <a:latin typeface="Calibri"/>
              <a:cs typeface="Calibri"/>
            </a:endParaRPr>
          </a:p>
          <a:p>
            <a:pPr marL="250190">
              <a:lnSpc>
                <a:spcPct val="100000"/>
              </a:lnSpc>
              <a:spcBef>
                <a:spcPts val="1060"/>
              </a:spcBef>
            </a:pPr>
            <a:r>
              <a:rPr dirty="0" sz="1200" spc="-10" b="1">
                <a:latin typeface="Calibri"/>
                <a:cs typeface="Calibri"/>
              </a:rPr>
              <a:t>INDEX.HTML:</a:t>
            </a:r>
            <a:endParaRPr sz="1200">
              <a:latin typeface="Calibri"/>
              <a:cs typeface="Calibri"/>
            </a:endParaRPr>
          </a:p>
          <a:p>
            <a:pPr marL="25019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&lt;!DOCTYPE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html&gt;</a:t>
            </a:r>
            <a:endParaRPr sz="1200">
              <a:latin typeface="Calibri"/>
              <a:cs typeface="Calibri"/>
            </a:endParaRPr>
          </a:p>
          <a:p>
            <a:pPr marL="25019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&lt;html&gt;</a:t>
            </a:r>
            <a:endParaRPr sz="1200">
              <a:latin typeface="Calibri"/>
              <a:cs typeface="Calibri"/>
            </a:endParaRPr>
          </a:p>
          <a:p>
            <a:pPr marL="25019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&lt;head&gt;</a:t>
            </a:r>
            <a:endParaRPr sz="1200">
              <a:latin typeface="Calibri"/>
              <a:cs typeface="Calibri"/>
            </a:endParaRPr>
          </a:p>
          <a:p>
            <a:pPr marL="38862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&lt;title&gt;Employee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Management&lt;/title&gt;</a:t>
            </a:r>
            <a:endParaRPr sz="1200">
              <a:latin typeface="Calibri"/>
              <a:cs typeface="Calibri"/>
            </a:endParaRPr>
          </a:p>
          <a:p>
            <a:pPr marL="38862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&lt;link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rel="stylesheet"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href="style.css"&gt;</a:t>
            </a:r>
            <a:endParaRPr sz="1200">
              <a:latin typeface="Calibri"/>
              <a:cs typeface="Calibri"/>
            </a:endParaRPr>
          </a:p>
          <a:p>
            <a:pPr marL="250190">
              <a:lnSpc>
                <a:spcPct val="100000"/>
              </a:lnSpc>
              <a:spcBef>
                <a:spcPts val="1060"/>
              </a:spcBef>
            </a:pPr>
            <a:r>
              <a:rPr dirty="0" sz="1200" spc="-10">
                <a:latin typeface="Calibri"/>
                <a:cs typeface="Calibri"/>
              </a:rPr>
              <a:t>&lt;/head&gt;</a:t>
            </a:r>
            <a:endParaRPr sz="1200">
              <a:latin typeface="Calibri"/>
              <a:cs typeface="Calibri"/>
            </a:endParaRPr>
          </a:p>
          <a:p>
            <a:pPr marL="25019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&lt;body&gt;</a:t>
            </a:r>
            <a:endParaRPr sz="1200">
              <a:latin typeface="Calibri"/>
              <a:cs typeface="Calibri"/>
            </a:endParaRPr>
          </a:p>
          <a:p>
            <a:pPr marL="25019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&lt;div </a:t>
            </a:r>
            <a:r>
              <a:rPr dirty="0" sz="1200" spc="-10">
                <a:latin typeface="Calibri"/>
                <a:cs typeface="Calibri"/>
              </a:rPr>
              <a:t>class="container"&gt;</a:t>
            </a:r>
            <a:endParaRPr sz="1200">
              <a:latin typeface="Calibri"/>
              <a:cs typeface="Calibri"/>
            </a:endParaRPr>
          </a:p>
          <a:p>
            <a:pPr marL="38862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&lt;h2&gt;Employee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Management&lt;/h2&gt;</a:t>
            </a:r>
            <a:endParaRPr sz="1200">
              <a:latin typeface="Calibri"/>
              <a:cs typeface="Calibri"/>
            </a:endParaRPr>
          </a:p>
          <a:p>
            <a:pPr marL="38862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&lt;input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id="name"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placeholder="Name"&gt;</a:t>
            </a:r>
            <a:endParaRPr sz="1200">
              <a:latin typeface="Calibri"/>
              <a:cs typeface="Calibri"/>
            </a:endParaRPr>
          </a:p>
          <a:p>
            <a:pPr marL="38862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&lt;input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id="role"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placeholder="Role"&gt;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0604" y="894333"/>
            <a:ext cx="3200400" cy="5285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113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&lt;button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onclick="addEmployee()"&gt;Add&lt;/button&gt;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&lt;ul</a:t>
            </a:r>
            <a:r>
              <a:rPr dirty="0" sz="1200" spc="-10">
                <a:latin typeface="Calibri"/>
                <a:cs typeface="Calibri"/>
              </a:rPr>
              <a:t> id="list"&gt;&lt;/ul&gt;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&lt;/div&gt;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&lt;script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src="script.js"&gt;&lt;/script&gt;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&lt;/body&gt;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10">
                <a:latin typeface="Calibri"/>
                <a:cs typeface="Calibri"/>
              </a:rPr>
              <a:t>&lt;/html&gt;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 b="1">
                <a:latin typeface="Calibri"/>
                <a:cs typeface="Calibri"/>
              </a:rPr>
              <a:t>STYLE.CSS:</a:t>
            </a:r>
            <a:r>
              <a:rPr dirty="0" sz="1200" spc="1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body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font-</a:t>
            </a:r>
            <a:r>
              <a:rPr dirty="0" sz="1200">
                <a:latin typeface="Calibri"/>
                <a:cs typeface="Calibri"/>
              </a:rPr>
              <a:t>family: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Arial;</a:t>
            </a:r>
            <a:endParaRPr sz="1200">
              <a:latin typeface="Calibri"/>
              <a:cs typeface="Calibri"/>
            </a:endParaRPr>
          </a:p>
          <a:p>
            <a:pPr marL="18415" marR="1754505">
              <a:lnSpc>
                <a:spcPct val="173300"/>
              </a:lnSpc>
              <a:tabLst>
                <a:tab pos="452120" algn="l"/>
                <a:tab pos="698500" algn="l"/>
                <a:tab pos="868680" algn="l"/>
                <a:tab pos="967740" algn="l"/>
              </a:tabLst>
            </a:pPr>
            <a:r>
              <a:rPr dirty="0" sz="1200">
                <a:latin typeface="Calibri"/>
                <a:cs typeface="Calibri"/>
              </a:rPr>
              <a:t>background:</a:t>
            </a:r>
            <a:r>
              <a:rPr dirty="0" sz="1200" spc="-7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#1e1e2f; </a:t>
            </a:r>
            <a:r>
              <a:rPr dirty="0" sz="1200">
                <a:latin typeface="Calibri"/>
                <a:cs typeface="Calibri"/>
              </a:rPr>
              <a:t>color: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white;</a:t>
            </a:r>
            <a:r>
              <a:rPr dirty="0" sz="1200">
                <a:latin typeface="Calibri"/>
                <a:cs typeface="Calibri"/>
              </a:rPr>
              <a:t>		</a:t>
            </a:r>
            <a:r>
              <a:rPr dirty="0" sz="1200" spc="-10">
                <a:latin typeface="Calibri"/>
                <a:cs typeface="Calibri"/>
              </a:rPr>
              <a:t>display: flex;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justify-content: center;</a:t>
            </a:r>
            <a:r>
              <a:rPr dirty="0" sz="1200">
                <a:latin typeface="Calibri"/>
                <a:cs typeface="Calibri"/>
              </a:rPr>
              <a:t>		</a:t>
            </a:r>
            <a:r>
              <a:rPr dirty="0" sz="1200" spc="-10">
                <a:latin typeface="Calibri"/>
                <a:cs typeface="Calibri"/>
              </a:rPr>
              <a:t>align-items: center;</a:t>
            </a:r>
            <a:r>
              <a:rPr dirty="0" sz="1200">
                <a:latin typeface="Calibri"/>
                <a:cs typeface="Calibri"/>
              </a:rPr>
              <a:t>			</a:t>
            </a:r>
            <a:r>
              <a:rPr dirty="0" sz="1200" spc="-10">
                <a:latin typeface="Calibri"/>
                <a:cs typeface="Calibri"/>
              </a:rPr>
              <a:t>height:</a:t>
            </a:r>
            <a:endParaRPr sz="1200">
              <a:latin typeface="Calibri"/>
              <a:cs typeface="Calibri"/>
            </a:endParaRPr>
          </a:p>
          <a:p>
            <a:pPr marL="18415" marR="1659889">
              <a:lnSpc>
                <a:spcPct val="173300"/>
              </a:lnSpc>
              <a:spcBef>
                <a:spcPts val="5"/>
              </a:spcBef>
              <a:tabLst>
                <a:tab pos="1058545" algn="l"/>
              </a:tabLst>
            </a:pPr>
            <a:r>
              <a:rPr dirty="0" sz="1200" spc="-10">
                <a:latin typeface="Calibri"/>
                <a:cs typeface="Calibri"/>
              </a:rPr>
              <a:t>100vh;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margin: </a:t>
            </a:r>
            <a:r>
              <a:rPr dirty="0" sz="1200" spc="-25">
                <a:latin typeface="Calibri"/>
                <a:cs typeface="Calibri"/>
              </a:rPr>
              <a:t>0;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30604" y="6289928"/>
            <a:ext cx="7359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.container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012093" y="6289928"/>
            <a:ext cx="3079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text-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30604" y="6608444"/>
            <a:ext cx="1310640" cy="2112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align: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center;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  <a:tabLst>
                <a:tab pos="593090" algn="l"/>
              </a:tabLst>
            </a:pPr>
            <a:r>
              <a:rPr dirty="0" sz="1200">
                <a:latin typeface="Calibri"/>
                <a:cs typeface="Calibri"/>
              </a:rPr>
              <a:t>input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padding:</a:t>
            </a:r>
            <a:endParaRPr sz="1200">
              <a:latin typeface="Calibri"/>
              <a:cs typeface="Calibri"/>
            </a:endParaRPr>
          </a:p>
          <a:p>
            <a:pPr marL="18415" marR="5080">
              <a:lnSpc>
                <a:spcPct val="173300"/>
              </a:lnSpc>
              <a:tabLst>
                <a:tab pos="529590" algn="l"/>
              </a:tabLst>
            </a:pPr>
            <a:r>
              <a:rPr dirty="0" sz="1200" spc="-10">
                <a:latin typeface="Calibri"/>
                <a:cs typeface="Calibri"/>
              </a:rPr>
              <a:t>10px;</a:t>
            </a:r>
            <a:r>
              <a:rPr dirty="0" sz="1200">
                <a:latin typeface="Calibri"/>
                <a:cs typeface="Calibri"/>
              </a:rPr>
              <a:t>	margin: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5px; </a:t>
            </a:r>
            <a:r>
              <a:rPr dirty="0" sz="1200" spc="-10">
                <a:latin typeface="Calibri"/>
                <a:cs typeface="Calibri"/>
              </a:rPr>
              <a:t>border-</a:t>
            </a:r>
            <a:r>
              <a:rPr dirty="0" sz="1200">
                <a:latin typeface="Calibri"/>
                <a:cs typeface="Calibri"/>
              </a:rPr>
              <a:t>radius: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5px; </a:t>
            </a:r>
            <a:r>
              <a:rPr dirty="0" sz="1200">
                <a:latin typeface="Calibri"/>
                <a:cs typeface="Calibri"/>
              </a:rPr>
              <a:t>border: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none;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0604" y="894333"/>
            <a:ext cx="5238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button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800548" y="894333"/>
            <a:ext cx="5676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padding: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36700" y="1211326"/>
            <a:ext cx="3651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10px;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648155" y="1211326"/>
            <a:ext cx="7962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background: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130604" y="1528318"/>
            <a:ext cx="1443990" cy="1159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  <a:tabLst>
                <a:tab pos="692785" algn="l"/>
              </a:tabLst>
            </a:pPr>
            <a:r>
              <a:rPr dirty="0" sz="1200" spc="-10">
                <a:latin typeface="Calibri"/>
                <a:cs typeface="Calibri"/>
              </a:rPr>
              <a:t>#00c6ff;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border:</a:t>
            </a:r>
            <a:endParaRPr sz="1200">
              <a:latin typeface="Calibri"/>
              <a:cs typeface="Calibri"/>
            </a:endParaRPr>
          </a:p>
          <a:p>
            <a:pPr marL="18415" marR="5080">
              <a:lnSpc>
                <a:spcPct val="173300"/>
              </a:lnSpc>
              <a:tabLst>
                <a:tab pos="452120" algn="l"/>
                <a:tab pos="548005" algn="l"/>
              </a:tabLst>
            </a:pPr>
            <a:r>
              <a:rPr dirty="0" sz="1200" spc="-10">
                <a:latin typeface="Calibri"/>
                <a:cs typeface="Calibri"/>
              </a:rPr>
              <a:t>none;</a:t>
            </a:r>
            <a:r>
              <a:rPr dirty="0" sz="1200">
                <a:latin typeface="Calibri"/>
                <a:cs typeface="Calibri"/>
              </a:rPr>
              <a:t>		</a:t>
            </a:r>
            <a:r>
              <a:rPr dirty="0" sz="1200" spc="-10">
                <a:latin typeface="Calibri"/>
                <a:cs typeface="Calibri"/>
              </a:rPr>
              <a:t>border-radius: </a:t>
            </a:r>
            <a:r>
              <a:rPr dirty="0" sz="1200" spc="-20">
                <a:latin typeface="Calibri"/>
                <a:cs typeface="Calibri"/>
              </a:rPr>
              <a:t>5px;</a:t>
            </a:r>
            <a:r>
              <a:rPr dirty="0" sz="1200">
                <a:latin typeface="Calibri"/>
                <a:cs typeface="Calibri"/>
              </a:rPr>
              <a:t>	cursor: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pointer;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130604" y="3124327"/>
            <a:ext cx="2651125" cy="84264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Calibri"/>
                <a:cs typeface="Calibri"/>
              </a:rPr>
              <a:t>SCRIPT.JS:</a:t>
            </a:r>
            <a:endParaRPr sz="1200">
              <a:latin typeface="Calibri"/>
              <a:cs typeface="Calibri"/>
            </a:endParaRPr>
          </a:p>
          <a:p>
            <a:pPr marL="18415" marR="5080" indent="-6350">
              <a:lnSpc>
                <a:spcPct val="173300"/>
              </a:lnSpc>
              <a:tabLst>
                <a:tab pos="1751964" algn="l"/>
              </a:tabLst>
            </a:pPr>
            <a:r>
              <a:rPr dirty="0" sz="1200">
                <a:latin typeface="Calibri"/>
                <a:cs typeface="Calibri"/>
              </a:rPr>
              <a:t>function </a:t>
            </a:r>
            <a:r>
              <a:rPr dirty="0" sz="1200" spc="-10">
                <a:latin typeface="Calibri"/>
                <a:cs typeface="Calibri"/>
              </a:rPr>
              <a:t>addEmployee()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const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name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document.getElementById("name").value;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928090" y="3758310"/>
            <a:ext cx="7442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const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role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136700" y="4075303"/>
            <a:ext cx="25355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document.getElementById("role").value;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136700" y="4392295"/>
            <a:ext cx="22358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fetch("</a:t>
            </a:r>
            <a:r>
              <a:rPr dirty="0" sz="1200" spc="-10">
                <a:latin typeface="Calibri"/>
                <a:cs typeface="Calibri"/>
                <a:hlinkClick r:id="rId2"/>
              </a:rPr>
              <a:t>http://localhost:3000/add</a:t>
            </a:r>
            <a:r>
              <a:rPr dirty="0" sz="1200" spc="-10">
                <a:latin typeface="Calibri"/>
                <a:cs typeface="Calibri"/>
              </a:rPr>
              <a:t>",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655184" y="4392295"/>
            <a:ext cx="10718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method: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"POST",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130604" y="4709286"/>
            <a:ext cx="2640965" cy="401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197612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headers: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42672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"Content-Type":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"application/json"</a:t>
            </a:r>
            <a:endParaRPr sz="1200">
              <a:latin typeface="Calibri"/>
              <a:cs typeface="Calibri"/>
            </a:endParaRPr>
          </a:p>
          <a:p>
            <a:pPr algn="ctr" marR="1967230">
              <a:lnSpc>
                <a:spcPct val="100000"/>
              </a:lnSpc>
              <a:spcBef>
                <a:spcPts val="1070"/>
              </a:spcBef>
            </a:pPr>
            <a:r>
              <a:rPr dirty="0" sz="1200" spc="-25">
                <a:latin typeface="Calibri"/>
                <a:cs typeface="Calibri"/>
              </a:rPr>
              <a:t>},</a:t>
            </a:r>
            <a:endParaRPr sz="1200">
              <a:latin typeface="Calibri"/>
              <a:cs typeface="Calibri"/>
            </a:endParaRPr>
          </a:p>
          <a:p>
            <a:pPr marL="28829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body: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JSON.stringify({ </a:t>
            </a:r>
            <a:r>
              <a:rPr dirty="0" sz="1200">
                <a:latin typeface="Calibri"/>
                <a:cs typeface="Calibri"/>
              </a:rPr>
              <a:t>name, role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.then(res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res.json())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.then(()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loadEmployees());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568325" indent="-6350">
              <a:lnSpc>
                <a:spcPct val="173300"/>
              </a:lnSpc>
              <a:spcBef>
                <a:spcPts val="15"/>
              </a:spcBef>
            </a:pPr>
            <a:r>
              <a:rPr dirty="0" sz="1200">
                <a:latin typeface="Calibri"/>
                <a:cs typeface="Calibri"/>
              </a:rPr>
              <a:t>function </a:t>
            </a:r>
            <a:r>
              <a:rPr dirty="0" sz="1200" spc="-10">
                <a:latin typeface="Calibri"/>
                <a:cs typeface="Calibri"/>
              </a:rPr>
              <a:t>loadEmployees()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 spc="-10">
                <a:latin typeface="Calibri"/>
                <a:cs typeface="Calibri"/>
              </a:rPr>
              <a:t>fetch("</a:t>
            </a:r>
            <a:r>
              <a:rPr dirty="0" sz="1200" spc="-10">
                <a:latin typeface="Calibri"/>
                <a:cs typeface="Calibri"/>
                <a:hlinkClick r:id="rId3"/>
              </a:rPr>
              <a:t>http://localhost:3000/all")</a:t>
            </a:r>
            <a:endParaRPr sz="1200">
              <a:latin typeface="Calibri"/>
              <a:cs typeface="Calibri"/>
            </a:endParaRPr>
          </a:p>
          <a:p>
            <a:pPr algn="just" marL="18415" marR="5080" indent="132080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.then(res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res.json())</a:t>
            </a:r>
            <a:r>
              <a:rPr dirty="0" sz="1200" spc="385">
                <a:latin typeface="Calibri"/>
                <a:cs typeface="Calibri"/>
              </a:rPr>
              <a:t>  </a:t>
            </a:r>
            <a:r>
              <a:rPr dirty="0" sz="1200" spc="-10">
                <a:latin typeface="Calibri"/>
                <a:cs typeface="Calibri"/>
              </a:rPr>
              <a:t>.then(data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>
                <a:latin typeface="Calibri"/>
                <a:cs typeface="Calibri"/>
              </a:rPr>
              <a:t>let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list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document.getElementById("list"); list.innerHTML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"";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406397" y="894333"/>
            <a:ext cx="13944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data.forEach(emp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222420" y="894333"/>
            <a:ext cx="4000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let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36700" y="1211326"/>
            <a:ext cx="192023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document.createElement("li");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480949" y="1211326"/>
            <a:ext cx="7086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li.innerText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130604" y="1528318"/>
            <a:ext cx="2205990" cy="75063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emp.name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+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"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-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"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+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emp.role;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list.appendChild(li);</a:t>
            </a:r>
            <a:endParaRPr sz="1200">
              <a:latin typeface="Calibri"/>
              <a:cs typeface="Calibri"/>
            </a:endParaRPr>
          </a:p>
          <a:p>
            <a:pPr algn="ctr" marR="1483360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loadEmployees();</a:t>
            </a:r>
            <a:endParaRPr sz="1200">
              <a:latin typeface="Calibri"/>
              <a:cs typeface="Calibri"/>
            </a:endParaRPr>
          </a:p>
          <a:p>
            <a:pPr algn="ctr" marR="1483995">
              <a:lnSpc>
                <a:spcPct val="100000"/>
              </a:lnSpc>
              <a:spcBef>
                <a:spcPts val="1055"/>
              </a:spcBef>
            </a:pPr>
            <a:r>
              <a:rPr dirty="0" sz="1200" spc="-10" b="1">
                <a:latin typeface="Calibri"/>
                <a:cs typeface="Calibri"/>
              </a:rPr>
              <a:t>SERVER.JS:</a:t>
            </a:r>
            <a:endParaRPr sz="1200">
              <a:latin typeface="Calibri"/>
              <a:cs typeface="Calibri"/>
            </a:endParaRPr>
          </a:p>
          <a:p>
            <a:pPr marL="18415" marR="37465" indent="-6350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express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require("express");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cors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require("cors");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const </a:t>
            </a:r>
            <a:r>
              <a:rPr dirty="0" sz="1200">
                <a:latin typeface="Calibri"/>
                <a:cs typeface="Calibri"/>
              </a:rPr>
              <a:t>path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require("path");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db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require("./db");</a:t>
            </a:r>
            <a:r>
              <a:rPr dirty="0" sz="1200">
                <a:latin typeface="Calibri"/>
                <a:cs typeface="Calibri"/>
              </a:rPr>
              <a:t> const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 </a:t>
            </a:r>
            <a:r>
              <a:rPr dirty="0" sz="1200" spc="-5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express();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app.use(cors());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60"/>
              </a:spcBef>
            </a:pPr>
            <a:r>
              <a:rPr dirty="0" sz="1200" spc="-10">
                <a:latin typeface="Calibri"/>
                <a:cs typeface="Calibri"/>
              </a:rPr>
              <a:t>app.use(express.json());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app.use(express.static(</a:t>
            </a:r>
            <a:r>
              <a:rPr dirty="0" u="sng" sz="1200" spc="18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1200" spc="-10">
                <a:latin typeface="Calibri"/>
                <a:cs typeface="Calibri"/>
              </a:rPr>
              <a:t>dirname))</a:t>
            </a:r>
            <a:endParaRPr sz="1200">
              <a:latin typeface="Calibri"/>
              <a:cs typeface="Calibri"/>
            </a:endParaRPr>
          </a:p>
          <a:p>
            <a:pPr marL="18415" marR="90170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;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app.get("/",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(req,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res)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>
                <a:latin typeface="Calibri"/>
                <a:cs typeface="Calibri"/>
              </a:rPr>
              <a:t>res.sendFile(path.join(</a:t>
            </a:r>
            <a:r>
              <a:rPr dirty="0" u="sng" sz="1200" spc="2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1200" spc="-10">
                <a:latin typeface="Calibri"/>
                <a:cs typeface="Calibri"/>
              </a:rPr>
              <a:t>dirname, "index.html"));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8415" marR="286385" indent="-6350">
              <a:lnSpc>
                <a:spcPct val="173300"/>
              </a:lnSpc>
              <a:spcBef>
                <a:spcPts val="20"/>
              </a:spcBef>
            </a:pPr>
            <a:r>
              <a:rPr dirty="0" sz="1200" spc="-10">
                <a:latin typeface="Calibri"/>
                <a:cs typeface="Calibri"/>
              </a:rPr>
              <a:t>app.post("/add",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(req,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res)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 spc="-10">
                <a:latin typeface="Calibri"/>
                <a:cs typeface="Calibri"/>
              </a:rPr>
              <a:t>db.addEmployee(req.body); res.json({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msg: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"Added"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8415" marR="407670" indent="-6350">
              <a:lnSpc>
                <a:spcPts val="2510"/>
              </a:lnSpc>
              <a:spcBef>
                <a:spcPts val="85"/>
              </a:spcBef>
            </a:pPr>
            <a:r>
              <a:rPr dirty="0" sz="1200">
                <a:latin typeface="Calibri"/>
                <a:cs typeface="Calibri"/>
              </a:rPr>
              <a:t>app.get("/all",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(req,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res)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 spc="-10">
                <a:latin typeface="Calibri"/>
                <a:cs typeface="Calibri"/>
              </a:rPr>
              <a:t>res.json(db.getEmployees());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0604" y="894333"/>
            <a:ext cx="3584575" cy="4319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8415" marR="5080" indent="-6350">
              <a:lnSpc>
                <a:spcPct val="169200"/>
              </a:lnSpc>
              <a:spcBef>
                <a:spcPts val="60"/>
              </a:spcBef>
              <a:tabLst>
                <a:tab pos="1577340" algn="l"/>
              </a:tabLst>
            </a:pPr>
            <a:r>
              <a:rPr dirty="0" sz="1200" spc="-10">
                <a:latin typeface="Calibri"/>
                <a:cs typeface="Calibri"/>
              </a:rPr>
              <a:t>app.listen(3000,</a:t>
            </a:r>
            <a:r>
              <a:rPr dirty="0" sz="1200">
                <a:latin typeface="Calibri"/>
                <a:cs typeface="Calibri"/>
              </a:rPr>
              <a:t> ()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console.log("</a:t>
            </a:r>
            <a:r>
              <a:rPr dirty="0" sz="1200" spc="3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running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at: </a:t>
            </a:r>
            <a:r>
              <a:rPr dirty="0" sz="1200" spc="-10">
                <a:latin typeface="Calibri"/>
                <a:cs typeface="Calibri"/>
                <a:hlinkClick r:id="rId2"/>
              </a:rPr>
              <a:t>http://localhost:3000</a:t>
            </a:r>
            <a:r>
              <a:rPr dirty="0" sz="1200" spc="-10">
                <a:latin typeface="Calibri"/>
                <a:cs typeface="Calibri"/>
              </a:rPr>
              <a:t>");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10" b="1">
                <a:latin typeface="Calibri"/>
                <a:cs typeface="Calibri"/>
              </a:rPr>
              <a:t>DB.JS:</a:t>
            </a:r>
            <a:endParaRPr sz="1200">
              <a:latin typeface="Calibri"/>
              <a:cs typeface="Calibri"/>
            </a:endParaRPr>
          </a:p>
          <a:p>
            <a:pPr marL="18415" marR="1868805" indent="-6350">
              <a:lnSpc>
                <a:spcPct val="173900"/>
              </a:lnSpc>
            </a:pPr>
            <a:r>
              <a:rPr dirty="0" sz="1200">
                <a:latin typeface="Calibri"/>
                <a:cs typeface="Calibri"/>
              </a:rPr>
              <a:t>let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employees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[];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function addEmployee(emp)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 spc="-10">
                <a:latin typeface="Calibri"/>
                <a:cs typeface="Calibri"/>
              </a:rPr>
              <a:t>employees.push(emp);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1973580" indent="-6350">
              <a:lnSpc>
                <a:spcPct val="173300"/>
              </a:lnSpc>
              <a:spcBef>
                <a:spcPts val="15"/>
              </a:spcBef>
            </a:pP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getEmployees()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>
                <a:latin typeface="Calibri"/>
                <a:cs typeface="Calibri"/>
              </a:rPr>
              <a:t>return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employees;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module.exports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{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addEmployee,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getEmployees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};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30604" y="6158865"/>
            <a:ext cx="5949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Calibri"/>
                <a:cs typeface="Calibri"/>
              </a:rPr>
              <a:t>OUTPUT: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4546219"/>
            <a:ext cx="5642610" cy="4346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6540" marR="302260" indent="28575">
              <a:lnSpc>
                <a:spcPct val="114199"/>
              </a:lnSpc>
              <a:spcBef>
                <a:spcPts val="100"/>
              </a:spcBef>
            </a:pPr>
            <a:r>
              <a:rPr dirty="0" sz="1200" spc="-25" b="1">
                <a:latin typeface="Calibri"/>
                <a:cs typeface="Calibri"/>
              </a:rPr>
              <a:t>RESULT: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Employee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Management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system </a:t>
            </a:r>
            <a:r>
              <a:rPr dirty="0" sz="1200">
                <a:latin typeface="Calibri"/>
                <a:cs typeface="Calibri"/>
              </a:rPr>
              <a:t>was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successfully implemented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a </a:t>
            </a:r>
            <a:r>
              <a:rPr dirty="0" sz="1200">
                <a:latin typeface="Calibri"/>
                <a:cs typeface="Calibri"/>
              </a:rPr>
              <a:t>userfriendly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interface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dynamic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handling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Node.js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backend.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20" b="1">
                <a:latin typeface="Calibri"/>
                <a:cs typeface="Calibri"/>
              </a:rPr>
              <a:t>TASK9:</a:t>
            </a:r>
            <a:r>
              <a:rPr dirty="0" sz="1200" spc="-10" b="1">
                <a:latin typeface="Calibri"/>
                <a:cs typeface="Calibri"/>
              </a:rPr>
              <a:t> Employee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MVC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APP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1200">
              <a:latin typeface="Calibri"/>
              <a:cs typeface="Calibri"/>
            </a:endParaRPr>
          </a:p>
          <a:p>
            <a:pPr marL="18415" marR="5080" indent="-6350">
              <a:lnSpc>
                <a:spcPct val="114199"/>
              </a:lnSpc>
              <a:spcBef>
                <a:spcPts val="5"/>
              </a:spcBef>
            </a:pPr>
            <a:r>
              <a:rPr dirty="0" sz="1200" b="1">
                <a:latin typeface="Calibri"/>
                <a:cs typeface="Calibri"/>
              </a:rPr>
              <a:t>AIM: </a:t>
            </a:r>
            <a:r>
              <a:rPr dirty="0" sz="1200" spc="-60">
                <a:latin typeface="Calibri"/>
                <a:cs typeface="Calibri"/>
              </a:rPr>
              <a:t>To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develop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basic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MVC-</a:t>
            </a:r>
            <a:r>
              <a:rPr dirty="0" sz="1200">
                <a:latin typeface="Calibri"/>
                <a:cs typeface="Calibri"/>
              </a:rPr>
              <a:t>based </a:t>
            </a:r>
            <a:r>
              <a:rPr dirty="0" sz="1200" spc="-10">
                <a:latin typeface="Calibri"/>
                <a:cs typeface="Calibri"/>
              </a:rPr>
              <a:t>Employee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application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HTML,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CSS,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JavaScript, </a:t>
            </a:r>
            <a:r>
              <a:rPr dirty="0" sz="1200" spc="-25">
                <a:latin typeface="Calibri"/>
                <a:cs typeface="Calibri"/>
              </a:rPr>
              <a:t>and </a:t>
            </a:r>
            <a:r>
              <a:rPr dirty="0" sz="1200">
                <a:latin typeface="Calibri"/>
                <a:cs typeface="Calibri"/>
              </a:rPr>
              <a:t>Node.js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handle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requests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display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employee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details.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 b="1">
                <a:latin typeface="Calibri"/>
                <a:cs typeface="Calibri"/>
              </a:rPr>
              <a:t>ALGORITHM: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Start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program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6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Create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project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(HTML,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CSS,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JS,</a:t>
            </a:r>
            <a:r>
              <a:rPr dirty="0" sz="1200" spc="-20">
                <a:latin typeface="Calibri"/>
                <a:cs typeface="Calibri"/>
              </a:rPr>
              <a:t> server.js,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db.js)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Design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UI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form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accept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employee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details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Apply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CSS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styling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better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interface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Capture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input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JavaScript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Send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request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fetch </a:t>
            </a:r>
            <a:r>
              <a:rPr dirty="0" sz="1200" spc="-25">
                <a:latin typeface="Calibri"/>
                <a:cs typeface="Calibri"/>
              </a:rPr>
              <a:t>API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6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Create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controller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logic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server.js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8560" y="914400"/>
            <a:ext cx="5943599" cy="3271520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3437890" cy="7833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79425" indent="-229235">
              <a:lnSpc>
                <a:spcPct val="100000"/>
              </a:lnSpc>
              <a:spcBef>
                <a:spcPts val="100"/>
              </a:spcBef>
              <a:buAutoNum type="arabicPeriod" startAt="8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Define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routes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handle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requests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(/add,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/all)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55"/>
              </a:spcBef>
              <a:buAutoNum type="arabicPeriod" startAt="8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Store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employee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memory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db.js</a:t>
            </a:r>
            <a:endParaRPr sz="1200">
              <a:latin typeface="Calibri"/>
              <a:cs typeface="Calibri"/>
            </a:endParaRPr>
          </a:p>
          <a:p>
            <a:pPr marL="477520" indent="-227329">
              <a:lnSpc>
                <a:spcPct val="100000"/>
              </a:lnSpc>
              <a:spcBef>
                <a:spcPts val="1070"/>
              </a:spcBef>
              <a:buAutoNum type="arabicPeriod" startAt="8"/>
              <a:tabLst>
                <a:tab pos="477520" algn="l"/>
              </a:tabLst>
            </a:pPr>
            <a:r>
              <a:rPr dirty="0" sz="1200" spc="-10">
                <a:latin typeface="Calibri"/>
                <a:cs typeface="Calibri"/>
              </a:rPr>
              <a:t>Retrieve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employee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database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module</a:t>
            </a:r>
            <a:endParaRPr sz="1200">
              <a:latin typeface="Calibri"/>
              <a:cs typeface="Calibri"/>
            </a:endParaRPr>
          </a:p>
          <a:p>
            <a:pPr marL="477520" indent="-227329">
              <a:lnSpc>
                <a:spcPct val="100000"/>
              </a:lnSpc>
              <a:spcBef>
                <a:spcPts val="1055"/>
              </a:spcBef>
              <a:buAutoNum type="arabicPeriod" startAt="8"/>
              <a:tabLst>
                <a:tab pos="477520" algn="l"/>
              </a:tabLst>
            </a:pPr>
            <a:r>
              <a:rPr dirty="0" sz="1200">
                <a:latin typeface="Calibri"/>
                <a:cs typeface="Calibri"/>
              </a:rPr>
              <a:t>Send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response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back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frontend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(view)</a:t>
            </a:r>
            <a:endParaRPr sz="1200">
              <a:latin typeface="Calibri"/>
              <a:cs typeface="Calibri"/>
            </a:endParaRPr>
          </a:p>
          <a:p>
            <a:pPr marL="477520" indent="-227329">
              <a:lnSpc>
                <a:spcPct val="100000"/>
              </a:lnSpc>
              <a:spcBef>
                <a:spcPts val="1065"/>
              </a:spcBef>
              <a:buAutoNum type="arabicPeriod" startAt="8"/>
              <a:tabLst>
                <a:tab pos="477520" algn="l"/>
              </a:tabLst>
            </a:pPr>
            <a:r>
              <a:rPr dirty="0" sz="1200">
                <a:latin typeface="Calibri"/>
                <a:cs typeface="Calibri"/>
              </a:rPr>
              <a:t>Display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employee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details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dynamically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stop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10" b="1">
                <a:latin typeface="Calibri"/>
                <a:cs typeface="Calibri"/>
              </a:rPr>
              <a:t>PROGRAM: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 b="1">
                <a:latin typeface="Calibri"/>
                <a:cs typeface="Calibri"/>
              </a:rPr>
              <a:t>INDEX.HTML:</a:t>
            </a:r>
            <a:endParaRPr sz="1200">
              <a:latin typeface="Calibri"/>
              <a:cs typeface="Calibri"/>
            </a:endParaRPr>
          </a:p>
          <a:p>
            <a:pPr marL="25019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&lt;!DOCTYPE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html&gt;</a:t>
            </a:r>
            <a:endParaRPr sz="1200">
              <a:latin typeface="Calibri"/>
              <a:cs typeface="Calibri"/>
            </a:endParaRPr>
          </a:p>
          <a:p>
            <a:pPr marL="25019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&lt;html&gt;</a:t>
            </a:r>
            <a:endParaRPr sz="1200">
              <a:latin typeface="Calibri"/>
              <a:cs typeface="Calibri"/>
            </a:endParaRPr>
          </a:p>
          <a:p>
            <a:pPr marL="25019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&lt;head&gt;</a:t>
            </a:r>
            <a:endParaRPr sz="1200">
              <a:latin typeface="Calibri"/>
              <a:cs typeface="Calibri"/>
            </a:endParaRPr>
          </a:p>
          <a:p>
            <a:pPr marL="38862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&lt;title&gt;Employee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MVC&lt;/title&gt;</a:t>
            </a:r>
            <a:endParaRPr sz="1200">
              <a:latin typeface="Calibri"/>
              <a:cs typeface="Calibri"/>
            </a:endParaRPr>
          </a:p>
          <a:p>
            <a:pPr marL="38862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&lt;link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rel="stylesheet"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href="style.css"&gt;</a:t>
            </a:r>
            <a:endParaRPr sz="1200">
              <a:latin typeface="Calibri"/>
              <a:cs typeface="Calibri"/>
            </a:endParaRPr>
          </a:p>
          <a:p>
            <a:pPr marL="25019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&lt;/head&gt;</a:t>
            </a:r>
            <a:endParaRPr sz="1200">
              <a:latin typeface="Calibri"/>
              <a:cs typeface="Calibri"/>
            </a:endParaRPr>
          </a:p>
          <a:p>
            <a:pPr marL="25019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&lt;body&gt;</a:t>
            </a:r>
            <a:endParaRPr sz="1200">
              <a:latin typeface="Calibri"/>
              <a:cs typeface="Calibri"/>
            </a:endParaRPr>
          </a:p>
          <a:p>
            <a:pPr marL="25019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&lt;div </a:t>
            </a:r>
            <a:r>
              <a:rPr dirty="0" sz="1200" spc="-10">
                <a:latin typeface="Calibri"/>
                <a:cs typeface="Calibri"/>
              </a:rPr>
              <a:t>class="container"&gt;</a:t>
            </a:r>
            <a:endParaRPr sz="1200">
              <a:latin typeface="Calibri"/>
              <a:cs typeface="Calibri"/>
            </a:endParaRPr>
          </a:p>
          <a:p>
            <a:pPr marL="38862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&lt;h2&gt;Employee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Details&lt;/h2&gt;</a:t>
            </a:r>
            <a:endParaRPr sz="1200">
              <a:latin typeface="Calibri"/>
              <a:cs typeface="Calibri"/>
            </a:endParaRPr>
          </a:p>
          <a:p>
            <a:pPr marL="38862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&lt;input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id="name"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placeholder="Name"&gt;</a:t>
            </a:r>
            <a:endParaRPr sz="1200">
              <a:latin typeface="Calibri"/>
              <a:cs typeface="Calibri"/>
            </a:endParaRPr>
          </a:p>
          <a:p>
            <a:pPr marL="38862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&lt;input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id="role"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placeholder="Role"&gt;</a:t>
            </a:r>
            <a:endParaRPr sz="1200">
              <a:latin typeface="Calibri"/>
              <a:cs typeface="Calibri"/>
            </a:endParaRPr>
          </a:p>
          <a:p>
            <a:pPr marL="38862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&lt;button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onclick="addEmployee()"&gt;Add&lt;/button&gt;</a:t>
            </a:r>
            <a:endParaRPr sz="1200">
              <a:latin typeface="Calibri"/>
              <a:cs typeface="Calibri"/>
            </a:endParaRPr>
          </a:p>
          <a:p>
            <a:pPr marL="38862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&lt;ul</a:t>
            </a:r>
            <a:r>
              <a:rPr dirty="0" sz="1200" spc="-10">
                <a:latin typeface="Calibri"/>
                <a:cs typeface="Calibri"/>
              </a:rPr>
              <a:t> id="list"&gt;&lt;/ul&gt;</a:t>
            </a:r>
            <a:endParaRPr sz="1200">
              <a:latin typeface="Calibri"/>
              <a:cs typeface="Calibri"/>
            </a:endParaRPr>
          </a:p>
          <a:p>
            <a:pPr marL="25019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&lt;/div&gt;</a:t>
            </a:r>
            <a:endParaRPr sz="1200">
              <a:latin typeface="Calibri"/>
              <a:cs typeface="Calibri"/>
            </a:endParaRPr>
          </a:p>
          <a:p>
            <a:pPr marL="25019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&lt;script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src="script.js"&gt;&lt;/script&gt;</a:t>
            </a:r>
            <a:endParaRPr sz="1200">
              <a:latin typeface="Calibri"/>
              <a:cs typeface="Calibri"/>
            </a:endParaRPr>
          </a:p>
          <a:p>
            <a:pPr marL="25019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&lt;/body&gt;</a:t>
            </a:r>
            <a:endParaRPr sz="1200">
              <a:latin typeface="Calibri"/>
              <a:cs typeface="Calibri"/>
            </a:endParaRPr>
          </a:p>
          <a:p>
            <a:pPr marL="25019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&lt;/html&gt;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 b="1">
                <a:latin typeface="Calibri"/>
                <a:cs typeface="Calibri"/>
              </a:rPr>
              <a:t>STYLE.CSS: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1546225" cy="84264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4805" algn="l"/>
              </a:tabLst>
            </a:pPr>
            <a:r>
              <a:rPr dirty="0" sz="1200">
                <a:latin typeface="Calibri"/>
                <a:cs typeface="Calibri"/>
              </a:rPr>
              <a:t>*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margin: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0;</a:t>
            </a:r>
            <a:endParaRPr sz="1200">
              <a:latin typeface="Calibri"/>
              <a:cs typeface="Calibri"/>
            </a:endParaRPr>
          </a:p>
          <a:p>
            <a:pPr marL="18415" marR="5080">
              <a:lnSpc>
                <a:spcPct val="173300"/>
              </a:lnSpc>
              <a:tabLst>
                <a:tab pos="885825" algn="l"/>
              </a:tabLst>
            </a:pPr>
            <a:r>
              <a:rPr dirty="0" sz="1200">
                <a:latin typeface="Calibri"/>
                <a:cs typeface="Calibri"/>
              </a:rPr>
              <a:t>padding: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0;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30">
                <a:latin typeface="Calibri"/>
                <a:cs typeface="Calibri"/>
              </a:rPr>
              <a:t>box-</a:t>
            </a:r>
            <a:r>
              <a:rPr dirty="0" sz="1200" spc="-10">
                <a:latin typeface="Calibri"/>
                <a:cs typeface="Calibri"/>
              </a:rPr>
              <a:t>sizing: border-</a:t>
            </a:r>
            <a:r>
              <a:rPr dirty="0" sz="1200" spc="-20">
                <a:latin typeface="Calibri"/>
                <a:cs typeface="Calibri"/>
              </a:rPr>
              <a:t>box;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92860" y="1845309"/>
            <a:ext cx="2703830" cy="843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5080" indent="-6350">
              <a:lnSpc>
                <a:spcPct val="173300"/>
              </a:lnSpc>
              <a:spcBef>
                <a:spcPts val="10"/>
              </a:spcBef>
              <a:tabLst>
                <a:tab pos="577850" algn="l"/>
              </a:tabLst>
            </a:pPr>
            <a:r>
              <a:rPr dirty="0" sz="1200">
                <a:latin typeface="Calibri"/>
                <a:cs typeface="Calibri"/>
              </a:rPr>
              <a:t>body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25">
                <a:latin typeface="Calibri"/>
                <a:cs typeface="Calibri"/>
              </a:rPr>
              <a:t>font-</a:t>
            </a:r>
            <a:r>
              <a:rPr dirty="0" sz="1200">
                <a:latin typeface="Calibri"/>
                <a:cs typeface="Calibri"/>
              </a:rPr>
              <a:t>family: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'Segoe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UI',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sans-serif; linear-gradient(135deg,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#1f1c2c,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#928dab);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689730" y="2163826"/>
            <a:ext cx="7975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background: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744595" y="2480818"/>
            <a:ext cx="45783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height: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92860" y="2797809"/>
            <a:ext cx="1536700" cy="2429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100vh;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1200">
              <a:latin typeface="Calibri"/>
              <a:cs typeface="Calibri"/>
            </a:endParaRPr>
          </a:p>
          <a:p>
            <a:pPr algn="just" marL="18415" marR="5080" indent="132080">
              <a:lnSpc>
                <a:spcPct val="173300"/>
              </a:lnSpc>
              <a:spcBef>
                <a:spcPts val="5"/>
              </a:spcBef>
            </a:pPr>
            <a:r>
              <a:rPr dirty="0" sz="1200">
                <a:latin typeface="Calibri"/>
                <a:cs typeface="Calibri"/>
              </a:rPr>
              <a:t>display: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flex;</a:t>
            </a:r>
            <a:r>
              <a:rPr dirty="0" sz="1200" spc="375">
                <a:latin typeface="Calibri"/>
                <a:cs typeface="Calibri"/>
              </a:rPr>
              <a:t>  </a:t>
            </a:r>
            <a:r>
              <a:rPr dirty="0" sz="1200" spc="-10">
                <a:latin typeface="Calibri"/>
                <a:cs typeface="Calibri"/>
              </a:rPr>
              <a:t>justify- content: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center;</a:t>
            </a:r>
            <a:r>
              <a:rPr dirty="0" sz="1200" spc="395">
                <a:latin typeface="Calibri"/>
                <a:cs typeface="Calibri"/>
              </a:rPr>
              <a:t>  </a:t>
            </a:r>
            <a:r>
              <a:rPr dirty="0" sz="1200" spc="-10">
                <a:latin typeface="Calibri"/>
                <a:cs typeface="Calibri"/>
              </a:rPr>
              <a:t>align- </a:t>
            </a:r>
            <a:r>
              <a:rPr dirty="0" sz="1200">
                <a:latin typeface="Calibri"/>
                <a:cs typeface="Calibri"/>
              </a:rPr>
              <a:t>items: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center;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200">
              <a:latin typeface="Calibri"/>
              <a:cs typeface="Calibri"/>
            </a:endParaRPr>
          </a:p>
          <a:p>
            <a:pPr marL="16002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color: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white;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92860" y="5337428"/>
            <a:ext cx="7359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.container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775205" y="5337428"/>
            <a:ext cx="14224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background: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rgba(255,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92860" y="5654421"/>
            <a:ext cx="2708275" cy="30651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  <a:tabLst>
                <a:tab pos="1080770" algn="l"/>
              </a:tabLst>
            </a:pPr>
            <a:r>
              <a:rPr dirty="0" sz="1200">
                <a:latin typeface="Calibri"/>
                <a:cs typeface="Calibri"/>
              </a:rPr>
              <a:t>255,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255,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0.1);</a:t>
            </a:r>
            <a:r>
              <a:rPr dirty="0" sz="1200">
                <a:latin typeface="Calibri"/>
                <a:cs typeface="Calibri"/>
              </a:rPr>
              <a:t>	padding: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30px;</a:t>
            </a:r>
            <a:endParaRPr sz="1200">
              <a:latin typeface="Calibri"/>
              <a:cs typeface="Calibri"/>
            </a:endParaRPr>
          </a:p>
          <a:p>
            <a:pPr marL="18415" marR="300990">
              <a:lnSpc>
                <a:spcPct val="173300"/>
              </a:lnSpc>
              <a:tabLst>
                <a:tab pos="871855" algn="l"/>
                <a:tab pos="1444625" algn="l"/>
                <a:tab pos="1890395" algn="l"/>
              </a:tabLst>
            </a:pPr>
            <a:r>
              <a:rPr dirty="0" sz="1200" spc="-10">
                <a:latin typeface="Calibri"/>
                <a:cs typeface="Calibri"/>
              </a:rPr>
              <a:t>border-</a:t>
            </a:r>
            <a:r>
              <a:rPr dirty="0" sz="1200">
                <a:latin typeface="Calibri"/>
                <a:cs typeface="Calibri"/>
              </a:rPr>
              <a:t>radius: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15px;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backdrop-filter: blur(10px);</a:t>
            </a:r>
            <a:r>
              <a:rPr dirty="0" sz="1200">
                <a:latin typeface="Calibri"/>
                <a:cs typeface="Calibri"/>
              </a:rPr>
              <a:t>	width: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320px;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20">
                <a:latin typeface="Calibri"/>
                <a:cs typeface="Calibri"/>
              </a:rPr>
              <a:t>text- </a:t>
            </a:r>
            <a:r>
              <a:rPr dirty="0" sz="1200">
                <a:latin typeface="Calibri"/>
                <a:cs typeface="Calibri"/>
              </a:rPr>
              <a:t>align: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center;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</a:pPr>
            <a:r>
              <a:rPr dirty="0" sz="1200" spc="-25">
                <a:latin typeface="Calibri"/>
                <a:cs typeface="Calibri"/>
              </a:rPr>
              <a:t>box-</a:t>
            </a:r>
            <a:r>
              <a:rPr dirty="0" sz="1200">
                <a:latin typeface="Calibri"/>
                <a:cs typeface="Calibri"/>
              </a:rPr>
              <a:t>shadow: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0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10px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25px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rgba(0,0,0,0.4);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1296670" indent="-6350">
              <a:lnSpc>
                <a:spcPct val="173300"/>
              </a:lnSpc>
              <a:spcBef>
                <a:spcPts val="15"/>
              </a:spcBef>
              <a:tabLst>
                <a:tab pos="425450" algn="l"/>
              </a:tabLst>
            </a:pPr>
            <a:r>
              <a:rPr dirty="0" sz="1200">
                <a:latin typeface="Calibri"/>
                <a:cs typeface="Calibri"/>
              </a:rPr>
              <a:t>h2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margin-bottom: 15px;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43560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input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474977" y="894333"/>
            <a:ext cx="421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width: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92860" y="1211326"/>
            <a:ext cx="1939289" cy="6870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100%;</a:t>
            </a:r>
            <a:endParaRPr sz="1200">
              <a:latin typeface="Calibri"/>
              <a:cs typeface="Calibri"/>
            </a:endParaRPr>
          </a:p>
          <a:p>
            <a:pPr marL="18415" marR="998855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padding: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10px; </a:t>
            </a:r>
            <a:r>
              <a:rPr dirty="0" sz="1200">
                <a:latin typeface="Calibri"/>
                <a:cs typeface="Calibri"/>
              </a:rPr>
              <a:t>margin: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8px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0;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1200">
              <a:latin typeface="Calibri"/>
              <a:cs typeface="Calibri"/>
            </a:endParaRPr>
          </a:p>
          <a:p>
            <a:pPr marL="18415" marR="156845" indent="132080">
              <a:lnSpc>
                <a:spcPct val="173300"/>
              </a:lnSpc>
              <a:tabLst>
                <a:tab pos="905510" algn="l"/>
                <a:tab pos="1176655" algn="l"/>
              </a:tabLst>
            </a:pPr>
            <a:r>
              <a:rPr dirty="0" sz="1200">
                <a:latin typeface="Calibri"/>
                <a:cs typeface="Calibri"/>
              </a:rPr>
              <a:t>border: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none;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border- </a:t>
            </a:r>
            <a:r>
              <a:rPr dirty="0" sz="1200">
                <a:latin typeface="Calibri"/>
                <a:cs typeface="Calibri"/>
              </a:rPr>
              <a:t>radius: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8px;</a:t>
            </a:r>
            <a:r>
              <a:rPr dirty="0" sz="1200">
                <a:latin typeface="Calibri"/>
                <a:cs typeface="Calibri"/>
              </a:rPr>
              <a:t>	outline: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none;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1200">
              <a:latin typeface="Calibri"/>
              <a:cs typeface="Calibri"/>
            </a:endParaRPr>
          </a:p>
          <a:p>
            <a:pPr algn="r" marR="817244">
              <a:lnSpc>
                <a:spcPct val="100000"/>
              </a:lnSpc>
            </a:pPr>
            <a:r>
              <a:rPr dirty="0" sz="1200" spc="-10">
                <a:latin typeface="Calibri"/>
                <a:cs typeface="Calibri"/>
              </a:rPr>
              <a:t>transition: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0.3s;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input:hover,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  <a:tabLst>
                <a:tab pos="963294" algn="l"/>
              </a:tabLst>
            </a:pPr>
            <a:r>
              <a:rPr dirty="0" sz="1200" spc="-10">
                <a:latin typeface="Calibri"/>
                <a:cs typeface="Calibri"/>
              </a:rPr>
              <a:t>input:focus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transform:</a:t>
            </a:r>
            <a:endParaRPr sz="1200">
              <a:latin typeface="Calibri"/>
              <a:cs typeface="Calibri"/>
            </a:endParaRPr>
          </a:p>
          <a:p>
            <a:pPr marL="18415" marR="17780">
              <a:lnSpc>
                <a:spcPct val="173300"/>
              </a:lnSpc>
              <a:tabLst>
                <a:tab pos="901065" algn="l"/>
              </a:tabLst>
            </a:pPr>
            <a:r>
              <a:rPr dirty="0" sz="1200" spc="-10">
                <a:latin typeface="Calibri"/>
                <a:cs typeface="Calibri"/>
              </a:rPr>
              <a:t>scale(1.05);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25">
                <a:latin typeface="Calibri"/>
                <a:cs typeface="Calibri"/>
              </a:rPr>
              <a:t>box-</a:t>
            </a:r>
            <a:r>
              <a:rPr dirty="0" sz="1200" spc="-10">
                <a:latin typeface="Calibri"/>
                <a:cs typeface="Calibri"/>
              </a:rPr>
              <a:t>shadow: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0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0 </a:t>
            </a:r>
            <a:r>
              <a:rPr dirty="0" sz="1200">
                <a:latin typeface="Calibri"/>
                <a:cs typeface="Calibri"/>
              </a:rPr>
              <a:t>8px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#00f7ff;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algn="r" marR="850900">
              <a:lnSpc>
                <a:spcPct val="100000"/>
              </a:lnSpc>
              <a:spcBef>
                <a:spcPts val="1055"/>
              </a:spcBef>
              <a:tabLst>
                <a:tab pos="671830" algn="l"/>
              </a:tabLst>
            </a:pPr>
            <a:r>
              <a:rPr dirty="0" sz="1200" spc="-10">
                <a:latin typeface="Calibri"/>
                <a:cs typeface="Calibri"/>
              </a:rPr>
              <a:t>button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width:</a:t>
            </a:r>
            <a:endParaRPr sz="1200">
              <a:latin typeface="Calibri"/>
              <a:cs typeface="Calibri"/>
            </a:endParaRPr>
          </a:p>
          <a:p>
            <a:pPr algn="r" marR="817244">
              <a:lnSpc>
                <a:spcPct val="100000"/>
              </a:lnSpc>
              <a:spcBef>
                <a:spcPts val="1060"/>
              </a:spcBef>
              <a:tabLst>
                <a:tab pos="554355" algn="l"/>
              </a:tabLst>
            </a:pPr>
            <a:r>
              <a:rPr dirty="0" sz="1200" spc="-10">
                <a:latin typeface="Calibri"/>
                <a:cs typeface="Calibri"/>
              </a:rPr>
              <a:t>100%;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padding: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  <a:tabLst>
                <a:tab pos="530225" algn="l"/>
              </a:tabLst>
            </a:pPr>
            <a:r>
              <a:rPr dirty="0" sz="1200" spc="-10">
                <a:latin typeface="Calibri"/>
                <a:cs typeface="Calibri"/>
              </a:rPr>
              <a:t>10px;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margin-</a:t>
            </a:r>
            <a:r>
              <a:rPr dirty="0" sz="1200" spc="-20">
                <a:latin typeface="Calibri"/>
                <a:cs typeface="Calibri"/>
              </a:rPr>
              <a:t>top: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10px;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latin typeface="Calibri"/>
                <a:cs typeface="Calibri"/>
              </a:rPr>
              <a:t>background: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#00c6ff;</a:t>
            </a:r>
            <a:endParaRPr sz="1200">
              <a:latin typeface="Calibri"/>
              <a:cs typeface="Calibri"/>
            </a:endParaRPr>
          </a:p>
          <a:p>
            <a:pPr marL="18415" marR="5080">
              <a:lnSpc>
                <a:spcPct val="173300"/>
              </a:lnSpc>
              <a:tabLst>
                <a:tab pos="1043940" algn="l"/>
              </a:tabLst>
            </a:pPr>
            <a:r>
              <a:rPr dirty="0" sz="1200">
                <a:latin typeface="Calibri"/>
                <a:cs typeface="Calibri"/>
              </a:rPr>
              <a:t>border: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none;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border-radius: 10px;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2456815" cy="72993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1052830">
              <a:lnSpc>
                <a:spcPct val="100000"/>
              </a:lnSpc>
              <a:spcBef>
                <a:spcPts val="100"/>
              </a:spcBef>
              <a:tabLst>
                <a:tab pos="950594" algn="l"/>
              </a:tabLst>
            </a:pPr>
            <a:r>
              <a:rPr dirty="0" sz="1200">
                <a:latin typeface="Calibri"/>
                <a:cs typeface="Calibri"/>
              </a:rPr>
              <a:t>color: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white;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20">
                <a:latin typeface="Calibri"/>
                <a:cs typeface="Calibri"/>
              </a:rPr>
              <a:t>font-</a:t>
            </a:r>
            <a:endParaRPr sz="1200">
              <a:latin typeface="Calibri"/>
              <a:cs typeface="Calibri"/>
            </a:endParaRPr>
          </a:p>
          <a:p>
            <a:pPr algn="r" marR="1016000">
              <a:lnSpc>
                <a:spcPct val="100000"/>
              </a:lnSpc>
              <a:spcBef>
                <a:spcPts val="1055"/>
              </a:spcBef>
              <a:tabLst>
                <a:tab pos="984250" algn="l"/>
              </a:tabLst>
            </a:pPr>
            <a:r>
              <a:rPr dirty="0" sz="1200">
                <a:latin typeface="Calibri"/>
                <a:cs typeface="Calibri"/>
              </a:rPr>
              <a:t>weight:</a:t>
            </a:r>
            <a:r>
              <a:rPr dirty="0" sz="1200" spc="-7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bold;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cursor: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pointer;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200">
              <a:latin typeface="Calibri"/>
              <a:cs typeface="Calibri"/>
            </a:endParaRPr>
          </a:p>
          <a:p>
            <a:pPr algn="r" marR="1334770">
              <a:lnSpc>
                <a:spcPct val="100000"/>
              </a:lnSpc>
              <a:spcBef>
                <a:spcPts val="5"/>
              </a:spcBef>
            </a:pPr>
            <a:r>
              <a:rPr dirty="0" sz="1200" spc="-10">
                <a:latin typeface="Calibri"/>
                <a:cs typeface="Calibri"/>
              </a:rPr>
              <a:t>transition: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0.3s;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button:hover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8415" marR="1032510">
              <a:lnSpc>
                <a:spcPct val="173300"/>
              </a:lnSpc>
              <a:spcBef>
                <a:spcPts val="5"/>
              </a:spcBef>
            </a:pPr>
            <a:r>
              <a:rPr dirty="0" sz="1200">
                <a:latin typeface="Calibri"/>
                <a:cs typeface="Calibri"/>
              </a:rPr>
              <a:t>background:</a:t>
            </a:r>
            <a:r>
              <a:rPr dirty="0" sz="1200" spc="-7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#0072ff; transform: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scale(1.05);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  <a:tabLst>
                <a:tab pos="466725" algn="l"/>
              </a:tabLst>
            </a:pPr>
            <a:r>
              <a:rPr dirty="0" sz="1200">
                <a:latin typeface="Calibri"/>
                <a:cs typeface="Calibri"/>
              </a:rPr>
              <a:t>}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ul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25">
                <a:latin typeface="Calibri"/>
                <a:cs typeface="Calibri"/>
              </a:rPr>
              <a:t>list-</a:t>
            </a:r>
            <a:r>
              <a:rPr dirty="0" sz="1200" spc="-10">
                <a:latin typeface="Calibri"/>
                <a:cs typeface="Calibri"/>
              </a:rPr>
              <a:t>style:</a:t>
            </a:r>
            <a:endParaRPr sz="1200">
              <a:latin typeface="Calibri"/>
              <a:cs typeface="Calibri"/>
            </a:endParaRPr>
          </a:p>
          <a:p>
            <a:pPr algn="r" marR="130683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none;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margin-</a:t>
            </a:r>
            <a:r>
              <a:rPr dirty="0" sz="1200" spc="-20">
                <a:latin typeface="Calibri"/>
                <a:cs typeface="Calibri"/>
              </a:rPr>
              <a:t>top: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45"/>
              </a:spcBef>
            </a:pPr>
            <a:r>
              <a:rPr dirty="0" sz="1200" spc="-10">
                <a:latin typeface="Calibri"/>
                <a:cs typeface="Calibri"/>
              </a:rPr>
              <a:t>15px;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}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li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60"/>
              </a:spcBef>
            </a:pP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8415" marR="5080" indent="132080">
              <a:lnSpc>
                <a:spcPct val="173300"/>
              </a:lnSpc>
              <a:tabLst>
                <a:tab pos="1028700" algn="l"/>
              </a:tabLst>
            </a:pPr>
            <a:r>
              <a:rPr dirty="0" sz="1200">
                <a:latin typeface="Calibri"/>
                <a:cs typeface="Calibri"/>
              </a:rPr>
              <a:t>background: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rgba(255,255,255,0.15); </a:t>
            </a:r>
            <a:r>
              <a:rPr dirty="0" sz="1200">
                <a:latin typeface="Calibri"/>
                <a:cs typeface="Calibri"/>
              </a:rPr>
              <a:t>padding: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8px;</a:t>
            </a:r>
            <a:r>
              <a:rPr dirty="0" sz="1200">
                <a:latin typeface="Calibri"/>
                <a:cs typeface="Calibri"/>
              </a:rPr>
              <a:t>	margin: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5px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0;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border-</a:t>
            </a:r>
            <a:r>
              <a:rPr dirty="0" sz="1200">
                <a:latin typeface="Calibri"/>
                <a:cs typeface="Calibri"/>
              </a:rPr>
              <a:t>radius: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6px;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1200">
              <a:latin typeface="Calibri"/>
              <a:cs typeface="Calibri"/>
            </a:endParaRPr>
          </a:p>
          <a:p>
            <a:pPr algn="r" marR="1334770">
              <a:lnSpc>
                <a:spcPct val="100000"/>
              </a:lnSpc>
            </a:pPr>
            <a:r>
              <a:rPr dirty="0" sz="1200" spc="-10">
                <a:latin typeface="Calibri"/>
                <a:cs typeface="Calibri"/>
              </a:rPr>
              <a:t>transition: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0.3s;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942975" indent="-6350">
              <a:lnSpc>
                <a:spcPct val="173300"/>
              </a:lnSpc>
              <a:spcBef>
                <a:spcPts val="15"/>
              </a:spcBef>
              <a:tabLst>
                <a:tab pos="734695" algn="l"/>
              </a:tabLst>
            </a:pPr>
            <a:r>
              <a:rPr dirty="0" sz="1200">
                <a:latin typeface="Calibri"/>
                <a:cs typeface="Calibri"/>
              </a:rPr>
              <a:t>li:hover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background: rgba(255,255,255,0.3);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92860" y="8301990"/>
            <a:ext cx="2651125" cy="84264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Calibri"/>
                <a:cs typeface="Calibri"/>
              </a:rPr>
              <a:t>SCRIPT.JS:</a:t>
            </a:r>
            <a:endParaRPr sz="1200">
              <a:latin typeface="Calibri"/>
              <a:cs typeface="Calibri"/>
            </a:endParaRPr>
          </a:p>
          <a:p>
            <a:pPr marL="18415" marR="5080" indent="-6350">
              <a:lnSpc>
                <a:spcPct val="173300"/>
              </a:lnSpc>
              <a:tabLst>
                <a:tab pos="1754505" algn="l"/>
              </a:tabLst>
            </a:pP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addEmployee()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const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name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document.getElementById("name").value;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692778" y="8935922"/>
            <a:ext cx="7442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const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role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3617595" cy="8143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  <a:tabLst>
                <a:tab pos="2702560" algn="l"/>
              </a:tabLst>
            </a:pPr>
            <a:r>
              <a:rPr dirty="0" sz="1200" spc="-10">
                <a:latin typeface="Calibri"/>
                <a:cs typeface="Calibri"/>
              </a:rPr>
              <a:t>document.getElementById("role").value;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fetch("/add",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  <a:tabLst>
                <a:tab pos="1376045" algn="l"/>
              </a:tabLst>
            </a:pPr>
            <a:r>
              <a:rPr dirty="0" sz="1200">
                <a:latin typeface="Calibri"/>
                <a:cs typeface="Calibri"/>
              </a:rPr>
              <a:t>method: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"POST",</a:t>
            </a:r>
            <a:r>
              <a:rPr dirty="0" sz="1200">
                <a:latin typeface="Calibri"/>
                <a:cs typeface="Calibri"/>
              </a:rPr>
              <a:t>	headers: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{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"Content-</a:t>
            </a:r>
            <a:r>
              <a:rPr dirty="0" sz="1200" spc="-10">
                <a:latin typeface="Calibri"/>
                <a:cs typeface="Calibri"/>
              </a:rPr>
              <a:t>Type":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  <a:tabLst>
                <a:tab pos="1570355" algn="l"/>
              </a:tabLst>
            </a:pPr>
            <a:r>
              <a:rPr dirty="0" sz="1200" spc="-10">
                <a:latin typeface="Calibri"/>
                <a:cs typeface="Calibri"/>
              </a:rPr>
              <a:t>"application/json"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},</a:t>
            </a:r>
            <a:r>
              <a:rPr dirty="0" sz="1200">
                <a:latin typeface="Calibri"/>
                <a:cs typeface="Calibri"/>
              </a:rPr>
              <a:t>	body: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JSON.stringify({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name,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role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.then(()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loadEmployees());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51130" marR="1934845" indent="-139065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function </a:t>
            </a:r>
            <a:r>
              <a:rPr dirty="0" sz="1200" spc="-10">
                <a:latin typeface="Calibri"/>
                <a:cs typeface="Calibri"/>
              </a:rPr>
              <a:t>loadEmployees()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 spc="-10">
                <a:latin typeface="Calibri"/>
                <a:cs typeface="Calibri"/>
              </a:rPr>
              <a:t>fetch("/all")</a:t>
            </a:r>
            <a:endParaRPr sz="1200">
              <a:latin typeface="Calibri"/>
              <a:cs typeface="Calibri"/>
            </a:endParaRPr>
          </a:p>
          <a:p>
            <a:pPr marL="16002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.then(res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res.json())</a:t>
            </a:r>
            <a:endParaRPr sz="1200">
              <a:latin typeface="Calibri"/>
              <a:cs typeface="Calibri"/>
            </a:endParaRPr>
          </a:p>
          <a:p>
            <a:pPr marL="18415" marR="1508760" indent="132080">
              <a:lnSpc>
                <a:spcPct val="173300"/>
              </a:lnSpc>
              <a:tabLst>
                <a:tab pos="1373505" algn="l"/>
              </a:tabLst>
            </a:pPr>
            <a:r>
              <a:rPr dirty="0" sz="1200" spc="-10">
                <a:latin typeface="Calibri"/>
                <a:cs typeface="Calibri"/>
              </a:rPr>
              <a:t>.then(data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let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document.getElementById("list");</a:t>
            </a:r>
            <a:endParaRPr sz="1200">
              <a:latin typeface="Calibri"/>
              <a:cs typeface="Calibri"/>
            </a:endParaRPr>
          </a:p>
          <a:p>
            <a:pPr marL="18415" marR="699135">
              <a:lnSpc>
                <a:spcPct val="173300"/>
              </a:lnSpc>
              <a:spcBef>
                <a:spcPts val="15"/>
              </a:spcBef>
              <a:tabLst>
                <a:tab pos="1541145" algn="l"/>
              </a:tabLst>
            </a:pPr>
            <a:r>
              <a:rPr dirty="0" sz="1200" spc="-10">
                <a:latin typeface="Calibri"/>
                <a:cs typeface="Calibri"/>
              </a:rPr>
              <a:t>list.innerHTML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"";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data.forEach(emp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>
                <a:latin typeface="Calibri"/>
                <a:cs typeface="Calibri"/>
              </a:rPr>
              <a:t>let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document.createElement("li");</a:t>
            </a:r>
            <a:endParaRPr sz="1200">
              <a:latin typeface="Calibri"/>
              <a:cs typeface="Calibri"/>
            </a:endParaRPr>
          </a:p>
          <a:p>
            <a:pPr marL="18415" marR="968375">
              <a:lnSpc>
                <a:spcPct val="173300"/>
              </a:lnSpc>
            </a:pPr>
            <a:r>
              <a:rPr dirty="0" sz="1200" spc="-20">
                <a:latin typeface="Calibri"/>
                <a:cs typeface="Calibri"/>
              </a:rPr>
              <a:t>li.innerText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emp.name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+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"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- " +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emp.role; list.appendChild(li);</a:t>
            </a:r>
            <a:endParaRPr sz="1200">
              <a:latin typeface="Calibri"/>
              <a:cs typeface="Calibri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loadEmployees();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 b="1">
                <a:latin typeface="Calibri"/>
                <a:cs typeface="Calibri"/>
              </a:rPr>
              <a:t>SERVER.JS:</a:t>
            </a:r>
            <a:endParaRPr sz="1200">
              <a:latin typeface="Calibri"/>
              <a:cs typeface="Calibri"/>
            </a:endParaRPr>
          </a:p>
          <a:p>
            <a:pPr marL="18415" marR="1182370" indent="-6350">
              <a:lnSpc>
                <a:spcPct val="173300"/>
              </a:lnSpc>
              <a:spcBef>
                <a:spcPts val="5"/>
              </a:spcBef>
            </a:pP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express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require("express");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cors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require("cors");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path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require("path");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db </a:t>
            </a:r>
            <a:r>
              <a:rPr dirty="0" sz="1200" spc="-50">
                <a:latin typeface="Calibri"/>
                <a:cs typeface="Calibri"/>
              </a:rPr>
              <a:t>=</a:t>
            </a:r>
            <a:endParaRPr sz="1200">
              <a:latin typeface="Calibri"/>
              <a:cs typeface="Calibri"/>
            </a:endParaRPr>
          </a:p>
          <a:p>
            <a:pPr marL="18415" marR="1250315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require("./db");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 = </a:t>
            </a:r>
            <a:r>
              <a:rPr dirty="0" sz="1200" spc="-10">
                <a:latin typeface="Calibri"/>
                <a:cs typeface="Calibri"/>
              </a:rPr>
              <a:t>express(); app.use(cors());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3737610" cy="63461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app.use(express.json());</a:t>
            </a:r>
            <a:endParaRPr sz="1200">
              <a:latin typeface="Calibri"/>
              <a:cs typeface="Calibri"/>
            </a:endParaRPr>
          </a:p>
          <a:p>
            <a:pPr marL="18415" marR="1433830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app.use(express.static(</a:t>
            </a:r>
            <a:r>
              <a:rPr dirty="0" u="sng" sz="1200" spc="18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1200" spc="-10">
                <a:latin typeface="Calibri"/>
                <a:cs typeface="Calibri"/>
              </a:rPr>
              <a:t>dirname)); app.post("/add",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(req,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res)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 spc="-10">
                <a:latin typeface="Calibri"/>
                <a:cs typeface="Calibri"/>
              </a:rPr>
              <a:t>db.addEmployee(req.body);</a:t>
            </a:r>
            <a:r>
              <a:rPr dirty="0" sz="1200" spc="5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res.json({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msg: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"Employee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Added"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app.get("/all",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(req,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res)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{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res.json(db.getEmployees());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app.listen(3000,</a:t>
            </a:r>
            <a:r>
              <a:rPr dirty="0" sz="1200">
                <a:latin typeface="Calibri"/>
                <a:cs typeface="Calibri"/>
              </a:rPr>
              <a:t> ()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60"/>
              </a:spcBef>
            </a:pPr>
            <a:r>
              <a:rPr dirty="0" sz="1200" spc="-10">
                <a:latin typeface="Calibri"/>
                <a:cs typeface="Calibri"/>
              </a:rPr>
              <a:t>console.log(</a:t>
            </a:r>
            <a:r>
              <a:rPr dirty="0" sz="1200" spc="-10">
                <a:latin typeface="Calibri"/>
                <a:cs typeface="Calibri"/>
                <a:hlinkClick r:id="rId2"/>
              </a:rPr>
              <a:t>"http://localhost:3000");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 b="1">
                <a:latin typeface="Calibri"/>
                <a:cs typeface="Calibri"/>
              </a:rPr>
              <a:t>DB.JS:</a:t>
            </a:r>
            <a:endParaRPr sz="1200">
              <a:latin typeface="Calibri"/>
              <a:cs typeface="Calibri"/>
            </a:endParaRPr>
          </a:p>
          <a:p>
            <a:pPr marL="18415" marR="2020570" indent="-6350">
              <a:lnSpc>
                <a:spcPct val="173400"/>
              </a:lnSpc>
            </a:pPr>
            <a:r>
              <a:rPr dirty="0" sz="1200">
                <a:latin typeface="Calibri"/>
                <a:cs typeface="Calibri"/>
              </a:rPr>
              <a:t>let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employees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[];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function addEmployee(emp)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 spc="-10">
                <a:latin typeface="Calibri"/>
                <a:cs typeface="Calibri"/>
              </a:rPr>
              <a:t>employees.push(emp);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2126615" indent="-6350">
              <a:lnSpc>
                <a:spcPct val="173300"/>
              </a:lnSpc>
              <a:spcBef>
                <a:spcPts val="15"/>
              </a:spcBef>
            </a:pP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getEmployees()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>
                <a:latin typeface="Calibri"/>
                <a:cs typeface="Calibri"/>
              </a:rPr>
              <a:t>return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employees;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module.exports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{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addEmployee,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getEmployees</a:t>
            </a:r>
            <a:r>
              <a:rPr dirty="0" sz="1200">
                <a:latin typeface="Calibri"/>
                <a:cs typeface="Calibri"/>
              </a:rPr>
              <a:t> };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OUTPUT: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3433698"/>
            <a:ext cx="5698490" cy="5742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 marR="5080" indent="-6350">
              <a:lnSpc>
                <a:spcPct val="114199"/>
              </a:lnSpc>
              <a:spcBef>
                <a:spcPts val="100"/>
              </a:spcBef>
            </a:pPr>
            <a:r>
              <a:rPr dirty="0" sz="1200" spc="-20" b="1">
                <a:latin typeface="Calibri"/>
                <a:cs typeface="Calibri"/>
              </a:rPr>
              <a:t>RESULT: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MVC-</a:t>
            </a:r>
            <a:r>
              <a:rPr dirty="0" sz="1200">
                <a:latin typeface="Calibri"/>
                <a:cs typeface="Calibri"/>
              </a:rPr>
              <a:t>based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Employee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application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successfully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implemented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Node.js, </a:t>
            </a:r>
            <a:r>
              <a:rPr dirty="0" sz="1200">
                <a:latin typeface="Calibri"/>
                <a:cs typeface="Calibri"/>
              </a:rPr>
              <a:t>where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requests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processed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employee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details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were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displayed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dynamically.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 b="1">
                <a:latin typeface="Calibri"/>
                <a:cs typeface="Calibri"/>
              </a:rPr>
              <a:t>TASK10:</a:t>
            </a:r>
            <a:r>
              <a:rPr dirty="0" sz="1200" spc="-4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Student</a:t>
            </a:r>
            <a:r>
              <a:rPr dirty="0" sz="1200" spc="-5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Crud</a:t>
            </a:r>
            <a:r>
              <a:rPr dirty="0" sz="1200" spc="-55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App</a:t>
            </a:r>
            <a:endParaRPr sz="1200">
              <a:latin typeface="Calibri"/>
              <a:cs typeface="Calibri"/>
            </a:endParaRPr>
          </a:p>
          <a:p>
            <a:pPr marL="18415" marR="222250" indent="-6350">
              <a:lnSpc>
                <a:spcPct val="114199"/>
              </a:lnSpc>
              <a:spcBef>
                <a:spcPts val="850"/>
              </a:spcBef>
            </a:pPr>
            <a:r>
              <a:rPr dirty="0" sz="1200" b="1">
                <a:latin typeface="Calibri"/>
                <a:cs typeface="Calibri"/>
              </a:rPr>
              <a:t>AIM: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spc="-6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develop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Student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CRUD</a:t>
            </a:r>
            <a:r>
              <a:rPr dirty="0" sz="1200" spc="-10">
                <a:latin typeface="Calibri"/>
                <a:cs typeface="Calibri"/>
              </a:rPr>
              <a:t> application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HTML,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CSS,</a:t>
            </a:r>
            <a:r>
              <a:rPr dirty="0" sz="1200" spc="-10">
                <a:latin typeface="Calibri"/>
                <a:cs typeface="Calibri"/>
              </a:rPr>
              <a:t> JavaScript,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Node.js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to </a:t>
            </a:r>
            <a:r>
              <a:rPr dirty="0" sz="1200">
                <a:latin typeface="Calibri"/>
                <a:cs typeface="Calibri"/>
              </a:rPr>
              <a:t>perform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create,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read,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update,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delete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operations.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 b="1">
                <a:latin typeface="Calibri"/>
                <a:cs typeface="Calibri"/>
              </a:rPr>
              <a:t>ALGORITHM: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Start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program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Create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project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(HTML,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CSS,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JS,</a:t>
            </a:r>
            <a:r>
              <a:rPr dirty="0" sz="1200" spc="-20">
                <a:latin typeface="Calibri"/>
                <a:cs typeface="Calibri"/>
              </a:rPr>
              <a:t> server.js,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db.js)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Design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UI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student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input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(id,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name,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course)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6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Apply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CSS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styling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layout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Capture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input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JavaScript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6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Send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fetch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API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6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Create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backend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Node.js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Express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Implement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Create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operation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(POST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request)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6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Implement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Read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operation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(GET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request)</a:t>
            </a:r>
            <a:endParaRPr sz="1200">
              <a:latin typeface="Calibri"/>
              <a:cs typeface="Calibri"/>
            </a:endParaRPr>
          </a:p>
          <a:p>
            <a:pPr marL="477520" indent="-227329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7520" algn="l"/>
              </a:tabLst>
            </a:pPr>
            <a:r>
              <a:rPr dirty="0" sz="1200">
                <a:latin typeface="Calibri"/>
                <a:cs typeface="Calibri"/>
              </a:rPr>
              <a:t>Implement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Update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operation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(PUT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request)</a:t>
            </a:r>
            <a:endParaRPr sz="1200">
              <a:latin typeface="Calibri"/>
              <a:cs typeface="Calibri"/>
            </a:endParaRPr>
          </a:p>
          <a:p>
            <a:pPr marL="477520" indent="-227329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7520" algn="l"/>
              </a:tabLst>
            </a:pPr>
            <a:r>
              <a:rPr dirty="0" sz="1200">
                <a:latin typeface="Calibri"/>
                <a:cs typeface="Calibri"/>
              </a:rPr>
              <a:t>Implement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Delete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operation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(DELETE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request)</a:t>
            </a:r>
            <a:endParaRPr sz="1200">
              <a:latin typeface="Calibri"/>
              <a:cs typeface="Calibri"/>
            </a:endParaRPr>
          </a:p>
          <a:p>
            <a:pPr marL="477520" indent="-227329">
              <a:lnSpc>
                <a:spcPct val="100000"/>
              </a:lnSpc>
              <a:spcBef>
                <a:spcPts val="1065"/>
              </a:spcBef>
              <a:buAutoNum type="arabicPeriod"/>
              <a:tabLst>
                <a:tab pos="477520" algn="l"/>
              </a:tabLst>
            </a:pPr>
            <a:r>
              <a:rPr dirty="0" sz="1200">
                <a:latin typeface="Calibri"/>
                <a:cs typeface="Calibri"/>
              </a:rPr>
              <a:t>Display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updated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student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dynamically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stop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 b="1">
                <a:latin typeface="Calibri"/>
                <a:cs typeface="Calibri"/>
              </a:rPr>
              <a:t>PROGRAM: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450" y="914400"/>
            <a:ext cx="4358132" cy="2475229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3488054" cy="8161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Calibri"/>
                <a:cs typeface="Calibri"/>
              </a:rPr>
              <a:t>INDEX.HTML: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&lt;!DOCTYPE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html&gt;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&lt;html&gt;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&lt;head&gt;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&lt;title&gt;Student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CRUD&lt;/title&gt;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&lt;link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rel="stylesheet"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href="style.css"&gt;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&lt;/head&gt;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dirty="0" sz="1200" spc="-10">
                <a:latin typeface="Calibri"/>
                <a:cs typeface="Calibri"/>
              </a:rPr>
              <a:t>&lt;body&gt;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&lt;div </a:t>
            </a:r>
            <a:r>
              <a:rPr dirty="0" sz="1200" spc="-10">
                <a:latin typeface="Calibri"/>
                <a:cs typeface="Calibri"/>
              </a:rPr>
              <a:t>class="container"&gt;</a:t>
            </a:r>
            <a:endParaRPr sz="1200">
              <a:latin typeface="Calibri"/>
              <a:cs typeface="Calibri"/>
            </a:endParaRPr>
          </a:p>
          <a:p>
            <a:pPr marL="16002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&lt;h2&gt;Student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CRUD&lt;/h2&gt;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&lt;input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id="id"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placeholder="ID"&gt;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&lt;input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id="name"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placeholder="Name"&gt;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&lt;input </a:t>
            </a:r>
            <a:r>
              <a:rPr dirty="0" sz="1200" spc="-10">
                <a:latin typeface="Calibri"/>
                <a:cs typeface="Calibri"/>
              </a:rPr>
              <a:t>id="course"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placeholder="Course"&gt;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&lt;button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onclick="addStudent()"&gt;Add&lt;/button&gt;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&lt;button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onclick="updateStudent()"&gt;Update&lt;/button&gt;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&lt;ul</a:t>
            </a:r>
            <a:r>
              <a:rPr dirty="0" sz="1200" spc="-10">
                <a:latin typeface="Calibri"/>
                <a:cs typeface="Calibri"/>
              </a:rPr>
              <a:t> id="list"&gt;&lt;/ul&gt;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&lt;/div&gt;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&lt;script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src="script.js"&gt;&lt;/script&gt;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&lt;/body&gt;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  <a:tabLst>
                <a:tab pos="1812289" algn="l"/>
              </a:tabLst>
            </a:pPr>
            <a:r>
              <a:rPr dirty="0" sz="1200">
                <a:latin typeface="Calibri"/>
                <a:cs typeface="Calibri"/>
              </a:rPr>
              <a:t>&lt;/html&gt;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STYLE.CSS: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body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6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25">
                <a:latin typeface="Calibri"/>
                <a:cs typeface="Calibri"/>
              </a:rPr>
              <a:t>font-</a:t>
            </a:r>
            <a:r>
              <a:rPr dirty="0" sz="1200">
                <a:latin typeface="Calibri"/>
                <a:cs typeface="Calibri"/>
              </a:rPr>
              <a:t>family: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'Segoe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UI';</a:t>
            </a:r>
            <a:endParaRPr sz="1200">
              <a:latin typeface="Calibri"/>
              <a:cs typeface="Calibri"/>
            </a:endParaRPr>
          </a:p>
          <a:p>
            <a:pPr marL="18415" marR="51435">
              <a:lnSpc>
                <a:spcPct val="173300"/>
              </a:lnSpc>
              <a:spcBef>
                <a:spcPts val="5"/>
              </a:spcBef>
              <a:tabLst>
                <a:tab pos="1080770" algn="l"/>
                <a:tab pos="1353185" algn="l"/>
                <a:tab pos="1985010" algn="l"/>
              </a:tabLst>
            </a:pPr>
            <a:r>
              <a:rPr dirty="0" sz="1200">
                <a:latin typeface="Calibri"/>
                <a:cs typeface="Calibri"/>
              </a:rPr>
              <a:t>background: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linear-gradient(135deg,#1f1c2c,#928dab); </a:t>
            </a:r>
            <a:r>
              <a:rPr dirty="0" sz="1200">
                <a:latin typeface="Calibri"/>
                <a:cs typeface="Calibri"/>
              </a:rPr>
              <a:t>height: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100vh;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display:flex;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justify-content:center; align-items:center;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color:white;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1814195" indent="-6350">
              <a:lnSpc>
                <a:spcPct val="173300"/>
              </a:lnSpc>
              <a:spcBef>
                <a:spcPts val="15"/>
              </a:spcBef>
              <a:tabLst>
                <a:tab pos="894715" algn="l"/>
              </a:tabLst>
            </a:pPr>
            <a:r>
              <a:rPr dirty="0" sz="1200">
                <a:latin typeface="Calibri"/>
                <a:cs typeface="Calibri"/>
              </a:rPr>
              <a:t>.container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background: rgba(255,255,255,0.1);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8956" y="894333"/>
            <a:ext cx="9055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padding:20px;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950466" y="894333"/>
            <a:ext cx="12471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border-radius:10px;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92860" y="1211326"/>
            <a:ext cx="1431290" cy="412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Calibri"/>
                <a:cs typeface="Calibri"/>
              </a:rPr>
              <a:t>text-</a:t>
            </a:r>
            <a:r>
              <a:rPr dirty="0" sz="1200" spc="-10">
                <a:latin typeface="Calibri"/>
                <a:cs typeface="Calibri"/>
              </a:rPr>
              <a:t>align:center;</a:t>
            </a:r>
            <a:endParaRPr sz="1200">
              <a:latin typeface="Calibri"/>
              <a:cs typeface="Calibri"/>
            </a:endParaRPr>
          </a:p>
          <a:p>
            <a:pPr marL="18415" marR="565785" indent="-6350">
              <a:lnSpc>
                <a:spcPct val="173300"/>
              </a:lnSpc>
              <a:spcBef>
                <a:spcPts val="865"/>
              </a:spcBef>
            </a:pPr>
            <a:r>
              <a:rPr dirty="0" sz="1200">
                <a:latin typeface="Calibri"/>
                <a:cs typeface="Calibri"/>
              </a:rPr>
              <a:t>}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input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 spc="-10">
                <a:latin typeface="Calibri"/>
                <a:cs typeface="Calibri"/>
              </a:rPr>
              <a:t>display:block;</a:t>
            </a:r>
            <a:endParaRPr sz="1200">
              <a:latin typeface="Calibri"/>
              <a:cs typeface="Calibri"/>
            </a:endParaRPr>
          </a:p>
          <a:p>
            <a:pPr marL="18415" marR="353060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margin:8px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auto; padding:8px;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5080" indent="-6350">
              <a:lnSpc>
                <a:spcPct val="173300"/>
              </a:lnSpc>
              <a:spcBef>
                <a:spcPts val="15"/>
              </a:spcBef>
              <a:tabLst>
                <a:tab pos="684530" algn="l"/>
              </a:tabLst>
            </a:pPr>
            <a:r>
              <a:rPr dirty="0" sz="1200" spc="-10">
                <a:latin typeface="Calibri"/>
                <a:cs typeface="Calibri"/>
              </a:rPr>
              <a:t>button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margin:5px; padding:8px;</a:t>
            </a:r>
            <a:endParaRPr sz="1200">
              <a:latin typeface="Calibri"/>
              <a:cs typeface="Calibri"/>
            </a:endParaRPr>
          </a:p>
          <a:p>
            <a:pPr marL="18415" marR="130810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background:#00c6ff; border:none;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color:white;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 b="1">
                <a:latin typeface="Calibri"/>
                <a:cs typeface="Calibri"/>
              </a:rPr>
              <a:t>SCRIPT.JS: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92860" y="5445633"/>
            <a:ext cx="14700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addStudent()</a:t>
            </a:r>
            <a:r>
              <a:rPr dirty="0" sz="1200" spc="-50">
                <a:latin typeface="Calibri"/>
                <a:cs typeface="Calibri"/>
              </a:rPr>
              <a:t> {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511679" y="5445633"/>
            <a:ext cx="12966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let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getInput();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92860" y="5762625"/>
            <a:ext cx="3123565" cy="33877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  <a:tabLst>
                <a:tab pos="1219200" algn="l"/>
                <a:tab pos="2576195" algn="l"/>
              </a:tabLst>
            </a:pPr>
            <a:r>
              <a:rPr dirty="0" sz="1200" spc="-10">
                <a:latin typeface="Calibri"/>
                <a:cs typeface="Calibri"/>
              </a:rPr>
              <a:t>fetch("/add",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method: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"POST",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headers:</a:t>
            </a:r>
            <a:endParaRPr sz="1200">
              <a:latin typeface="Calibri"/>
              <a:cs typeface="Calibri"/>
            </a:endParaRPr>
          </a:p>
          <a:p>
            <a:pPr marL="18415" marR="187325">
              <a:lnSpc>
                <a:spcPct val="173300"/>
              </a:lnSpc>
              <a:tabLst>
                <a:tab pos="2576195" algn="l"/>
              </a:tabLst>
            </a:pPr>
            <a:r>
              <a:rPr dirty="0" sz="1200" spc="-10">
                <a:latin typeface="Calibri"/>
                <a:cs typeface="Calibri"/>
              </a:rPr>
              <a:t>{"Content-Type":"application/json"},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20">
                <a:latin typeface="Calibri"/>
                <a:cs typeface="Calibri"/>
              </a:rPr>
              <a:t>body: </a:t>
            </a:r>
            <a:r>
              <a:rPr dirty="0" sz="1200" spc="-10">
                <a:latin typeface="Calibri"/>
                <a:cs typeface="Calibri"/>
              </a:rPr>
              <a:t>JSON.stringify(data)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}).then(loadStudents);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51130" marR="1562735" indent="-139065">
              <a:lnSpc>
                <a:spcPct val="173300"/>
              </a:lnSpc>
              <a:spcBef>
                <a:spcPts val="15"/>
              </a:spcBef>
            </a:pP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loadStudents()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 spc="-10">
                <a:latin typeface="Calibri"/>
                <a:cs typeface="Calibri"/>
              </a:rPr>
              <a:t>fetch("/all")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.then(res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res.json())</a:t>
            </a:r>
            <a:endParaRPr sz="1200">
              <a:latin typeface="Calibri"/>
              <a:cs typeface="Calibri"/>
            </a:endParaRPr>
          </a:p>
          <a:p>
            <a:pPr marL="16002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.then(data</a:t>
            </a:r>
            <a:r>
              <a:rPr dirty="0" sz="1200">
                <a:latin typeface="Calibri"/>
                <a:cs typeface="Calibri"/>
              </a:rPr>
              <a:t> =&gt;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2700" marR="224790" indent="276860">
              <a:lnSpc>
                <a:spcPct val="173300"/>
              </a:lnSpc>
              <a:spcBef>
                <a:spcPts val="15"/>
              </a:spcBef>
              <a:tabLst>
                <a:tab pos="1535430" algn="l"/>
              </a:tabLst>
            </a:pPr>
            <a:r>
              <a:rPr dirty="0" sz="1200">
                <a:latin typeface="Calibri"/>
                <a:cs typeface="Calibri"/>
              </a:rPr>
              <a:t>let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list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document.getElementById("list"); list.innerHTML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"";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data.forEach(s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3830954" cy="82670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let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document.createElement("li");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li.innerHTML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`</a:t>
            </a:r>
            <a:endParaRPr sz="1200">
              <a:latin typeface="Calibri"/>
              <a:cs typeface="Calibri"/>
            </a:endParaRPr>
          </a:p>
          <a:p>
            <a:pPr marL="56388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${s.id}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-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${s.name}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(${s.course})</a:t>
            </a:r>
            <a:endParaRPr sz="1200">
              <a:latin typeface="Calibri"/>
              <a:cs typeface="Calibri"/>
            </a:endParaRPr>
          </a:p>
          <a:p>
            <a:pPr marL="565785">
              <a:lnSpc>
                <a:spcPct val="100000"/>
              </a:lnSpc>
              <a:spcBef>
                <a:spcPts val="1225"/>
              </a:spcBef>
            </a:pPr>
            <a:r>
              <a:rPr dirty="0" sz="1200" spc="-10">
                <a:latin typeface="Calibri"/>
                <a:cs typeface="Calibri"/>
              </a:rPr>
              <a:t>&lt;button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onclick="deleteStudent(${s.id})"&gt;</a:t>
            </a:r>
            <a:r>
              <a:rPr dirty="0" sz="1200" spc="114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&lt;/button&gt;</a:t>
            </a:r>
            <a:endParaRPr sz="1200">
              <a:latin typeface="Calibri"/>
              <a:cs typeface="Calibri"/>
            </a:endParaRPr>
          </a:p>
          <a:p>
            <a:pPr marL="426720">
              <a:lnSpc>
                <a:spcPct val="100000"/>
              </a:lnSpc>
              <a:spcBef>
                <a:spcPts val="950"/>
              </a:spcBef>
            </a:pPr>
            <a:r>
              <a:rPr dirty="0" sz="1200" spc="-25">
                <a:latin typeface="Calibri"/>
                <a:cs typeface="Calibri"/>
              </a:rPr>
              <a:t>`;</a:t>
            </a:r>
            <a:endParaRPr sz="1200">
              <a:latin typeface="Calibri"/>
              <a:cs typeface="Calibri"/>
            </a:endParaRPr>
          </a:p>
          <a:p>
            <a:pPr marL="42672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list.appendChild(li);</a:t>
            </a:r>
            <a:endParaRPr sz="1200">
              <a:latin typeface="Calibri"/>
              <a:cs typeface="Calibri"/>
            </a:endParaRPr>
          </a:p>
          <a:p>
            <a:pPr marL="289560">
              <a:lnSpc>
                <a:spcPct val="100000"/>
              </a:lnSpc>
              <a:spcBef>
                <a:spcPts val="1070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715645" indent="-6350">
              <a:lnSpc>
                <a:spcPct val="173300"/>
              </a:lnSpc>
              <a:spcBef>
                <a:spcPts val="10"/>
              </a:spcBef>
              <a:tabLst>
                <a:tab pos="1426845" algn="l"/>
                <a:tab pos="1835150" algn="l"/>
              </a:tabLst>
            </a:pPr>
            <a:r>
              <a:rPr dirty="0" sz="1200">
                <a:latin typeface="Calibri"/>
                <a:cs typeface="Calibri"/>
              </a:rPr>
              <a:t>function </a:t>
            </a:r>
            <a:r>
              <a:rPr dirty="0" sz="1200" spc="-10">
                <a:latin typeface="Calibri"/>
                <a:cs typeface="Calibri"/>
              </a:rPr>
              <a:t>updateStudent()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let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getInput(); fetch("/update",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method: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"PUT",</a:t>
            </a:r>
            <a:endParaRPr sz="1200">
              <a:latin typeface="Calibri"/>
              <a:cs typeface="Calibri"/>
            </a:endParaRPr>
          </a:p>
          <a:p>
            <a:pPr marL="18415" marR="987425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headers: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{"Content-Type":"application/json"}, </a:t>
            </a:r>
            <a:r>
              <a:rPr dirty="0" sz="1200">
                <a:latin typeface="Calibri"/>
                <a:cs typeface="Calibri"/>
              </a:rPr>
              <a:t>body:</a:t>
            </a:r>
            <a:r>
              <a:rPr dirty="0" sz="1200" spc="-10">
                <a:latin typeface="Calibri"/>
                <a:cs typeface="Calibri"/>
              </a:rPr>
              <a:t> JSON.stringify(data)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}).then(loadStudents);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deleteStudent(id)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fetch(`/delete/${id}`, </a:t>
            </a:r>
            <a:r>
              <a:rPr dirty="0" sz="1200">
                <a:latin typeface="Calibri"/>
                <a:cs typeface="Calibri"/>
              </a:rPr>
              <a:t>{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method: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"DELETE"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.then(loadStudents);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getInput()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{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return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200">
              <a:latin typeface="Calibri"/>
              <a:cs typeface="Calibri"/>
            </a:endParaRPr>
          </a:p>
          <a:p>
            <a:pPr algn="ctr" marR="6731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id: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document.getElementById("id").value,</a:t>
            </a:r>
            <a:endParaRPr sz="1200">
              <a:latin typeface="Calibri"/>
              <a:cs typeface="Calibri"/>
            </a:endParaRPr>
          </a:p>
          <a:p>
            <a:pPr algn="ctr" marL="12700" marR="688975" indent="-80645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name: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document.getElementById("name").value, </a:t>
            </a:r>
            <a:r>
              <a:rPr dirty="0" sz="1200">
                <a:latin typeface="Calibri"/>
                <a:cs typeface="Calibri"/>
              </a:rPr>
              <a:t>course: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document.getElementById("course").value</a:t>
            </a:r>
            <a:endParaRPr sz="1200">
              <a:latin typeface="Calibri"/>
              <a:cs typeface="Calibri"/>
            </a:endParaRPr>
          </a:p>
          <a:p>
            <a:pPr algn="ctr" marR="3432175">
              <a:lnSpc>
                <a:spcPct val="100000"/>
              </a:lnSpc>
              <a:spcBef>
                <a:spcPts val="1060"/>
              </a:spcBef>
            </a:pPr>
            <a:r>
              <a:rPr dirty="0" sz="1200" spc="-25">
                <a:latin typeface="Calibri"/>
                <a:cs typeface="Calibri"/>
              </a:rPr>
              <a:t>};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2245995" cy="8253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loadStudents();</a:t>
            </a:r>
            <a:endParaRPr sz="1200">
              <a:latin typeface="Calibri"/>
              <a:cs typeface="Calibri"/>
            </a:endParaRPr>
          </a:p>
          <a:p>
            <a:pPr marL="18415" marR="282575" indent="-6350">
              <a:lnSpc>
                <a:spcPct val="173300"/>
              </a:lnSpc>
              <a:spcBef>
                <a:spcPts val="10"/>
              </a:spcBef>
            </a:pPr>
            <a:r>
              <a:rPr dirty="0" sz="1200" b="1">
                <a:latin typeface="Calibri"/>
                <a:cs typeface="Calibri"/>
              </a:rPr>
              <a:t>SERVER.JS: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express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require("express");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cors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require("cors");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db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6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require("./db");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 </a:t>
            </a:r>
            <a:r>
              <a:rPr dirty="0" sz="1200" spc="-5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express();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app.use(cors()); app.use(express.json());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60"/>
              </a:spcBef>
            </a:pPr>
            <a:r>
              <a:rPr dirty="0" sz="1200">
                <a:latin typeface="Calibri"/>
                <a:cs typeface="Calibri"/>
              </a:rPr>
              <a:t>app.use(express.static(</a:t>
            </a:r>
            <a:r>
              <a:rPr dirty="0" u="sng" sz="1200" spc="18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1200" spc="-10">
                <a:latin typeface="Calibri"/>
                <a:cs typeface="Calibri"/>
              </a:rPr>
              <a:t>dirname));</a:t>
            </a:r>
            <a:endParaRPr sz="1200">
              <a:latin typeface="Calibri"/>
              <a:cs typeface="Calibri"/>
            </a:endParaRPr>
          </a:p>
          <a:p>
            <a:pPr marL="18415" marR="539750" indent="-6350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CREATE</a:t>
            </a:r>
            <a:r>
              <a:rPr dirty="0" sz="1200" spc="-10">
                <a:latin typeface="Calibri"/>
                <a:cs typeface="Calibri"/>
              </a:rPr>
              <a:t> app.post("/add", </a:t>
            </a:r>
            <a:r>
              <a:rPr dirty="0" sz="1200">
                <a:latin typeface="Calibri"/>
                <a:cs typeface="Calibri"/>
              </a:rPr>
              <a:t>(req,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res)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8415" marR="688340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db.add(req.body); res.json({msg:"Added"});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8415" marR="498475" indent="-6350">
              <a:lnSpc>
                <a:spcPct val="173400"/>
              </a:lnSpc>
              <a:spcBef>
                <a:spcPts val="15"/>
              </a:spcBef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READ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app.get("/all",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(req, </a:t>
            </a:r>
            <a:r>
              <a:rPr dirty="0" sz="1200">
                <a:latin typeface="Calibri"/>
                <a:cs typeface="Calibri"/>
              </a:rPr>
              <a:t>res)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 spc="-10">
                <a:latin typeface="Calibri"/>
                <a:cs typeface="Calibri"/>
              </a:rPr>
              <a:t>res.json(db.getAll());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8415" marR="360680" indent="-6350">
              <a:lnSpc>
                <a:spcPct val="174200"/>
              </a:lnSpc>
              <a:spcBef>
                <a:spcPts val="10"/>
              </a:spcBef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UPDATE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app.put("/update", </a:t>
            </a:r>
            <a:r>
              <a:rPr dirty="0" sz="1200">
                <a:latin typeface="Calibri"/>
                <a:cs typeface="Calibri"/>
              </a:rPr>
              <a:t>(req,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res)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8415" marR="558800">
              <a:lnSpc>
                <a:spcPts val="2500"/>
              </a:lnSpc>
              <a:spcBef>
                <a:spcPts val="254"/>
              </a:spcBef>
            </a:pPr>
            <a:r>
              <a:rPr dirty="0" sz="1200" spc="-10">
                <a:latin typeface="Calibri"/>
                <a:cs typeface="Calibri"/>
              </a:rPr>
              <a:t>db.update(req.body); res.json({msg:"Updated"});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8415" marR="47625" indent="-6350">
              <a:lnSpc>
                <a:spcPct val="173300"/>
              </a:lnSpc>
              <a:spcBef>
                <a:spcPts val="15"/>
              </a:spcBef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DELETE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app.delete("/delete/:id", </a:t>
            </a:r>
            <a:r>
              <a:rPr dirty="0" sz="1200">
                <a:latin typeface="Calibri"/>
                <a:cs typeface="Calibri"/>
              </a:rPr>
              <a:t>(req,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res)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8415" marR="558800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db.remove(req.params.id); res.json({msg:"Deleted"});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3689350" cy="6445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app.listen(3000,</a:t>
            </a:r>
            <a:r>
              <a:rPr dirty="0" sz="1200">
                <a:latin typeface="Calibri"/>
                <a:cs typeface="Calibri"/>
              </a:rPr>
              <a:t> ()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console.log(</a:t>
            </a:r>
            <a:r>
              <a:rPr dirty="0" sz="1200" spc="-10">
                <a:latin typeface="Calibri"/>
                <a:cs typeface="Calibri"/>
                <a:hlinkClick r:id="rId2"/>
              </a:rPr>
              <a:t>"http://localhost:3000"))</a:t>
            </a:r>
            <a:r>
              <a:rPr dirty="0" sz="1200" spc="-10">
                <a:latin typeface="Calibri"/>
                <a:cs typeface="Calibri"/>
              </a:rPr>
              <a:t>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 b="1">
                <a:latin typeface="Calibri"/>
                <a:cs typeface="Calibri"/>
              </a:rPr>
              <a:t>DB.JS:</a:t>
            </a:r>
            <a:endParaRPr sz="1200">
              <a:latin typeface="Calibri"/>
              <a:cs typeface="Calibri"/>
            </a:endParaRPr>
          </a:p>
          <a:p>
            <a:pPr marL="18415" marR="2108835" indent="-6350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let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students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[];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function </a:t>
            </a:r>
            <a:r>
              <a:rPr dirty="0" sz="1200">
                <a:latin typeface="Calibri"/>
                <a:cs typeface="Calibri"/>
              </a:rPr>
              <a:t>add(s)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students.push(s);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2588260" indent="-6350">
              <a:lnSpc>
                <a:spcPct val="173300"/>
              </a:lnSpc>
              <a:spcBef>
                <a:spcPts val="15"/>
              </a:spcBef>
            </a:pP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getAll()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>
                <a:latin typeface="Calibri"/>
                <a:cs typeface="Calibri"/>
              </a:rPr>
              <a:t>return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students;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1844675" indent="-6350">
              <a:lnSpc>
                <a:spcPct val="173300"/>
              </a:lnSpc>
              <a:spcBef>
                <a:spcPts val="10"/>
              </a:spcBef>
            </a:pPr>
            <a:r>
              <a:rPr dirty="0" sz="1200">
                <a:latin typeface="Calibri"/>
                <a:cs typeface="Calibri"/>
              </a:rPr>
              <a:t>function </a:t>
            </a:r>
            <a:r>
              <a:rPr dirty="0" sz="1200" spc="-10">
                <a:latin typeface="Calibri"/>
                <a:cs typeface="Calibri"/>
              </a:rPr>
              <a:t>update(updated)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>
                <a:latin typeface="Calibri"/>
                <a:cs typeface="Calibri"/>
              </a:rPr>
              <a:t>students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10">
                <a:latin typeface="Calibri"/>
                <a:cs typeface="Calibri"/>
              </a:rPr>
              <a:t> students.map(s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=&gt;</a:t>
            </a:r>
            <a:endParaRPr sz="1200">
              <a:latin typeface="Calibri"/>
              <a:cs typeface="Calibri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s.id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==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updated.id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?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updated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: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s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 spc="-25">
                <a:latin typeface="Calibri"/>
                <a:cs typeface="Calibri"/>
              </a:rPr>
              <a:t>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1538605" indent="-6350">
              <a:lnSpc>
                <a:spcPct val="173300"/>
              </a:lnSpc>
              <a:spcBef>
                <a:spcPts val="10"/>
              </a:spcBef>
              <a:tabLst>
                <a:tab pos="1497965" algn="l"/>
              </a:tabLst>
            </a:pP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10">
                <a:latin typeface="Calibri"/>
                <a:cs typeface="Calibri"/>
              </a:rPr>
              <a:t> remove(id)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students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students.filter(s </a:t>
            </a:r>
            <a:r>
              <a:rPr dirty="0" sz="1200">
                <a:latin typeface="Calibri"/>
                <a:cs typeface="Calibri"/>
              </a:rPr>
              <a:t>=&gt; s.id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!= </a:t>
            </a:r>
            <a:r>
              <a:rPr dirty="0" sz="1200" spc="-20">
                <a:latin typeface="Calibri"/>
                <a:cs typeface="Calibri"/>
              </a:rPr>
              <a:t>id);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module.exports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{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add,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getAll,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update,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remove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};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 b="1">
                <a:latin typeface="Calibri"/>
                <a:cs typeface="Calibri"/>
              </a:rPr>
              <a:t>OUTPUT: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4567554"/>
            <a:ext cx="5894070" cy="4351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 marR="229870" indent="-6350">
              <a:lnSpc>
                <a:spcPct val="114199"/>
              </a:lnSpc>
              <a:spcBef>
                <a:spcPts val="100"/>
              </a:spcBef>
            </a:pPr>
            <a:r>
              <a:rPr dirty="0" sz="1200" spc="-20" b="1">
                <a:latin typeface="Calibri"/>
                <a:cs typeface="Calibri"/>
              </a:rPr>
              <a:t>RESULT:</a:t>
            </a:r>
            <a:r>
              <a:rPr dirty="0" sz="1200" spc="1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Student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CRUD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application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was</a:t>
            </a:r>
            <a:r>
              <a:rPr dirty="0" sz="1200" spc="-10">
                <a:latin typeface="Calibri"/>
                <a:cs typeface="Calibri"/>
              </a:rPr>
              <a:t> successfully implemented</a:t>
            </a:r>
            <a:r>
              <a:rPr dirty="0" sz="1200">
                <a:latin typeface="Calibri"/>
                <a:cs typeface="Calibri"/>
              </a:rPr>
              <a:t> with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full</a:t>
            </a:r>
            <a:r>
              <a:rPr dirty="0" sz="1200" spc="-10">
                <a:latin typeface="Calibri"/>
                <a:cs typeface="Calibri"/>
              </a:rPr>
              <a:t> create,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read, </a:t>
            </a:r>
            <a:r>
              <a:rPr dirty="0" sz="1200">
                <a:latin typeface="Calibri"/>
                <a:cs typeface="Calibri"/>
              </a:rPr>
              <a:t>update,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delete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operations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Node.js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dynamic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web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interface.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 b="1">
                <a:latin typeface="Calibri"/>
                <a:cs typeface="Calibri"/>
              </a:rPr>
              <a:t>TASK11:</a:t>
            </a:r>
            <a:r>
              <a:rPr dirty="0" sz="1200" spc="-5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Student</a:t>
            </a:r>
            <a:r>
              <a:rPr dirty="0" sz="1200" spc="-5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Data</a:t>
            </a:r>
            <a:r>
              <a:rPr dirty="0" sz="1200" spc="-6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Layer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200">
              <a:latin typeface="Calibri"/>
              <a:cs typeface="Calibri"/>
            </a:endParaRPr>
          </a:p>
          <a:p>
            <a:pPr marL="18415" marR="5080" indent="-6350">
              <a:lnSpc>
                <a:spcPct val="113300"/>
              </a:lnSpc>
              <a:spcBef>
                <a:spcPts val="5"/>
              </a:spcBef>
            </a:pPr>
            <a:r>
              <a:rPr dirty="0" sz="1200" b="1">
                <a:latin typeface="Calibri"/>
                <a:cs typeface="Calibri"/>
              </a:rPr>
              <a:t>AIM</a:t>
            </a:r>
            <a:r>
              <a:rPr dirty="0" sz="1200">
                <a:latin typeface="Calibri"/>
                <a:cs typeface="Calibri"/>
              </a:rPr>
              <a:t>: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implement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access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layer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managing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student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records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filtering,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sorting,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and </a:t>
            </a:r>
            <a:r>
              <a:rPr dirty="0" sz="1200">
                <a:latin typeface="Calibri"/>
                <a:cs typeface="Calibri"/>
              </a:rPr>
              <a:t>pagination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HTML,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CSS,</a:t>
            </a:r>
            <a:r>
              <a:rPr dirty="0" sz="1200" spc="-10">
                <a:latin typeface="Calibri"/>
                <a:cs typeface="Calibri"/>
              </a:rPr>
              <a:t> JavaScript,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Node.js.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 b="1">
                <a:latin typeface="Calibri"/>
                <a:cs typeface="Calibri"/>
              </a:rPr>
              <a:t>ALGORITHM: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Start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program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Create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project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(HTML,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CSS,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JS,</a:t>
            </a:r>
            <a:r>
              <a:rPr dirty="0" sz="1200" spc="-20">
                <a:latin typeface="Calibri"/>
                <a:cs typeface="Calibri"/>
              </a:rPr>
              <a:t> server.js,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db.js)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Design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UI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student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details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(id,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name,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age,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department)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Apply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CSS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styling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layout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UI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6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Capture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input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JavaScript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Send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backend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fetch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API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Create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Node.js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Express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9960" y="914400"/>
            <a:ext cx="5943599" cy="3609340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0604" y="894333"/>
            <a:ext cx="3352800" cy="8166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935" indent="-229235">
              <a:lnSpc>
                <a:spcPct val="100000"/>
              </a:lnSpc>
              <a:spcBef>
                <a:spcPts val="100"/>
              </a:spcBef>
              <a:buAutoNum type="arabicPeriod" startAt="8"/>
              <a:tabLst>
                <a:tab pos="241935" algn="l"/>
              </a:tabLst>
            </a:pPr>
            <a:r>
              <a:rPr dirty="0" sz="1200">
                <a:latin typeface="Calibri"/>
                <a:cs typeface="Calibri"/>
              </a:rPr>
              <a:t>Store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student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memory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(db.js)</a:t>
            </a:r>
            <a:endParaRPr sz="1200">
              <a:latin typeface="Calibri"/>
              <a:cs typeface="Calibri"/>
            </a:endParaRPr>
          </a:p>
          <a:p>
            <a:pPr marL="241935" indent="-229235">
              <a:lnSpc>
                <a:spcPct val="100000"/>
              </a:lnSpc>
              <a:spcBef>
                <a:spcPts val="1065"/>
              </a:spcBef>
              <a:buAutoNum type="arabicPeriod" startAt="8"/>
              <a:tabLst>
                <a:tab pos="241935" algn="l"/>
              </a:tabLst>
            </a:pPr>
            <a:r>
              <a:rPr dirty="0" sz="1200">
                <a:latin typeface="Calibri"/>
                <a:cs typeface="Calibri"/>
              </a:rPr>
              <a:t>Implement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filtering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(by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department/age)</a:t>
            </a:r>
            <a:endParaRPr sz="12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070"/>
              </a:spcBef>
              <a:buAutoNum type="arabicPeriod" startAt="8"/>
              <a:tabLst>
                <a:tab pos="240029" algn="l"/>
              </a:tabLst>
            </a:pPr>
            <a:r>
              <a:rPr dirty="0" sz="1200">
                <a:latin typeface="Calibri"/>
                <a:cs typeface="Calibri"/>
              </a:rPr>
              <a:t>Implement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sorting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(by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name/age)</a:t>
            </a:r>
            <a:endParaRPr sz="12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065"/>
              </a:spcBef>
              <a:buAutoNum type="arabicPeriod" startAt="8"/>
              <a:tabLst>
                <a:tab pos="240029" algn="l"/>
              </a:tabLst>
            </a:pPr>
            <a:r>
              <a:rPr dirty="0" sz="1200">
                <a:latin typeface="Calibri"/>
                <a:cs typeface="Calibri"/>
              </a:rPr>
              <a:t>Implement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pagination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(limit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&amp;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page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number)</a:t>
            </a:r>
            <a:endParaRPr sz="12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070"/>
              </a:spcBef>
              <a:buAutoNum type="arabicPeriod" startAt="8"/>
              <a:tabLst>
                <a:tab pos="240029" algn="l"/>
              </a:tabLst>
            </a:pPr>
            <a:r>
              <a:rPr dirty="0" sz="1200">
                <a:latin typeface="Calibri"/>
                <a:cs typeface="Calibri"/>
              </a:rPr>
              <a:t>Display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filtered,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sorted,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paginated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data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 b="1">
                <a:latin typeface="Calibri"/>
                <a:cs typeface="Calibri"/>
              </a:rPr>
              <a:t>PROGRAM: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dirty="0" sz="1200" spc="-10" b="1">
                <a:latin typeface="Calibri"/>
                <a:cs typeface="Calibri"/>
              </a:rPr>
              <a:t>INDEX.HTML: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>
                <a:latin typeface="Calibri"/>
                <a:cs typeface="Calibri"/>
              </a:rPr>
              <a:t>&lt;!DOCTYPE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html&gt;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&lt;html&gt;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&lt;head&gt;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&lt;title&gt;Student</a:t>
            </a:r>
            <a:r>
              <a:rPr dirty="0" sz="1200">
                <a:latin typeface="Calibri"/>
                <a:cs typeface="Calibri"/>
              </a:rPr>
              <a:t> Data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Layer&lt;/title&gt;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&lt;link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rel="stylesheet"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href="style.css"&gt;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&lt;/head&gt;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&lt;body&gt;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&lt;div </a:t>
            </a:r>
            <a:r>
              <a:rPr dirty="0" sz="1200" spc="-10">
                <a:latin typeface="Calibri"/>
                <a:cs typeface="Calibri"/>
              </a:rPr>
              <a:t>class="container"&gt;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&lt;h2&gt;Student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Data&lt;/h2&gt;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&lt;input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id="name"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placeholder="Name"&gt;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&lt;input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id="age"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placeholder="Age"&gt;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&lt;input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id="dept"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placeholder="Department"&gt;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&lt;button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onclick="addStudent()"&gt;Add&lt;/button&gt;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 spc="-20">
                <a:latin typeface="Calibri"/>
                <a:cs typeface="Calibri"/>
              </a:rPr>
              <a:t>&lt;hr&gt;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&lt;input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id="filterDept"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placeholder="Filter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Dept"&gt;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&lt;input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id="sortBy"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placeholder="Sort</a:t>
            </a:r>
            <a:r>
              <a:rPr dirty="0" sz="1200" spc="-10">
                <a:latin typeface="Calibri"/>
                <a:cs typeface="Calibri"/>
              </a:rPr>
              <a:t> (name/age)"&gt;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&lt;input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id="page"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placeholder="Page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No"&gt;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&lt;button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onclick="loadStudents()"&gt;Search&lt;/button&gt;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&lt;ul</a:t>
            </a:r>
            <a:r>
              <a:rPr dirty="0" sz="1200" spc="-10">
                <a:latin typeface="Calibri"/>
                <a:cs typeface="Calibri"/>
              </a:rPr>
              <a:t> id="list"&gt;&lt;/ul&gt;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0604" y="894333"/>
            <a:ext cx="1951989" cy="81419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&lt;/div&gt;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&lt;script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src="script.js"&gt;&lt;/script&gt;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&lt;/body&gt;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&lt;/html&gt;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STYLE.CSS:</a:t>
            </a:r>
            <a:endParaRPr sz="1200">
              <a:latin typeface="Calibri"/>
              <a:cs typeface="Calibri"/>
            </a:endParaRPr>
          </a:p>
          <a:p>
            <a:pPr marL="18415" marR="648335">
              <a:lnSpc>
                <a:spcPct val="173300"/>
              </a:lnSpc>
              <a:spcBef>
                <a:spcPts val="5"/>
              </a:spcBef>
              <a:tabLst>
                <a:tab pos="516890" algn="l"/>
                <a:tab pos="583565" algn="l"/>
              </a:tabLst>
            </a:pPr>
            <a:r>
              <a:rPr dirty="0" sz="1200">
                <a:latin typeface="Calibri"/>
                <a:cs typeface="Calibri"/>
              </a:rPr>
              <a:t>body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	</a:t>
            </a:r>
            <a:r>
              <a:rPr dirty="0" sz="1200" spc="-25">
                <a:latin typeface="Calibri"/>
                <a:cs typeface="Calibri"/>
              </a:rPr>
              <a:t>font-</a:t>
            </a:r>
            <a:r>
              <a:rPr dirty="0" sz="1200" spc="-10">
                <a:latin typeface="Calibri"/>
                <a:cs typeface="Calibri"/>
              </a:rPr>
              <a:t>family: Arial;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background:</a:t>
            </a:r>
            <a:endParaRPr sz="1200">
              <a:latin typeface="Calibri"/>
              <a:cs typeface="Calibri"/>
            </a:endParaRPr>
          </a:p>
          <a:p>
            <a:pPr marL="18415" marR="428625">
              <a:lnSpc>
                <a:spcPct val="173400"/>
              </a:lnSpc>
              <a:tabLst>
                <a:tab pos="739140" algn="l"/>
                <a:tab pos="922019" algn="l"/>
                <a:tab pos="1147445" algn="l"/>
              </a:tabLst>
            </a:pPr>
            <a:r>
              <a:rPr dirty="0" sz="1200" spc="-10">
                <a:latin typeface="Calibri"/>
                <a:cs typeface="Calibri"/>
              </a:rPr>
              <a:t>#1e1e2f;</a:t>
            </a:r>
            <a:r>
              <a:rPr dirty="0" sz="1200">
                <a:latin typeface="Calibri"/>
                <a:cs typeface="Calibri"/>
              </a:rPr>
              <a:t>	color: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white; display:flex;</a:t>
            </a:r>
            <a:r>
              <a:rPr dirty="0" sz="1200">
                <a:latin typeface="Calibri"/>
                <a:cs typeface="Calibri"/>
              </a:rPr>
              <a:t>		</a:t>
            </a:r>
            <a:r>
              <a:rPr dirty="0" sz="1200" spc="-10">
                <a:latin typeface="Calibri"/>
                <a:cs typeface="Calibri"/>
              </a:rPr>
              <a:t>justify- content:center;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align- items:center;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height:100vh;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767715" indent="-6350">
              <a:lnSpc>
                <a:spcPct val="173300"/>
              </a:lnSpc>
              <a:spcBef>
                <a:spcPts val="10"/>
              </a:spcBef>
              <a:tabLst>
                <a:tab pos="894715" algn="l"/>
              </a:tabLst>
            </a:pPr>
            <a:r>
              <a:rPr dirty="0" sz="1200">
                <a:latin typeface="Calibri"/>
                <a:cs typeface="Calibri"/>
              </a:rPr>
              <a:t>.container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30">
                <a:latin typeface="Calibri"/>
                <a:cs typeface="Calibri"/>
              </a:rPr>
              <a:t>text- </a:t>
            </a:r>
            <a:r>
              <a:rPr dirty="0" sz="1200" spc="-10">
                <a:latin typeface="Calibri"/>
                <a:cs typeface="Calibri"/>
              </a:rPr>
              <a:t>align:center;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1086485" indent="-6350">
              <a:lnSpc>
                <a:spcPct val="173300"/>
              </a:lnSpc>
              <a:spcBef>
                <a:spcPts val="10"/>
              </a:spcBef>
            </a:pPr>
            <a:r>
              <a:rPr dirty="0" sz="1200">
                <a:latin typeface="Calibri"/>
                <a:cs typeface="Calibri"/>
              </a:rPr>
              <a:t>input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 spc="-10">
                <a:latin typeface="Calibri"/>
                <a:cs typeface="Calibri"/>
              </a:rPr>
              <a:t>display:block; margin:5px; padding</a:t>
            </a:r>
            <a:r>
              <a:rPr dirty="0" sz="1200" spc="-10" b="1">
                <a:latin typeface="Calibri"/>
                <a:cs typeface="Calibri"/>
              </a:rPr>
              <a:t>:8px;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50" b="1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523875" indent="-6350">
              <a:lnSpc>
                <a:spcPct val="173300"/>
              </a:lnSpc>
              <a:tabLst>
                <a:tab pos="795655" algn="l"/>
                <a:tab pos="1086485" algn="l"/>
              </a:tabLst>
            </a:pPr>
            <a:r>
              <a:rPr dirty="0" sz="1200" spc="-10" b="1">
                <a:latin typeface="Calibri"/>
                <a:cs typeface="Calibri"/>
              </a:rPr>
              <a:t>SCRIPT.JS: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function </a:t>
            </a:r>
            <a:r>
              <a:rPr dirty="0" sz="1200">
                <a:latin typeface="Calibri"/>
                <a:cs typeface="Calibri"/>
              </a:rPr>
              <a:t>addStudent()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20">
                <a:latin typeface="Calibri"/>
                <a:cs typeface="Calibri"/>
              </a:rPr>
              <a:t>const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name: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  <a:tabLst>
                <a:tab pos="1108075" algn="l"/>
              </a:tabLst>
            </a:pPr>
            <a:r>
              <a:rPr dirty="0" sz="1200" spc="-10">
                <a:latin typeface="Calibri"/>
                <a:cs typeface="Calibri"/>
              </a:rPr>
              <a:t>val("name"),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20">
                <a:latin typeface="Calibri"/>
                <a:cs typeface="Calibri"/>
              </a:rPr>
              <a:t>age:</a:t>
            </a:r>
            <a:endParaRPr sz="1200">
              <a:latin typeface="Calibri"/>
              <a:cs typeface="Calibri"/>
            </a:endParaRPr>
          </a:p>
          <a:p>
            <a:pPr marL="18415" marR="641350">
              <a:lnSpc>
                <a:spcPct val="173300"/>
              </a:lnSpc>
              <a:spcBef>
                <a:spcPts val="5"/>
              </a:spcBef>
              <a:tabLst>
                <a:tab pos="975360" algn="l"/>
              </a:tabLst>
            </a:pPr>
            <a:r>
              <a:rPr dirty="0" sz="1200" spc="-10">
                <a:latin typeface="Calibri"/>
                <a:cs typeface="Calibri"/>
              </a:rPr>
              <a:t>val("age"),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20">
                <a:latin typeface="Calibri"/>
                <a:cs typeface="Calibri"/>
              </a:rPr>
              <a:t>dept: </a:t>
            </a:r>
            <a:r>
              <a:rPr dirty="0" sz="1200" spc="-10">
                <a:latin typeface="Calibri"/>
                <a:cs typeface="Calibri"/>
              </a:rPr>
              <a:t>val("dept")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0604" y="894333"/>
            <a:ext cx="2847975" cy="33877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113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Calibri"/>
                <a:cs typeface="Calibri"/>
              </a:rPr>
              <a:t>};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65"/>
              </a:spcBef>
              <a:tabLst>
                <a:tab pos="1350645" algn="l"/>
              </a:tabLst>
            </a:pPr>
            <a:r>
              <a:rPr dirty="0" sz="1200" spc="-10">
                <a:latin typeface="Calibri"/>
                <a:cs typeface="Calibri"/>
              </a:rPr>
              <a:t>fetch("/add",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method: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"POST",</a:t>
            </a:r>
            <a:endParaRPr sz="1200">
              <a:latin typeface="Calibri"/>
              <a:cs typeface="Calibri"/>
            </a:endParaRPr>
          </a:p>
          <a:p>
            <a:pPr marL="18415" marR="5080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headers: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{"Content-Type":"application/json"}, </a:t>
            </a:r>
            <a:r>
              <a:rPr dirty="0" sz="1200">
                <a:latin typeface="Calibri"/>
                <a:cs typeface="Calibri"/>
              </a:rPr>
              <a:t>body:</a:t>
            </a:r>
            <a:r>
              <a:rPr dirty="0" sz="1200" spc="-10">
                <a:latin typeface="Calibri"/>
                <a:cs typeface="Calibri"/>
              </a:rPr>
              <a:t> JSON.stringify(data)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60"/>
              </a:spcBef>
            </a:pPr>
            <a:r>
              <a:rPr dirty="0" sz="1200" spc="-10">
                <a:latin typeface="Calibri"/>
                <a:cs typeface="Calibri"/>
              </a:rPr>
              <a:t>}).then(loadStudents);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937894" indent="-6350">
              <a:lnSpc>
                <a:spcPct val="173800"/>
              </a:lnSpc>
              <a:spcBef>
                <a:spcPts val="20"/>
              </a:spcBef>
            </a:pP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loadStudents()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 spc="5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dept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val("filterDept");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sort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val("sortBy");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page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val("page"); fetch(`/students?dept=${dept}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36700" y="4389246"/>
            <a:ext cx="2699385" cy="1588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&amp;sort=${sort}&amp;page=${page}`)</a:t>
            </a:r>
            <a:endParaRPr sz="1200">
              <a:latin typeface="Calibri"/>
              <a:cs typeface="Calibri"/>
            </a:endParaRPr>
          </a:p>
          <a:p>
            <a:pPr marL="12700" marR="5080" indent="132080">
              <a:lnSpc>
                <a:spcPct val="173400"/>
              </a:lnSpc>
              <a:spcBef>
                <a:spcPts val="875"/>
              </a:spcBef>
              <a:tabLst>
                <a:tab pos="1535430" algn="l"/>
                <a:tab pos="1713230" algn="l"/>
              </a:tabLst>
            </a:pPr>
            <a:r>
              <a:rPr dirty="0" sz="1200" spc="-10">
                <a:latin typeface="Calibri"/>
                <a:cs typeface="Calibri"/>
              </a:rPr>
              <a:t>.then(res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res.json())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.then(data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 spc="500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list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document.getElementById("list"); list.innerHTML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"";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data.forEach(s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>
                <a:latin typeface="Calibri"/>
                <a:cs typeface="Calibri"/>
              </a:rPr>
              <a:t>let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document.createElement("li");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058792" y="4817490"/>
            <a:ext cx="1866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Calibri"/>
                <a:cs typeface="Calibri"/>
              </a:rPr>
              <a:t>let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30604" y="6085713"/>
            <a:ext cx="2902585" cy="2750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latin typeface="Calibri"/>
                <a:cs typeface="Calibri"/>
              </a:rPr>
              <a:t>li.innerText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`${s.name} </a:t>
            </a:r>
            <a:r>
              <a:rPr dirty="0" sz="1200">
                <a:latin typeface="Calibri"/>
                <a:cs typeface="Calibri"/>
              </a:rPr>
              <a:t>(${s.age})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-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${s.dept}`;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list.appendChild(li);</a:t>
            </a:r>
            <a:endParaRPr sz="1200">
              <a:latin typeface="Calibri"/>
              <a:cs typeface="Calibri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  <a:tabLst>
                <a:tab pos="1165860" algn="l"/>
              </a:tabLst>
            </a:pP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val(id){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return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document.getElementById(id).value;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loadStudents();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0604" y="894333"/>
            <a:ext cx="3143250" cy="7823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SERVER.JS: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express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</a:t>
            </a:r>
            <a:endParaRPr sz="1200">
              <a:latin typeface="Calibri"/>
              <a:cs typeface="Calibri"/>
            </a:endParaRPr>
          </a:p>
          <a:p>
            <a:pPr marL="18415" marR="1180465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require("express");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cors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require("cors");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db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6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require("./db");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 </a:t>
            </a:r>
            <a:r>
              <a:rPr dirty="0" sz="1200" spc="-5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express();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app.use(cors()); app.use(express.json());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app.use(express.static(</a:t>
            </a:r>
            <a:r>
              <a:rPr dirty="0" u="sng" sz="1200" spc="18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1200" spc="-10">
                <a:latin typeface="Calibri"/>
                <a:cs typeface="Calibri"/>
              </a:rPr>
              <a:t>dirname))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60"/>
              </a:spcBef>
            </a:pPr>
            <a:r>
              <a:rPr dirty="0" sz="1200" spc="-50">
                <a:latin typeface="Calibri"/>
                <a:cs typeface="Calibri"/>
              </a:rPr>
              <a:t>;</a:t>
            </a:r>
            <a:endParaRPr sz="1200">
              <a:latin typeface="Calibri"/>
              <a:cs typeface="Calibri"/>
            </a:endParaRPr>
          </a:p>
          <a:p>
            <a:pPr marL="18415" marR="1140460" indent="-6350">
              <a:lnSpc>
                <a:spcPct val="173300"/>
              </a:lnSpc>
              <a:spcBef>
                <a:spcPts val="10"/>
              </a:spcBef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student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app.post("/add", </a:t>
            </a:r>
            <a:r>
              <a:rPr dirty="0" sz="1200">
                <a:latin typeface="Calibri"/>
                <a:cs typeface="Calibri"/>
              </a:rPr>
              <a:t>(req,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res)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8415" marR="1586230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db.add(req.body); res.json({msg:"Added"});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Filter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+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Sort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+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Pagination</a:t>
            </a:r>
            <a:endParaRPr sz="1200">
              <a:latin typeface="Calibri"/>
              <a:cs typeface="Calibri"/>
            </a:endParaRPr>
          </a:p>
          <a:p>
            <a:pPr marL="18415" marR="516890">
              <a:lnSpc>
                <a:spcPct val="173300"/>
              </a:lnSpc>
              <a:spcBef>
                <a:spcPts val="5"/>
              </a:spcBef>
              <a:tabLst>
                <a:tab pos="879475" algn="l"/>
                <a:tab pos="1597660" algn="l"/>
                <a:tab pos="2039620" algn="l"/>
                <a:tab pos="2321560" algn="l"/>
              </a:tabLst>
            </a:pPr>
            <a:r>
              <a:rPr dirty="0" sz="1200" spc="-10">
                <a:latin typeface="Calibri"/>
                <a:cs typeface="Calibri"/>
              </a:rPr>
              <a:t>app.get("/students",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(req, res)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let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>
                <a:latin typeface="Calibri"/>
                <a:cs typeface="Calibri"/>
              </a:rPr>
              <a:t>dept,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sort,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page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}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req.query;</a:t>
            </a:r>
            <a:r>
              <a:rPr dirty="0" sz="1200">
                <a:latin typeface="Calibri"/>
                <a:cs typeface="Calibri"/>
              </a:rPr>
              <a:t>	let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db.getAll();</a:t>
            </a:r>
            <a:r>
              <a:rPr dirty="0" sz="1200">
                <a:latin typeface="Calibri"/>
                <a:cs typeface="Calibri"/>
              </a:rPr>
              <a:t>	//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FILTER</a:t>
            </a:r>
            <a:r>
              <a:rPr dirty="0" sz="1200">
                <a:latin typeface="Calibri"/>
                <a:cs typeface="Calibri"/>
              </a:rPr>
              <a:t>	if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(dept)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data.filter(s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s.dept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===</a:t>
            </a:r>
            <a:r>
              <a:rPr dirty="0" sz="1200" spc="-10">
                <a:latin typeface="Calibri"/>
                <a:cs typeface="Calibri"/>
              </a:rPr>
              <a:t> dept);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  <a:tabLst>
                <a:tab pos="803275" algn="l"/>
              </a:tabLst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SORT</a:t>
            </a:r>
            <a:r>
              <a:rPr dirty="0" sz="1200">
                <a:latin typeface="Calibri"/>
                <a:cs typeface="Calibri"/>
              </a:rPr>
              <a:t>	if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(sort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===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"name")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data.sort((a,b)=&gt;a.name.localeCompare(b.name));</a:t>
            </a:r>
            <a:endParaRPr sz="1200">
              <a:latin typeface="Calibri"/>
              <a:cs typeface="Calibri"/>
            </a:endParaRPr>
          </a:p>
          <a:p>
            <a:pPr marL="18415" marR="1206500" indent="132080">
              <a:lnSpc>
                <a:spcPct val="173300"/>
              </a:lnSpc>
              <a:spcBef>
                <a:spcPts val="5"/>
              </a:spcBef>
            </a:pPr>
            <a:r>
              <a:rPr dirty="0" sz="1200">
                <a:latin typeface="Calibri"/>
                <a:cs typeface="Calibri"/>
              </a:rPr>
              <a:t>}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else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(sort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===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"age")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 spc="-10">
                <a:latin typeface="Calibri"/>
                <a:cs typeface="Calibri"/>
              </a:rPr>
              <a:t>data.sort((a,b)=&gt;a.age</a:t>
            </a:r>
            <a:r>
              <a:rPr dirty="0" sz="1200" spc="8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-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b.age);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PAGINATION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0604" y="894333"/>
            <a:ext cx="4116070" cy="4335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1130">
              <a:lnSpc>
                <a:spcPct val="100000"/>
              </a:lnSpc>
              <a:spcBef>
                <a:spcPts val="100"/>
              </a:spcBef>
              <a:tabLst>
                <a:tab pos="1059180" algn="l"/>
              </a:tabLst>
            </a:pPr>
            <a:r>
              <a:rPr dirty="0" sz="1200">
                <a:latin typeface="Calibri"/>
                <a:cs typeface="Calibri"/>
              </a:rPr>
              <a:t>let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limit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3;</a:t>
            </a:r>
            <a:r>
              <a:rPr dirty="0" sz="1200">
                <a:latin typeface="Calibri"/>
                <a:cs typeface="Calibri"/>
              </a:rPr>
              <a:t>	page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parseInt(page)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||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1;</a:t>
            </a:r>
            <a:endParaRPr sz="1200">
              <a:latin typeface="Calibri"/>
              <a:cs typeface="Calibri"/>
            </a:endParaRPr>
          </a:p>
          <a:p>
            <a:pPr marL="18415" marR="1320800">
              <a:lnSpc>
                <a:spcPct val="173300"/>
              </a:lnSpc>
              <a:tabLst>
                <a:tab pos="1864360" algn="l"/>
              </a:tabLst>
            </a:pPr>
            <a:r>
              <a:rPr dirty="0" sz="1200">
                <a:latin typeface="Calibri"/>
                <a:cs typeface="Calibri"/>
              </a:rPr>
              <a:t>let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start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(page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-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1)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*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limit;</a:t>
            </a:r>
            <a:r>
              <a:rPr dirty="0" sz="1200">
                <a:latin typeface="Calibri"/>
                <a:cs typeface="Calibri"/>
              </a:rPr>
              <a:t>	let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paginated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data.slice(start, </a:t>
            </a:r>
            <a:r>
              <a:rPr dirty="0" sz="1200">
                <a:latin typeface="Calibri"/>
                <a:cs typeface="Calibri"/>
              </a:rPr>
              <a:t>start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+ </a:t>
            </a:r>
            <a:r>
              <a:rPr dirty="0" sz="1200" spc="-10">
                <a:latin typeface="Calibri"/>
                <a:cs typeface="Calibri"/>
              </a:rPr>
              <a:t>limit);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res.json(paginated);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app.listen(3000,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()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console.log(</a:t>
            </a:r>
            <a:r>
              <a:rPr dirty="0" sz="1200" spc="-10">
                <a:latin typeface="Calibri"/>
                <a:cs typeface="Calibri"/>
                <a:hlinkClick r:id="rId2"/>
              </a:rPr>
              <a:t>"http://localhost:3000"))</a:t>
            </a:r>
            <a:r>
              <a:rPr dirty="0" sz="1200" spc="-10">
                <a:latin typeface="Calibri"/>
                <a:cs typeface="Calibri"/>
              </a:rPr>
              <a:t>;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DB.JS:</a:t>
            </a:r>
            <a:endParaRPr sz="1200">
              <a:latin typeface="Calibri"/>
              <a:cs typeface="Calibri"/>
            </a:endParaRPr>
          </a:p>
          <a:p>
            <a:pPr marL="18415" marR="2535555" indent="-6350">
              <a:lnSpc>
                <a:spcPct val="173500"/>
              </a:lnSpc>
              <a:spcBef>
                <a:spcPts val="10"/>
              </a:spcBef>
            </a:pPr>
            <a:r>
              <a:rPr dirty="0" sz="1200">
                <a:latin typeface="Calibri"/>
                <a:cs typeface="Calibri"/>
              </a:rPr>
              <a:t>let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students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[];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function </a:t>
            </a:r>
            <a:r>
              <a:rPr dirty="0" sz="1200">
                <a:latin typeface="Calibri"/>
                <a:cs typeface="Calibri"/>
              </a:rPr>
              <a:t>add(s)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students.push(s);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3014980" indent="-6350">
              <a:lnSpc>
                <a:spcPct val="173300"/>
              </a:lnSpc>
              <a:spcBef>
                <a:spcPts val="15"/>
              </a:spcBef>
            </a:pP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getAll()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>
                <a:latin typeface="Calibri"/>
                <a:cs typeface="Calibri"/>
              </a:rPr>
              <a:t>return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students;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module.exports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{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add,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getAll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};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OUTPUT: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78560" y="5358891"/>
            <a:ext cx="5943599" cy="3332479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0604" y="868425"/>
            <a:ext cx="5392420" cy="443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 marR="5080" indent="-6350">
              <a:lnSpc>
                <a:spcPct val="114199"/>
              </a:lnSpc>
              <a:spcBef>
                <a:spcPts val="100"/>
              </a:spcBef>
            </a:pPr>
            <a:r>
              <a:rPr dirty="0" sz="1200" spc="-25" b="1">
                <a:latin typeface="Calibri"/>
                <a:cs typeface="Calibri"/>
              </a:rPr>
              <a:t>RESULT: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access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layer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successfully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implemented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filtering,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sorting,</a:t>
            </a:r>
            <a:r>
              <a:rPr dirty="0" sz="1200" spc="-25">
                <a:latin typeface="Calibri"/>
                <a:cs typeface="Calibri"/>
              </a:rPr>
              <a:t> and </a:t>
            </a:r>
            <a:r>
              <a:rPr dirty="0" sz="1200">
                <a:latin typeface="Calibri"/>
                <a:cs typeface="Calibri"/>
              </a:rPr>
              <a:t>pagination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Node.js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dynamic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frontend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interaction.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92860" y="1938273"/>
            <a:ext cx="5906770" cy="7099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Calibri"/>
                <a:cs typeface="Calibri"/>
              </a:rPr>
              <a:t>TASK12:</a:t>
            </a:r>
            <a:r>
              <a:rPr dirty="0" sz="1200" spc="-6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Product</a:t>
            </a:r>
            <a:r>
              <a:rPr dirty="0" sz="1200" spc="-65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Api</a:t>
            </a:r>
            <a:endParaRPr sz="1200">
              <a:latin typeface="Calibri"/>
              <a:cs typeface="Calibri"/>
            </a:endParaRPr>
          </a:p>
          <a:p>
            <a:pPr marL="18415" marR="5080" indent="-6350">
              <a:lnSpc>
                <a:spcPct val="114199"/>
              </a:lnSpc>
              <a:spcBef>
                <a:spcPts val="850"/>
              </a:spcBef>
            </a:pPr>
            <a:r>
              <a:rPr dirty="0" sz="1200" b="1">
                <a:latin typeface="Calibri"/>
                <a:cs typeface="Calibri"/>
              </a:rPr>
              <a:t>AIM:</a:t>
            </a:r>
            <a:r>
              <a:rPr dirty="0" sz="1200" spc="-45" b="1">
                <a:latin typeface="Calibri"/>
                <a:cs typeface="Calibri"/>
              </a:rPr>
              <a:t> </a:t>
            </a:r>
            <a:r>
              <a:rPr dirty="0" sz="1200" spc="-6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design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develop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RESTful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API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Management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Node.js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supports </a:t>
            </a:r>
            <a:r>
              <a:rPr dirty="0" sz="1200" spc="-40">
                <a:latin typeface="Calibri"/>
                <a:cs typeface="Calibri"/>
              </a:rPr>
              <a:t>GET,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30">
                <a:latin typeface="Calibri"/>
                <a:cs typeface="Calibri"/>
              </a:rPr>
              <a:t>POST,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40">
                <a:latin typeface="Calibri"/>
                <a:cs typeface="Calibri"/>
              </a:rPr>
              <a:t>PUT,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DELETE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operations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JSON</a:t>
            </a:r>
            <a:r>
              <a:rPr dirty="0" sz="1200" spc="-10">
                <a:latin typeface="Calibri"/>
                <a:cs typeface="Calibri"/>
              </a:rPr>
              <a:t> responses.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 b="1">
                <a:latin typeface="Calibri"/>
                <a:cs typeface="Calibri"/>
              </a:rPr>
              <a:t>ALGORITHM: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Start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program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Create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project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(server.js,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db.js,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HTML,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CSS,</a:t>
            </a:r>
            <a:r>
              <a:rPr dirty="0" sz="1200" spc="-25">
                <a:latin typeface="Calibri"/>
                <a:cs typeface="Calibri"/>
              </a:rPr>
              <a:t> JS)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Design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structure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(id,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name,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price)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6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Create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Node.js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Express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Enable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JSON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parsing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middleware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6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Implement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method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products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Implement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method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fetch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products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6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Implement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PUT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method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update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details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6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Implement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DELETE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method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remove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product</a:t>
            </a:r>
            <a:endParaRPr sz="1200">
              <a:latin typeface="Calibri"/>
              <a:cs typeface="Calibri"/>
            </a:endParaRPr>
          </a:p>
          <a:p>
            <a:pPr marL="477520" indent="-227329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7520" algn="l"/>
              </a:tabLst>
            </a:pPr>
            <a:r>
              <a:rPr dirty="0" sz="1200">
                <a:latin typeface="Calibri"/>
                <a:cs typeface="Calibri"/>
              </a:rPr>
              <a:t>Store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memory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db.js</a:t>
            </a:r>
            <a:endParaRPr sz="1200">
              <a:latin typeface="Calibri"/>
              <a:cs typeface="Calibri"/>
            </a:endParaRPr>
          </a:p>
          <a:p>
            <a:pPr marL="477520" indent="-227329">
              <a:lnSpc>
                <a:spcPct val="100000"/>
              </a:lnSpc>
              <a:spcBef>
                <a:spcPts val="1065"/>
              </a:spcBef>
              <a:buAutoNum type="arabicPeriod"/>
              <a:tabLst>
                <a:tab pos="477520" algn="l"/>
              </a:tabLst>
            </a:pPr>
            <a:r>
              <a:rPr dirty="0" sz="1200">
                <a:latin typeface="Calibri"/>
                <a:cs typeface="Calibri"/>
              </a:rPr>
              <a:t>Send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JSON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responses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API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requests</a:t>
            </a:r>
            <a:endParaRPr sz="1200">
              <a:latin typeface="Calibri"/>
              <a:cs typeface="Calibri"/>
            </a:endParaRPr>
          </a:p>
          <a:p>
            <a:pPr marL="477520" indent="-227329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7520" algn="l"/>
              </a:tabLst>
            </a:pPr>
            <a:r>
              <a:rPr dirty="0" sz="1200" spc="-30">
                <a:latin typeface="Calibri"/>
                <a:cs typeface="Calibri"/>
              </a:rPr>
              <a:t>Test </a:t>
            </a:r>
            <a:r>
              <a:rPr dirty="0" sz="1200">
                <a:latin typeface="Calibri"/>
                <a:cs typeface="Calibri"/>
              </a:rPr>
              <a:t>APIs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browser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client</a:t>
            </a:r>
            <a:endParaRPr sz="1200">
              <a:latin typeface="Calibri"/>
              <a:cs typeface="Calibri"/>
            </a:endParaRPr>
          </a:p>
          <a:p>
            <a:pPr marL="12700" marR="5038090">
              <a:lnSpc>
                <a:spcPct val="173500"/>
              </a:lnSpc>
              <a:spcBef>
                <a:spcPts val="10"/>
              </a:spcBef>
            </a:pPr>
            <a:r>
              <a:rPr dirty="0" sz="1200" spc="-10" b="1">
                <a:latin typeface="Calibri"/>
                <a:cs typeface="Calibri"/>
              </a:rPr>
              <a:t>PROGRAM: INDEX.HTML: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&lt;!DOCTYPE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html&gt;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&lt;html&gt;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&lt;head&gt;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&lt;title&gt;Product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API&lt;/title&gt;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&lt;/head&gt;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3445510" cy="720470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&lt;body&gt;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&lt;h2&gt;Product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API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Test&lt;/h2&gt;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&lt;input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id="id"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placeholder="ID"&gt;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&lt;input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id="name"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placeholder="Name"&gt;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&lt;input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id="price"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placeholder="Price"&gt;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&lt;button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onclick="add()"&gt;Add&lt;/button&gt;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&lt;button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onclick="get()"&gt;Get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All&lt;/button&gt;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&lt;ul </a:t>
            </a:r>
            <a:r>
              <a:rPr dirty="0" sz="1200" spc="-10">
                <a:latin typeface="Calibri"/>
                <a:cs typeface="Calibri"/>
              </a:rPr>
              <a:t>id="list"&gt;&lt;/ul&gt;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&lt;script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src="script.js"&gt;&lt;/script&gt;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&lt;/body&gt;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&lt;/html&gt;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 b="1">
                <a:latin typeface="Calibri"/>
                <a:cs typeface="Calibri"/>
              </a:rPr>
              <a:t>STYLE.CSS: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/*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Reset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*/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  <a:tabLst>
                <a:tab pos="344805" algn="l"/>
              </a:tabLst>
            </a:pPr>
            <a:r>
              <a:rPr dirty="0" sz="1200">
                <a:latin typeface="Calibri"/>
                <a:cs typeface="Calibri"/>
              </a:rPr>
              <a:t>*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margin: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0;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60"/>
              </a:spcBef>
              <a:tabLst>
                <a:tab pos="885825" algn="l"/>
              </a:tabLst>
            </a:pPr>
            <a:r>
              <a:rPr dirty="0" sz="1200">
                <a:latin typeface="Calibri"/>
                <a:cs typeface="Calibri"/>
              </a:rPr>
              <a:t>padding: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0;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30">
                <a:latin typeface="Calibri"/>
                <a:cs typeface="Calibri"/>
              </a:rPr>
              <a:t>box-</a:t>
            </a:r>
            <a:r>
              <a:rPr dirty="0" sz="1200" spc="-10">
                <a:latin typeface="Calibri"/>
                <a:cs typeface="Calibri"/>
              </a:rPr>
              <a:t>sizing: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border-</a:t>
            </a:r>
            <a:r>
              <a:rPr dirty="0" sz="1200" spc="-20">
                <a:latin typeface="Calibri"/>
                <a:cs typeface="Calibri"/>
              </a:rPr>
              <a:t>box;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5080" indent="-6350">
              <a:lnSpc>
                <a:spcPct val="173300"/>
              </a:lnSpc>
              <a:spcBef>
                <a:spcPts val="15"/>
              </a:spcBef>
              <a:tabLst>
                <a:tab pos="502920" algn="l"/>
                <a:tab pos="819785" algn="l"/>
                <a:tab pos="1682750" algn="l"/>
                <a:tab pos="1882775" algn="l"/>
                <a:tab pos="2821305" algn="l"/>
              </a:tabLst>
            </a:pPr>
            <a:r>
              <a:rPr dirty="0" sz="1200">
                <a:latin typeface="Calibri"/>
                <a:cs typeface="Calibri"/>
              </a:rPr>
              <a:t>/*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Background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*/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body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25">
                <a:latin typeface="Calibri"/>
                <a:cs typeface="Calibri"/>
              </a:rPr>
              <a:t>font-</a:t>
            </a:r>
            <a:r>
              <a:rPr dirty="0" sz="1200">
                <a:latin typeface="Calibri"/>
                <a:cs typeface="Calibri"/>
              </a:rPr>
              <a:t>family: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'Segoe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UI',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sans- serif;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background: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linear-gradient(135deg,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#141e30, #243b55);</a:t>
            </a:r>
            <a:r>
              <a:rPr dirty="0" sz="1200">
                <a:latin typeface="Calibri"/>
                <a:cs typeface="Calibri"/>
              </a:rPr>
              <a:t>	height: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100vh;</a:t>
            </a:r>
            <a:r>
              <a:rPr dirty="0" sz="1200">
                <a:latin typeface="Calibri"/>
                <a:cs typeface="Calibri"/>
              </a:rPr>
              <a:t>	display: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flex;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justify-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60"/>
              </a:spcBef>
              <a:tabLst>
                <a:tab pos="1183005" algn="l"/>
                <a:tab pos="2551430" algn="l"/>
              </a:tabLst>
            </a:pPr>
            <a:r>
              <a:rPr dirty="0" sz="1200" spc="-10">
                <a:latin typeface="Calibri"/>
                <a:cs typeface="Calibri"/>
              </a:rPr>
              <a:t>content: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center;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align-</a:t>
            </a:r>
            <a:r>
              <a:rPr dirty="0" sz="1200">
                <a:latin typeface="Calibri"/>
                <a:cs typeface="Calibri"/>
              </a:rPr>
              <a:t>items: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center;</a:t>
            </a:r>
            <a:r>
              <a:rPr dirty="0" sz="1200">
                <a:latin typeface="Calibri"/>
                <a:cs typeface="Calibri"/>
              </a:rPr>
              <a:t>	color: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white;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/*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Container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*/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92860" y="8209026"/>
            <a:ext cx="7359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.container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775205" y="8209026"/>
            <a:ext cx="14224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background: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rgba(255,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98956" y="8526017"/>
            <a:ext cx="199961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74420" algn="l"/>
              </a:tabLst>
            </a:pPr>
            <a:r>
              <a:rPr dirty="0" sz="1200">
                <a:latin typeface="Calibri"/>
                <a:cs typeface="Calibri"/>
              </a:rPr>
              <a:t>255,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255,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0.1);</a:t>
            </a:r>
            <a:r>
              <a:rPr dirty="0" sz="1200">
                <a:latin typeface="Calibri"/>
                <a:cs typeface="Calibri"/>
              </a:rPr>
              <a:t>	padding: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25px;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8956" y="894333"/>
            <a:ext cx="12807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border-</a:t>
            </a:r>
            <a:r>
              <a:rPr dirty="0" sz="1200">
                <a:latin typeface="Calibri"/>
                <a:cs typeface="Calibri"/>
              </a:rPr>
              <a:t>radius: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15px;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325370" y="894333"/>
            <a:ext cx="9798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backdrop-filter: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98956" y="1211326"/>
            <a:ext cx="7054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blur(10px);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98956" y="1846833"/>
            <a:ext cx="2305685" cy="527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44450">
              <a:lnSpc>
                <a:spcPct val="100000"/>
              </a:lnSpc>
              <a:spcBef>
                <a:spcPts val="100"/>
              </a:spcBef>
              <a:tabLst>
                <a:tab pos="1019175" algn="l"/>
              </a:tabLst>
            </a:pPr>
            <a:r>
              <a:rPr dirty="0" sz="1200">
                <a:latin typeface="Calibri"/>
                <a:cs typeface="Calibri"/>
              </a:rPr>
              <a:t>width: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350px;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25">
                <a:latin typeface="Calibri"/>
                <a:cs typeface="Calibri"/>
              </a:rPr>
              <a:t>text-</a:t>
            </a:r>
            <a:r>
              <a:rPr dirty="0" sz="1200">
                <a:latin typeface="Calibri"/>
                <a:cs typeface="Calibri"/>
              </a:rPr>
              <a:t>align: </a:t>
            </a:r>
            <a:r>
              <a:rPr dirty="0" sz="1200" spc="-10">
                <a:latin typeface="Calibri"/>
                <a:cs typeface="Calibri"/>
              </a:rPr>
              <a:t>center;</a:t>
            </a:r>
            <a:endParaRPr sz="12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shadow: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0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10px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25px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rgba(0,0,0,0.4);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313303" y="1846833"/>
            <a:ext cx="2921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latin typeface="Calibri"/>
                <a:cs typeface="Calibri"/>
              </a:rPr>
              <a:t>box-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92860" y="2480818"/>
            <a:ext cx="2376805" cy="66649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/*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Heading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*/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h2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60"/>
              </a:spcBef>
            </a:pPr>
            <a:r>
              <a:rPr dirty="0" sz="1200" spc="-10">
                <a:latin typeface="Calibri"/>
                <a:cs typeface="Calibri"/>
              </a:rPr>
              <a:t>margin-bottom: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15px;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1183640" indent="-6350">
              <a:lnSpc>
                <a:spcPct val="173300"/>
              </a:lnSpc>
              <a:spcBef>
                <a:spcPts val="15"/>
              </a:spcBef>
            </a:pPr>
            <a:r>
              <a:rPr dirty="0" sz="1200">
                <a:latin typeface="Calibri"/>
                <a:cs typeface="Calibri"/>
              </a:rPr>
              <a:t>/*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Inputs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*/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input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>
                <a:latin typeface="Calibri"/>
                <a:cs typeface="Calibri"/>
              </a:rPr>
              <a:t>width: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100%; </a:t>
            </a:r>
            <a:r>
              <a:rPr dirty="0" sz="1200">
                <a:latin typeface="Calibri"/>
                <a:cs typeface="Calibri"/>
              </a:rPr>
              <a:t>padding: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10px;</a:t>
            </a:r>
            <a:endParaRPr sz="1200">
              <a:latin typeface="Calibri"/>
              <a:cs typeface="Calibri"/>
            </a:endParaRPr>
          </a:p>
          <a:p>
            <a:pPr marL="18415" marR="1468755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margin: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8px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0; </a:t>
            </a:r>
            <a:r>
              <a:rPr dirty="0" sz="1200">
                <a:latin typeface="Calibri"/>
                <a:cs typeface="Calibri"/>
              </a:rPr>
              <a:t>border: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none;</a:t>
            </a:r>
            <a:endParaRPr sz="1200">
              <a:latin typeface="Calibri"/>
              <a:cs typeface="Calibri"/>
            </a:endParaRPr>
          </a:p>
          <a:p>
            <a:pPr marL="18415" marR="1172845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border-</a:t>
            </a:r>
            <a:r>
              <a:rPr dirty="0" sz="1200">
                <a:latin typeface="Calibri"/>
                <a:cs typeface="Calibri"/>
              </a:rPr>
              <a:t>radius: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8px; </a:t>
            </a:r>
            <a:r>
              <a:rPr dirty="0" sz="1200">
                <a:latin typeface="Calibri"/>
                <a:cs typeface="Calibri"/>
              </a:rPr>
              <a:t>outline: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none; transition: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0.3s;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/*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Hover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+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focus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effect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*/</a:t>
            </a:r>
            <a:r>
              <a:rPr dirty="0" sz="1200" spc="-10">
                <a:latin typeface="Calibri"/>
                <a:cs typeface="Calibri"/>
              </a:rPr>
              <a:t> input:hover,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963294" algn="l"/>
              </a:tabLst>
            </a:pPr>
            <a:r>
              <a:rPr dirty="0" sz="1200" spc="-10">
                <a:latin typeface="Calibri"/>
                <a:cs typeface="Calibri"/>
              </a:rPr>
              <a:t>input:focus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transform:</a:t>
            </a:r>
            <a:endParaRPr sz="1200">
              <a:latin typeface="Calibri"/>
              <a:cs typeface="Calibri"/>
            </a:endParaRPr>
          </a:p>
          <a:p>
            <a:pPr marL="18415" marR="455295">
              <a:lnSpc>
                <a:spcPct val="173300"/>
              </a:lnSpc>
              <a:spcBef>
                <a:spcPts val="5"/>
              </a:spcBef>
              <a:tabLst>
                <a:tab pos="901065" algn="l"/>
              </a:tabLst>
            </a:pPr>
            <a:r>
              <a:rPr dirty="0" sz="1200" spc="-10">
                <a:latin typeface="Calibri"/>
                <a:cs typeface="Calibri"/>
              </a:rPr>
              <a:t>scale(1.05);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25">
                <a:latin typeface="Calibri"/>
                <a:cs typeface="Calibri"/>
              </a:rPr>
              <a:t>box-</a:t>
            </a:r>
            <a:r>
              <a:rPr dirty="0" sz="1200" spc="-10">
                <a:latin typeface="Calibri"/>
                <a:cs typeface="Calibri"/>
              </a:rPr>
              <a:t>shadow: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0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0 </a:t>
            </a:r>
            <a:r>
              <a:rPr dirty="0" sz="1200">
                <a:latin typeface="Calibri"/>
                <a:cs typeface="Calibri"/>
              </a:rPr>
              <a:t>8px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#00f7ff;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1005840" indent="-6350">
              <a:lnSpc>
                <a:spcPct val="173300"/>
              </a:lnSpc>
              <a:spcBef>
                <a:spcPts val="15"/>
              </a:spcBef>
            </a:pPr>
            <a:r>
              <a:rPr dirty="0" sz="1200">
                <a:latin typeface="Calibri"/>
                <a:cs typeface="Calibri"/>
              </a:rPr>
              <a:t>/*</a:t>
            </a:r>
            <a:r>
              <a:rPr dirty="0" sz="1200" spc="-10">
                <a:latin typeface="Calibri"/>
                <a:cs typeface="Calibri"/>
              </a:rPr>
              <a:t> Buttons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*/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button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>
                <a:latin typeface="Calibri"/>
                <a:cs typeface="Calibri"/>
              </a:rPr>
              <a:t>width: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100%;</a:t>
            </a:r>
            <a:r>
              <a:rPr dirty="0" sz="1200" spc="5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padding: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10px;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2456815" cy="825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margin-</a:t>
            </a:r>
            <a:r>
              <a:rPr dirty="0" sz="1200">
                <a:latin typeface="Calibri"/>
                <a:cs typeface="Calibri"/>
              </a:rPr>
              <a:t>top: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8px;</a:t>
            </a:r>
            <a:endParaRPr sz="1200">
              <a:latin typeface="Calibri"/>
              <a:cs typeface="Calibri"/>
            </a:endParaRPr>
          </a:p>
          <a:p>
            <a:pPr marL="18415" marR="1122680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background:</a:t>
            </a:r>
            <a:r>
              <a:rPr dirty="0" sz="1200" spc="-7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#00c6ff; </a:t>
            </a:r>
            <a:r>
              <a:rPr dirty="0" sz="1200">
                <a:latin typeface="Calibri"/>
                <a:cs typeface="Calibri"/>
              </a:rPr>
              <a:t>border: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none;</a:t>
            </a:r>
            <a:endParaRPr sz="1200">
              <a:latin typeface="Calibri"/>
              <a:cs typeface="Calibri"/>
            </a:endParaRPr>
          </a:p>
          <a:p>
            <a:pPr marL="18415" marR="1016000">
              <a:lnSpc>
                <a:spcPct val="173300"/>
              </a:lnSpc>
              <a:tabLst>
                <a:tab pos="969644" algn="l"/>
                <a:tab pos="1002665" algn="l"/>
              </a:tabLst>
            </a:pPr>
            <a:r>
              <a:rPr dirty="0" sz="1200" spc="-10">
                <a:latin typeface="Calibri"/>
                <a:cs typeface="Calibri"/>
              </a:rPr>
              <a:t>border-</a:t>
            </a:r>
            <a:r>
              <a:rPr dirty="0" sz="1200">
                <a:latin typeface="Calibri"/>
                <a:cs typeface="Calibri"/>
              </a:rPr>
              <a:t>radius: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10px; </a:t>
            </a:r>
            <a:r>
              <a:rPr dirty="0" sz="1200">
                <a:latin typeface="Calibri"/>
                <a:cs typeface="Calibri"/>
              </a:rPr>
              <a:t>color: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white;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20">
                <a:latin typeface="Calibri"/>
                <a:cs typeface="Calibri"/>
              </a:rPr>
              <a:t>font- </a:t>
            </a:r>
            <a:r>
              <a:rPr dirty="0" sz="1200">
                <a:latin typeface="Calibri"/>
                <a:cs typeface="Calibri"/>
              </a:rPr>
              <a:t>weight:</a:t>
            </a:r>
            <a:r>
              <a:rPr dirty="0" sz="1200" spc="-7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bold;</a:t>
            </a:r>
            <a:r>
              <a:rPr dirty="0" sz="1200">
                <a:latin typeface="Calibri"/>
                <a:cs typeface="Calibri"/>
              </a:rPr>
              <a:t>		</a:t>
            </a:r>
            <a:r>
              <a:rPr dirty="0" sz="1200" spc="-10">
                <a:latin typeface="Calibri"/>
                <a:cs typeface="Calibri"/>
              </a:rPr>
              <a:t>cursor: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  <a:tabLst>
                <a:tab pos="685800" algn="l"/>
              </a:tabLst>
            </a:pPr>
            <a:r>
              <a:rPr dirty="0" sz="1200" spc="-10">
                <a:latin typeface="Calibri"/>
                <a:cs typeface="Calibri"/>
              </a:rPr>
              <a:t>pointer;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transition: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60"/>
              </a:spcBef>
            </a:pPr>
            <a:r>
              <a:rPr dirty="0" sz="1200" spc="-10">
                <a:latin typeface="Calibri"/>
                <a:cs typeface="Calibri"/>
              </a:rPr>
              <a:t>0.3s;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1288415" indent="-6350">
              <a:lnSpc>
                <a:spcPct val="173300"/>
              </a:lnSpc>
              <a:spcBef>
                <a:spcPts val="15"/>
              </a:spcBef>
            </a:pPr>
            <a:r>
              <a:rPr dirty="0" sz="1200">
                <a:latin typeface="Calibri"/>
                <a:cs typeface="Calibri"/>
              </a:rPr>
              <a:t>/*</a:t>
            </a:r>
            <a:r>
              <a:rPr dirty="0" sz="1200" spc="-10">
                <a:latin typeface="Calibri"/>
                <a:cs typeface="Calibri"/>
              </a:rPr>
              <a:t> Button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hover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*/ </a:t>
            </a:r>
            <a:r>
              <a:rPr dirty="0" sz="1200" spc="-10">
                <a:latin typeface="Calibri"/>
                <a:cs typeface="Calibri"/>
              </a:rPr>
              <a:t>button:hover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8415" marR="1032510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background:</a:t>
            </a:r>
            <a:r>
              <a:rPr dirty="0" sz="1200" spc="-7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#0072ff; transform: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scale(1.05);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 marR="1369060">
              <a:lnSpc>
                <a:spcPts val="2520"/>
              </a:lnSpc>
              <a:spcBef>
                <a:spcPts val="254"/>
              </a:spcBef>
              <a:tabLst>
                <a:tab pos="384175" algn="l"/>
              </a:tabLst>
            </a:pPr>
            <a:r>
              <a:rPr dirty="0" sz="1200">
                <a:latin typeface="Calibri"/>
                <a:cs typeface="Calibri"/>
              </a:rPr>
              <a:t>/*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*/ </a:t>
            </a:r>
            <a:r>
              <a:rPr dirty="0" sz="1200">
                <a:latin typeface="Calibri"/>
                <a:cs typeface="Calibri"/>
              </a:rPr>
              <a:t>ul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25">
                <a:latin typeface="Calibri"/>
                <a:cs typeface="Calibri"/>
              </a:rPr>
              <a:t>list-</a:t>
            </a:r>
            <a:r>
              <a:rPr dirty="0" sz="1200" spc="-10">
                <a:latin typeface="Calibri"/>
                <a:cs typeface="Calibri"/>
              </a:rPr>
              <a:t>style: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800"/>
              </a:spcBef>
              <a:tabLst>
                <a:tab pos="514984" algn="l"/>
              </a:tabLst>
            </a:pPr>
            <a:r>
              <a:rPr dirty="0" sz="1200" spc="-10">
                <a:latin typeface="Calibri"/>
                <a:cs typeface="Calibri"/>
              </a:rPr>
              <a:t>none;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margin-</a:t>
            </a:r>
            <a:r>
              <a:rPr dirty="0" sz="1200" spc="-20">
                <a:latin typeface="Calibri"/>
                <a:cs typeface="Calibri"/>
              </a:rPr>
              <a:t>top: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45"/>
              </a:spcBef>
            </a:pPr>
            <a:r>
              <a:rPr dirty="0" sz="1200">
                <a:latin typeface="Calibri"/>
                <a:cs typeface="Calibri"/>
              </a:rPr>
              <a:t>15px;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 marR="1513840">
              <a:lnSpc>
                <a:spcPct val="174200"/>
              </a:lnSpc>
              <a:spcBef>
                <a:spcPts val="865"/>
              </a:spcBef>
            </a:pPr>
            <a:r>
              <a:rPr dirty="0" sz="1200">
                <a:latin typeface="Calibri"/>
                <a:cs typeface="Calibri"/>
              </a:rPr>
              <a:t>/*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List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items</a:t>
            </a:r>
            <a:r>
              <a:rPr dirty="0" sz="1200" spc="-25">
                <a:latin typeface="Calibri"/>
                <a:cs typeface="Calibri"/>
              </a:rPr>
              <a:t> */ </a:t>
            </a:r>
            <a:r>
              <a:rPr dirty="0" sz="1200">
                <a:latin typeface="Calibri"/>
                <a:cs typeface="Calibri"/>
              </a:rPr>
              <a:t>li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8415" marR="5080" indent="132080">
              <a:lnSpc>
                <a:spcPct val="173300"/>
              </a:lnSpc>
              <a:spcBef>
                <a:spcPts val="15"/>
              </a:spcBef>
              <a:tabLst>
                <a:tab pos="1104900" algn="l"/>
              </a:tabLst>
            </a:pPr>
            <a:r>
              <a:rPr dirty="0" sz="1200">
                <a:latin typeface="Calibri"/>
                <a:cs typeface="Calibri"/>
              </a:rPr>
              <a:t>background: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rgba(255,255,255,0.15); </a:t>
            </a:r>
            <a:r>
              <a:rPr dirty="0" sz="1200">
                <a:latin typeface="Calibri"/>
                <a:cs typeface="Calibri"/>
              </a:rPr>
              <a:t>padding: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10px;</a:t>
            </a:r>
            <a:r>
              <a:rPr dirty="0" sz="1200">
                <a:latin typeface="Calibri"/>
                <a:cs typeface="Calibri"/>
              </a:rPr>
              <a:t>	margin: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6px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0;</a:t>
            </a:r>
            <a:endParaRPr sz="1200">
              <a:latin typeface="Calibri"/>
              <a:cs typeface="Calibri"/>
            </a:endParaRPr>
          </a:p>
          <a:p>
            <a:pPr marL="18415" marR="315595">
              <a:lnSpc>
                <a:spcPct val="173300"/>
              </a:lnSpc>
              <a:tabLst>
                <a:tab pos="1368425" algn="l"/>
              </a:tabLst>
            </a:pPr>
            <a:r>
              <a:rPr dirty="0" sz="1200" spc="-10">
                <a:latin typeface="Calibri"/>
                <a:cs typeface="Calibri"/>
              </a:rPr>
              <a:t>border-</a:t>
            </a:r>
            <a:r>
              <a:rPr dirty="0" sz="1200">
                <a:latin typeface="Calibri"/>
                <a:cs typeface="Calibri"/>
              </a:rPr>
              <a:t>radius: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8px;</a:t>
            </a:r>
            <a:r>
              <a:rPr dirty="0" sz="1200">
                <a:latin typeface="Calibri"/>
                <a:cs typeface="Calibri"/>
              </a:rPr>
              <a:t>	display: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flex; </a:t>
            </a:r>
            <a:r>
              <a:rPr dirty="0" sz="1200" spc="-10">
                <a:latin typeface="Calibri"/>
                <a:cs typeface="Calibri"/>
              </a:rPr>
              <a:t>justify-content: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space-between;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  <a:tabLst>
                <a:tab pos="1388745" algn="l"/>
              </a:tabLst>
            </a:pPr>
            <a:r>
              <a:rPr dirty="0" sz="1200" spc="-10">
                <a:latin typeface="Calibri"/>
                <a:cs typeface="Calibri"/>
              </a:rPr>
              <a:t>align-</a:t>
            </a:r>
            <a:r>
              <a:rPr dirty="0" sz="1200">
                <a:latin typeface="Calibri"/>
                <a:cs typeface="Calibri"/>
              </a:rPr>
              <a:t>items: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center;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transition: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0.3s;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3027045" cy="5608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/*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Hover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effect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*/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li:hover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background:</a:t>
            </a:r>
            <a:r>
              <a:rPr dirty="0" sz="1200" spc="-7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rgba(255,255,255,0.3);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647065" indent="-6350">
              <a:lnSpc>
                <a:spcPct val="173300"/>
              </a:lnSpc>
              <a:spcBef>
                <a:spcPts val="15"/>
              </a:spcBef>
              <a:tabLst>
                <a:tab pos="708660" algn="l"/>
                <a:tab pos="794385" algn="l"/>
                <a:tab pos="1720850" algn="l"/>
              </a:tabLst>
            </a:pPr>
            <a:r>
              <a:rPr dirty="0" sz="1200">
                <a:latin typeface="Calibri"/>
                <a:cs typeface="Calibri"/>
              </a:rPr>
              <a:t>/*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Optional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delete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button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inside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list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*/ </a:t>
            </a:r>
            <a:r>
              <a:rPr dirty="0" sz="1200">
                <a:latin typeface="Calibri"/>
                <a:cs typeface="Calibri"/>
              </a:rPr>
              <a:t>li</a:t>
            </a:r>
            <a:r>
              <a:rPr dirty="0" sz="1200" spc="-10">
                <a:latin typeface="Calibri"/>
                <a:cs typeface="Calibri"/>
              </a:rPr>
              <a:t> button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	width: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auto;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padding: </a:t>
            </a:r>
            <a:r>
              <a:rPr dirty="0" sz="1200">
                <a:latin typeface="Calibri"/>
                <a:cs typeface="Calibri"/>
              </a:rPr>
              <a:t>5px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8px;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25">
                <a:latin typeface="Calibri"/>
                <a:cs typeface="Calibri"/>
              </a:rPr>
              <a:t>font-</a:t>
            </a:r>
            <a:r>
              <a:rPr dirty="0" sz="1200">
                <a:latin typeface="Calibri"/>
                <a:cs typeface="Calibri"/>
              </a:rPr>
              <a:t>size: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12px;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background:</a:t>
            </a:r>
            <a:r>
              <a:rPr dirty="0" sz="1200" spc="-7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#ff4b5c;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li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button:hover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background:</a:t>
            </a:r>
            <a:r>
              <a:rPr dirty="0" sz="1200" spc="-7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#ff1e38;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5080" indent="-6350">
              <a:lnSpc>
                <a:spcPct val="173300"/>
              </a:lnSpc>
              <a:spcBef>
                <a:spcPts val="15"/>
              </a:spcBef>
              <a:tabLst>
                <a:tab pos="1376045" algn="l"/>
                <a:tab pos="1809750" algn="l"/>
              </a:tabLst>
            </a:pPr>
            <a:r>
              <a:rPr dirty="0" sz="1200" spc="-10" b="1">
                <a:latin typeface="Calibri"/>
                <a:cs typeface="Calibri"/>
              </a:rPr>
              <a:t>SCRIPT.JS: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add()</a:t>
            </a:r>
            <a:r>
              <a:rPr dirty="0" sz="1200" spc="-50">
                <a:latin typeface="Calibri"/>
                <a:cs typeface="Calibri"/>
              </a:rPr>
              <a:t> {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fetch("/products",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>
                <a:latin typeface="Calibri"/>
                <a:cs typeface="Calibri"/>
              </a:rPr>
              <a:t>method: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"POST",</a:t>
            </a:r>
            <a:r>
              <a:rPr dirty="0" sz="1200">
                <a:latin typeface="Calibri"/>
                <a:cs typeface="Calibri"/>
              </a:rPr>
              <a:t>	headers: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{"Content-</a:t>
            </a:r>
            <a:endParaRPr sz="1200">
              <a:latin typeface="Calibri"/>
              <a:cs typeface="Calibri"/>
            </a:endParaRPr>
          </a:p>
          <a:p>
            <a:pPr marL="18415" marR="736600">
              <a:lnSpc>
                <a:spcPts val="2500"/>
              </a:lnSpc>
              <a:spcBef>
                <a:spcPts val="254"/>
              </a:spcBef>
              <a:tabLst>
                <a:tab pos="1929764" algn="l"/>
              </a:tabLst>
            </a:pPr>
            <a:r>
              <a:rPr dirty="0" sz="1200" spc="-10">
                <a:latin typeface="Calibri"/>
                <a:cs typeface="Calibri"/>
              </a:rPr>
              <a:t>Type":"application/json"},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20">
                <a:latin typeface="Calibri"/>
                <a:cs typeface="Calibri"/>
              </a:rPr>
              <a:t>body: </a:t>
            </a:r>
            <a:r>
              <a:rPr dirty="0" sz="1200" spc="-10">
                <a:latin typeface="Calibri"/>
                <a:cs typeface="Calibri"/>
              </a:rPr>
              <a:t>JSON.stringify(getData())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795"/>
              </a:spcBef>
            </a:pPr>
            <a:r>
              <a:rPr dirty="0" sz="1200" spc="-10">
                <a:latin typeface="Calibri"/>
                <a:cs typeface="Calibri"/>
              </a:rPr>
              <a:t>}).then(get);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get()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98956" y="6611492"/>
            <a:ext cx="2720340" cy="11601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fetch("/products")</a:t>
            </a:r>
            <a:endParaRPr sz="1200">
              <a:latin typeface="Calibri"/>
              <a:cs typeface="Calibri"/>
            </a:endParaRPr>
          </a:p>
          <a:p>
            <a:pPr marL="144780">
              <a:lnSpc>
                <a:spcPct val="100000"/>
              </a:lnSpc>
              <a:spcBef>
                <a:spcPts val="1055"/>
              </a:spcBef>
              <a:tabLst>
                <a:tab pos="1713230" algn="l"/>
              </a:tabLst>
            </a:pPr>
            <a:r>
              <a:rPr dirty="0" sz="1200" spc="-10">
                <a:latin typeface="Calibri"/>
                <a:cs typeface="Calibri"/>
              </a:rPr>
              <a:t>.then(res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res.json())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.then(data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73300"/>
              </a:lnSpc>
              <a:spcBef>
                <a:spcPts val="5"/>
              </a:spcBef>
              <a:tabLst>
                <a:tab pos="1535430" algn="l"/>
              </a:tabLst>
            </a:pP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document.getElementById("list"); list.innerHTML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"";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data.forEach(p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820795" y="6928484"/>
            <a:ext cx="3994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let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list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041775" y="7562850"/>
            <a:ext cx="1866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Calibri"/>
                <a:cs typeface="Calibri"/>
              </a:rPr>
              <a:t>let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98956" y="7879842"/>
            <a:ext cx="3268979" cy="1159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73020" algn="l"/>
              </a:tabLst>
            </a:pPr>
            <a:r>
              <a:rPr dirty="0" sz="1200">
                <a:latin typeface="Calibri"/>
                <a:cs typeface="Calibri"/>
              </a:rPr>
              <a:t>li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10">
                <a:latin typeface="Calibri"/>
                <a:cs typeface="Calibri"/>
              </a:rPr>
              <a:t> document.createElement("li");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li.innerText</a:t>
            </a:r>
            <a:endParaRPr sz="1200">
              <a:latin typeface="Calibri"/>
              <a:cs typeface="Calibri"/>
            </a:endParaRPr>
          </a:p>
          <a:p>
            <a:pPr marL="12700" marR="1051560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`${p.id}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-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${p.name}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-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₹${p.price}`; list.appendChild(li);</a:t>
            </a:r>
            <a:endParaRPr sz="1200">
              <a:latin typeface="Calibri"/>
              <a:cs typeface="Calibri"/>
            </a:endParaRPr>
          </a:p>
          <a:p>
            <a:pPr marL="283845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31544" y="894333"/>
            <a:ext cx="1600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92860" y="1212850"/>
            <a:ext cx="2411730" cy="843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5080" indent="-6350">
              <a:lnSpc>
                <a:spcPct val="173300"/>
              </a:lnSpc>
              <a:spcBef>
                <a:spcPts val="10"/>
              </a:spcBef>
              <a:tabLst>
                <a:tab pos="1394460" algn="l"/>
                <a:tab pos="2178050" algn="l"/>
              </a:tabLst>
            </a:pP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10">
                <a:latin typeface="Calibri"/>
                <a:cs typeface="Calibri"/>
              </a:rPr>
              <a:t> getData()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return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25">
                <a:latin typeface="Calibri"/>
                <a:cs typeface="Calibri"/>
              </a:rPr>
              <a:t>id: </a:t>
            </a:r>
            <a:r>
              <a:rPr dirty="0" sz="1200" spc="-10">
                <a:latin typeface="Calibri"/>
                <a:cs typeface="Calibri"/>
              </a:rPr>
              <a:t>document.getElementById("id").value,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590671" y="1848357"/>
            <a:ext cx="4184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name: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98956" y="2165350"/>
            <a:ext cx="26422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document.getElementById("name").value,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791839" y="2165350"/>
            <a:ext cx="3740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price: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92860" y="2482342"/>
            <a:ext cx="2964815" cy="66649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document.getElementById("price").value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</a:pPr>
            <a:r>
              <a:rPr dirty="0" sz="1200" spc="-25">
                <a:latin typeface="Calibri"/>
                <a:cs typeface="Calibri"/>
              </a:rPr>
              <a:t>};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 b="1">
                <a:latin typeface="Calibri"/>
                <a:cs typeface="Calibri"/>
              </a:rPr>
              <a:t>SERVER.JS:</a:t>
            </a:r>
            <a:endParaRPr sz="1200">
              <a:latin typeface="Calibri"/>
              <a:cs typeface="Calibri"/>
            </a:endParaRPr>
          </a:p>
          <a:p>
            <a:pPr marL="18415" marR="796290" indent="-6350">
              <a:lnSpc>
                <a:spcPct val="173400"/>
              </a:lnSpc>
            </a:pP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express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require("express");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cors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require("cors");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const </a:t>
            </a:r>
            <a:r>
              <a:rPr dirty="0" sz="1200">
                <a:latin typeface="Calibri"/>
                <a:cs typeface="Calibri"/>
              </a:rPr>
              <a:t>db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require("./db");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const</a:t>
            </a:r>
            <a:r>
              <a:rPr dirty="0" sz="1200">
                <a:latin typeface="Calibri"/>
                <a:cs typeface="Calibri"/>
              </a:rPr>
              <a:t> app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express();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app.use(cors());</a:t>
            </a:r>
            <a:endParaRPr sz="1200">
              <a:latin typeface="Calibri"/>
              <a:cs typeface="Calibri"/>
            </a:endParaRPr>
          </a:p>
          <a:p>
            <a:pPr marL="18415" marR="852805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app.use(express.json());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GET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all </a:t>
            </a:r>
            <a:r>
              <a:rPr dirty="0" sz="1200">
                <a:latin typeface="Calibri"/>
                <a:cs typeface="Calibri"/>
              </a:rPr>
              <a:t>products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app.get("/products",</a:t>
            </a:r>
            <a:endParaRPr sz="1200">
              <a:latin typeface="Calibri"/>
              <a:cs typeface="Calibri"/>
            </a:endParaRPr>
          </a:p>
          <a:p>
            <a:pPr marL="18415" marR="1677670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(req,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res)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 spc="-10">
                <a:latin typeface="Calibri"/>
                <a:cs typeface="Calibri"/>
              </a:rPr>
              <a:t>res.json(db.getAll());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product</a:t>
            </a:r>
            <a:endParaRPr sz="1200">
              <a:latin typeface="Calibri"/>
              <a:cs typeface="Calibri"/>
            </a:endParaRPr>
          </a:p>
          <a:p>
            <a:pPr marL="18415" marR="457200">
              <a:lnSpc>
                <a:spcPct val="173300"/>
              </a:lnSpc>
              <a:tabLst>
                <a:tab pos="1312545" algn="l"/>
              </a:tabLst>
            </a:pPr>
            <a:r>
              <a:rPr dirty="0" sz="1200" spc="-10">
                <a:latin typeface="Calibri"/>
                <a:cs typeface="Calibri"/>
              </a:rPr>
              <a:t>app.post("/products",</a:t>
            </a:r>
            <a:r>
              <a:rPr dirty="0" sz="1200">
                <a:latin typeface="Calibri"/>
                <a:cs typeface="Calibri"/>
              </a:rPr>
              <a:t> (req,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res) =&gt;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 spc="-10">
                <a:latin typeface="Calibri"/>
                <a:cs typeface="Calibri"/>
              </a:rPr>
              <a:t>db.add(req.body);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res.json({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message: </a:t>
            </a:r>
            <a:r>
              <a:rPr dirty="0" sz="1200">
                <a:latin typeface="Calibri"/>
                <a:cs typeface="Calibri"/>
              </a:rPr>
              <a:t>"Product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added"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8415" marR="5080" indent="-6350">
              <a:lnSpc>
                <a:spcPct val="173300"/>
              </a:lnSpc>
              <a:spcBef>
                <a:spcPts val="15"/>
              </a:spcBef>
              <a:tabLst>
                <a:tab pos="1017905" algn="l"/>
              </a:tabLst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PUT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update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app.put("/products/:id", </a:t>
            </a:r>
            <a:r>
              <a:rPr dirty="0" sz="1200">
                <a:latin typeface="Calibri"/>
                <a:cs typeface="Calibri"/>
              </a:rPr>
              <a:t>(req,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res)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db.update(req.params.id,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2879090" cy="21120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  <a:tabLst>
                <a:tab pos="833755" algn="l"/>
              </a:tabLst>
            </a:pPr>
            <a:r>
              <a:rPr dirty="0" sz="1200" spc="-10">
                <a:latin typeface="Calibri"/>
                <a:cs typeface="Calibri"/>
              </a:rPr>
              <a:t>req.body);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res.json({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message: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"Product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updated"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8415" marR="5080" indent="-6350">
              <a:lnSpc>
                <a:spcPct val="173300"/>
              </a:lnSpc>
              <a:spcBef>
                <a:spcPts val="15"/>
              </a:spcBef>
              <a:tabLst>
                <a:tab pos="1017905" algn="l"/>
              </a:tabLst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DELETE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app.delete("/products/:id", </a:t>
            </a:r>
            <a:r>
              <a:rPr dirty="0" sz="1200">
                <a:latin typeface="Calibri"/>
                <a:cs typeface="Calibri"/>
              </a:rPr>
              <a:t>(req,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res)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db.remove(req.params.id); res.json({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message: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"Product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deleted"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92860" y="3116706"/>
            <a:ext cx="23215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Server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start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app.listen(3000,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()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362071" y="3116706"/>
            <a:ext cx="16300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console.log("</a:t>
            </a:r>
            <a:r>
              <a:rPr dirty="0" sz="1200" spc="2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API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running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92860" y="3429127"/>
            <a:ext cx="2298065" cy="5603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at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  <a:hlinkClick r:id="rId2"/>
              </a:rPr>
              <a:t>http://localhost:3000/products")</a:t>
            </a:r>
            <a:r>
              <a:rPr dirty="0" sz="1200" spc="-10">
                <a:latin typeface="Calibri"/>
                <a:cs typeface="Calibri"/>
              </a:rPr>
              <a:t>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 b="1">
                <a:latin typeface="Calibri"/>
                <a:cs typeface="Calibri"/>
              </a:rPr>
              <a:t>DB.JS:</a:t>
            </a:r>
            <a:endParaRPr sz="1200">
              <a:latin typeface="Calibri"/>
              <a:cs typeface="Calibri"/>
            </a:endParaRPr>
          </a:p>
          <a:p>
            <a:pPr algn="just" marL="18415" marR="1117600" indent="-6350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let</a:t>
            </a:r>
            <a:r>
              <a:rPr dirty="0" sz="1200" spc="3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products</a:t>
            </a:r>
            <a:r>
              <a:rPr dirty="0" sz="1200" spc="3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34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[]; </a:t>
            </a: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2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getAll()</a:t>
            </a:r>
            <a:r>
              <a:rPr dirty="0" sz="1200" spc="23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>
                <a:latin typeface="Calibri"/>
                <a:cs typeface="Calibri"/>
              </a:rPr>
              <a:t>return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products;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1173480" indent="-6350">
              <a:lnSpc>
                <a:spcPct val="173300"/>
              </a:lnSpc>
              <a:spcBef>
                <a:spcPts val="15"/>
              </a:spcBef>
            </a:pP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add(p)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 spc="-10">
                <a:latin typeface="Calibri"/>
                <a:cs typeface="Calibri"/>
              </a:rPr>
              <a:t>products.push(p);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376555" indent="-6350">
              <a:lnSpc>
                <a:spcPct val="173300"/>
              </a:lnSpc>
              <a:spcBef>
                <a:spcPts val="15"/>
              </a:spcBef>
            </a:pPr>
            <a:r>
              <a:rPr dirty="0" sz="1200">
                <a:latin typeface="Calibri"/>
                <a:cs typeface="Calibri"/>
              </a:rPr>
              <a:t>function </a:t>
            </a:r>
            <a:r>
              <a:rPr dirty="0" sz="1200" spc="-10">
                <a:latin typeface="Calibri"/>
                <a:cs typeface="Calibri"/>
              </a:rPr>
              <a:t>update(id, newData)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>
                <a:latin typeface="Calibri"/>
                <a:cs typeface="Calibri"/>
              </a:rPr>
              <a:t>products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products.map(p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=&gt;</a:t>
            </a:r>
            <a:endParaRPr sz="1200">
              <a:latin typeface="Calibri"/>
              <a:cs typeface="Calibri"/>
            </a:endParaRPr>
          </a:p>
          <a:p>
            <a:pPr marL="28829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p.id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==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?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{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...p,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...newData </a:t>
            </a:r>
            <a:r>
              <a:rPr dirty="0" sz="1200">
                <a:latin typeface="Calibri"/>
                <a:cs typeface="Calibri"/>
              </a:rPr>
              <a:t>}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: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p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65"/>
              </a:spcBef>
            </a:pPr>
            <a:r>
              <a:rPr dirty="0" sz="1200" spc="-25">
                <a:latin typeface="Calibri"/>
                <a:cs typeface="Calibri"/>
              </a:rPr>
              <a:t>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135255" indent="-6350">
              <a:lnSpc>
                <a:spcPct val="173300"/>
              </a:lnSpc>
              <a:spcBef>
                <a:spcPts val="10"/>
              </a:spcBef>
              <a:tabLst>
                <a:tab pos="1496695" algn="l"/>
              </a:tabLst>
            </a:pP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10">
                <a:latin typeface="Calibri"/>
                <a:cs typeface="Calibri"/>
              </a:rPr>
              <a:t> remove(id)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products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products.filter(p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 p.id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!=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id);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30645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module.exports </a:t>
            </a:r>
            <a:r>
              <a:rPr dirty="0" sz="1200">
                <a:latin typeface="Calibri"/>
                <a:cs typeface="Calibri"/>
              </a:rPr>
              <a:t>= {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getAll, add,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update,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remove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};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92860" y="1731009"/>
            <a:ext cx="5949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Calibri"/>
                <a:cs typeface="Calibri"/>
              </a:rPr>
              <a:t>OUTPUT: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92860" y="3976242"/>
            <a:ext cx="6005195" cy="443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 marR="5080" indent="-6350">
              <a:lnSpc>
                <a:spcPct val="114199"/>
              </a:lnSpc>
              <a:spcBef>
                <a:spcPts val="100"/>
              </a:spcBef>
            </a:pPr>
            <a:r>
              <a:rPr dirty="0" sz="1200" spc="-20" b="1">
                <a:latin typeface="Calibri"/>
                <a:cs typeface="Calibri"/>
              </a:rPr>
              <a:t>RESULT: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RESTful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API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Management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successfully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implemented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35">
                <a:latin typeface="Calibri"/>
                <a:cs typeface="Calibri"/>
              </a:rPr>
              <a:t>GET, </a:t>
            </a:r>
            <a:r>
              <a:rPr dirty="0" sz="1200" spc="-10">
                <a:latin typeface="Calibri"/>
                <a:cs typeface="Calibri"/>
              </a:rPr>
              <a:t>POST, </a:t>
            </a:r>
            <a:r>
              <a:rPr dirty="0" sz="1200" spc="-40">
                <a:latin typeface="Calibri"/>
                <a:cs typeface="Calibri"/>
              </a:rPr>
              <a:t>PUT,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DELETE</a:t>
            </a:r>
            <a:r>
              <a:rPr dirty="0" sz="1200" spc="-10">
                <a:latin typeface="Calibri"/>
                <a:cs typeface="Calibri"/>
              </a:rPr>
              <a:t> methods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returning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JSON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responses</a:t>
            </a:r>
            <a:r>
              <a:rPr dirty="0" sz="1200" spc="-10" b="1"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9960" y="2037588"/>
            <a:ext cx="5943599" cy="1577340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5906770" cy="80537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Calibri"/>
                <a:cs typeface="Calibri"/>
              </a:rPr>
              <a:t>TASK13: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PRODUCT-API</a:t>
            </a:r>
            <a:endParaRPr sz="1200">
              <a:latin typeface="Calibri"/>
              <a:cs typeface="Calibri"/>
            </a:endParaRPr>
          </a:p>
          <a:p>
            <a:pPr marL="18415" marR="5080" indent="-6350">
              <a:lnSpc>
                <a:spcPct val="114199"/>
              </a:lnSpc>
              <a:spcBef>
                <a:spcPts val="850"/>
              </a:spcBef>
            </a:pPr>
            <a:r>
              <a:rPr dirty="0" sz="1200" b="1">
                <a:latin typeface="Calibri"/>
                <a:cs typeface="Calibri"/>
              </a:rPr>
              <a:t>AIM:</a:t>
            </a:r>
            <a:r>
              <a:rPr dirty="0" sz="1200" spc="-45" b="1">
                <a:latin typeface="Calibri"/>
                <a:cs typeface="Calibri"/>
              </a:rPr>
              <a:t> </a:t>
            </a:r>
            <a:r>
              <a:rPr dirty="0" sz="1200" spc="-6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design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develop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RESTful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API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Management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Node.js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supports </a:t>
            </a:r>
            <a:r>
              <a:rPr dirty="0" sz="1200" spc="-40">
                <a:latin typeface="Calibri"/>
                <a:cs typeface="Calibri"/>
              </a:rPr>
              <a:t>GET,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30">
                <a:latin typeface="Calibri"/>
                <a:cs typeface="Calibri"/>
              </a:rPr>
              <a:t>POST,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40">
                <a:latin typeface="Calibri"/>
                <a:cs typeface="Calibri"/>
              </a:rPr>
              <a:t>PUT,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DELETE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operations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JSON</a:t>
            </a:r>
            <a:r>
              <a:rPr dirty="0" sz="1200" spc="-10">
                <a:latin typeface="Calibri"/>
                <a:cs typeface="Calibri"/>
              </a:rPr>
              <a:t> responses.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 b="1">
                <a:latin typeface="Calibri"/>
                <a:cs typeface="Calibri"/>
              </a:rPr>
              <a:t>ALGORITHM: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Start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program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6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Create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project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(server.js,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db.js,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HTML,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CSS,</a:t>
            </a:r>
            <a:r>
              <a:rPr dirty="0" sz="1200" spc="-25">
                <a:latin typeface="Calibri"/>
                <a:cs typeface="Calibri"/>
              </a:rPr>
              <a:t> JS)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6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Design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structure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(id,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name,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price)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Create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Node.js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Express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6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Enable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JSON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parsing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middleware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Implement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method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products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Implement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method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fetch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products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6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Implement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PUT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method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update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details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Implement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DELETE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method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remove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product</a:t>
            </a:r>
            <a:endParaRPr sz="1200">
              <a:latin typeface="Calibri"/>
              <a:cs typeface="Calibri"/>
            </a:endParaRPr>
          </a:p>
          <a:p>
            <a:pPr marL="477520" indent="-227329">
              <a:lnSpc>
                <a:spcPct val="100000"/>
              </a:lnSpc>
              <a:spcBef>
                <a:spcPts val="1065"/>
              </a:spcBef>
              <a:buAutoNum type="arabicPeriod"/>
              <a:tabLst>
                <a:tab pos="477520" algn="l"/>
              </a:tabLst>
            </a:pPr>
            <a:r>
              <a:rPr dirty="0" sz="1200">
                <a:latin typeface="Calibri"/>
                <a:cs typeface="Calibri"/>
              </a:rPr>
              <a:t>Store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memory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db.js</a:t>
            </a:r>
            <a:endParaRPr sz="1200">
              <a:latin typeface="Calibri"/>
              <a:cs typeface="Calibri"/>
            </a:endParaRPr>
          </a:p>
          <a:p>
            <a:pPr marL="477520" indent="-227329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7520" algn="l"/>
              </a:tabLst>
            </a:pPr>
            <a:r>
              <a:rPr dirty="0" sz="1200">
                <a:latin typeface="Calibri"/>
                <a:cs typeface="Calibri"/>
              </a:rPr>
              <a:t>Send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JSON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responses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API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requests</a:t>
            </a:r>
            <a:endParaRPr sz="1200">
              <a:latin typeface="Calibri"/>
              <a:cs typeface="Calibri"/>
            </a:endParaRPr>
          </a:p>
          <a:p>
            <a:pPr marL="477520" indent="-227329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7520" algn="l"/>
              </a:tabLst>
            </a:pPr>
            <a:r>
              <a:rPr dirty="0" sz="1200" spc="-30">
                <a:latin typeface="Calibri"/>
                <a:cs typeface="Calibri"/>
              </a:rPr>
              <a:t>Test </a:t>
            </a:r>
            <a:r>
              <a:rPr dirty="0" sz="1200">
                <a:latin typeface="Calibri"/>
                <a:cs typeface="Calibri"/>
              </a:rPr>
              <a:t>APIs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browser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client</a:t>
            </a:r>
            <a:endParaRPr sz="1200">
              <a:latin typeface="Calibri"/>
              <a:cs typeface="Calibri"/>
            </a:endParaRPr>
          </a:p>
          <a:p>
            <a:pPr marL="12700" marR="5038090">
              <a:lnSpc>
                <a:spcPct val="173300"/>
              </a:lnSpc>
              <a:spcBef>
                <a:spcPts val="15"/>
              </a:spcBef>
            </a:pPr>
            <a:r>
              <a:rPr dirty="0" sz="1200" spc="-10" b="1">
                <a:latin typeface="Calibri"/>
                <a:cs typeface="Calibri"/>
              </a:rPr>
              <a:t>PROGRAM: INDEX.HTML: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dirty="0" sz="1200">
                <a:latin typeface="Calibri"/>
                <a:cs typeface="Calibri"/>
              </a:rPr>
              <a:t>&lt;!DOCTYPE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html&gt;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&lt;html&gt;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&lt;head&gt;</a:t>
            </a:r>
            <a:endParaRPr sz="1200">
              <a:latin typeface="Calibri"/>
              <a:cs typeface="Calibri"/>
            </a:endParaRPr>
          </a:p>
          <a:p>
            <a:pPr algn="r" marR="416941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&lt;title&gt;Product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API&lt;/title&gt;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&lt;/head&gt;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&lt;body&gt;</a:t>
            </a:r>
            <a:endParaRPr sz="1200">
              <a:latin typeface="Calibri"/>
              <a:cs typeface="Calibri"/>
            </a:endParaRPr>
          </a:p>
          <a:p>
            <a:pPr algn="r" marR="420497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&lt;h2&gt;Product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API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Test&lt;/h2&gt;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&lt;input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id="id"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placeholder="ID"&gt;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3445510" cy="62490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&lt;input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id="name"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placeholder="Name"&gt;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&lt;input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id="price"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placeholder="Price"&gt;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&lt;button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onclick="add()"&gt;Add&lt;/button&gt;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&lt;button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onclick="get()"&gt;Get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All&lt;/button&gt;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&lt;ul </a:t>
            </a:r>
            <a:r>
              <a:rPr dirty="0" sz="1200" spc="-10">
                <a:latin typeface="Calibri"/>
                <a:cs typeface="Calibri"/>
              </a:rPr>
              <a:t>id="list"&gt;&lt;/ul&gt;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&lt;script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src="script.js"&gt;&lt;/script&gt;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&lt;/body&gt;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&lt;/html&gt;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 b="1">
                <a:latin typeface="Calibri"/>
                <a:cs typeface="Calibri"/>
              </a:rPr>
              <a:t>STYLE.CSS: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/*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Reset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*/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  <a:tabLst>
                <a:tab pos="344805" algn="l"/>
              </a:tabLst>
            </a:pPr>
            <a:r>
              <a:rPr dirty="0" sz="1200">
                <a:latin typeface="Calibri"/>
                <a:cs typeface="Calibri"/>
              </a:rPr>
              <a:t>*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margin: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0;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  <a:tabLst>
                <a:tab pos="885825" algn="l"/>
              </a:tabLst>
            </a:pPr>
            <a:r>
              <a:rPr dirty="0" sz="1200">
                <a:latin typeface="Calibri"/>
                <a:cs typeface="Calibri"/>
              </a:rPr>
              <a:t>padding: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0;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30">
                <a:latin typeface="Calibri"/>
                <a:cs typeface="Calibri"/>
              </a:rPr>
              <a:t>box-</a:t>
            </a:r>
            <a:r>
              <a:rPr dirty="0" sz="1200" spc="-10">
                <a:latin typeface="Calibri"/>
                <a:cs typeface="Calibri"/>
              </a:rPr>
              <a:t>sizing: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border-</a:t>
            </a:r>
            <a:r>
              <a:rPr dirty="0" sz="1200" spc="-20">
                <a:latin typeface="Calibri"/>
                <a:cs typeface="Calibri"/>
              </a:rPr>
              <a:t>box;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5080" indent="-6350">
              <a:lnSpc>
                <a:spcPct val="173300"/>
              </a:lnSpc>
              <a:spcBef>
                <a:spcPts val="15"/>
              </a:spcBef>
              <a:tabLst>
                <a:tab pos="502920" algn="l"/>
                <a:tab pos="819785" algn="l"/>
                <a:tab pos="1682750" algn="l"/>
                <a:tab pos="1882775" algn="l"/>
                <a:tab pos="2821305" algn="l"/>
              </a:tabLst>
            </a:pPr>
            <a:r>
              <a:rPr dirty="0" sz="1200">
                <a:latin typeface="Calibri"/>
                <a:cs typeface="Calibri"/>
              </a:rPr>
              <a:t>/*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Background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*/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body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25">
                <a:latin typeface="Calibri"/>
                <a:cs typeface="Calibri"/>
              </a:rPr>
              <a:t>font-</a:t>
            </a:r>
            <a:r>
              <a:rPr dirty="0" sz="1200">
                <a:latin typeface="Calibri"/>
                <a:cs typeface="Calibri"/>
              </a:rPr>
              <a:t>family: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'Segoe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UI',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sans- serif;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background: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linear-gradient(135deg,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#141e30, #243b55);</a:t>
            </a:r>
            <a:r>
              <a:rPr dirty="0" sz="1200">
                <a:latin typeface="Calibri"/>
                <a:cs typeface="Calibri"/>
              </a:rPr>
              <a:t>	height: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100vh;</a:t>
            </a:r>
            <a:r>
              <a:rPr dirty="0" sz="1200">
                <a:latin typeface="Calibri"/>
                <a:cs typeface="Calibri"/>
              </a:rPr>
              <a:t>	display: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flex;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justify-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  <a:tabLst>
                <a:tab pos="1183005" algn="l"/>
                <a:tab pos="2551430" algn="l"/>
              </a:tabLst>
            </a:pPr>
            <a:r>
              <a:rPr dirty="0" sz="1200" spc="-10">
                <a:latin typeface="Calibri"/>
                <a:cs typeface="Calibri"/>
              </a:rPr>
              <a:t>content: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center;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align-</a:t>
            </a:r>
            <a:r>
              <a:rPr dirty="0" sz="1200">
                <a:latin typeface="Calibri"/>
                <a:cs typeface="Calibri"/>
              </a:rPr>
              <a:t>items: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center;</a:t>
            </a:r>
            <a:r>
              <a:rPr dirty="0" sz="1200">
                <a:latin typeface="Calibri"/>
                <a:cs typeface="Calibri"/>
              </a:rPr>
              <a:t>	color: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white;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/*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Container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*/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92860" y="7253478"/>
            <a:ext cx="7359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.container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775205" y="7253478"/>
            <a:ext cx="14224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background: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rgba(255,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98956" y="7570469"/>
            <a:ext cx="2406015" cy="84264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74420" algn="l"/>
              </a:tabLst>
            </a:pPr>
            <a:r>
              <a:rPr dirty="0" sz="1200">
                <a:latin typeface="Calibri"/>
                <a:cs typeface="Calibri"/>
              </a:rPr>
              <a:t>255,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255,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0.1);</a:t>
            </a:r>
            <a:r>
              <a:rPr dirty="0" sz="1200">
                <a:latin typeface="Calibri"/>
                <a:cs typeface="Calibri"/>
              </a:rPr>
              <a:t>	padding: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25px;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73300"/>
              </a:lnSpc>
              <a:tabLst>
                <a:tab pos="1438910" algn="l"/>
              </a:tabLst>
            </a:pPr>
            <a:r>
              <a:rPr dirty="0" sz="1200" spc="-10">
                <a:latin typeface="Calibri"/>
                <a:cs typeface="Calibri"/>
              </a:rPr>
              <a:t>border-</a:t>
            </a:r>
            <a:r>
              <a:rPr dirty="0" sz="1200">
                <a:latin typeface="Calibri"/>
                <a:cs typeface="Calibri"/>
              </a:rPr>
              <a:t>radius: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15px;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backdrop-filter: blur(10px);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8956" y="895857"/>
            <a:ext cx="2305685" cy="527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44450">
              <a:lnSpc>
                <a:spcPct val="100000"/>
              </a:lnSpc>
              <a:spcBef>
                <a:spcPts val="100"/>
              </a:spcBef>
              <a:tabLst>
                <a:tab pos="1019175" algn="l"/>
              </a:tabLst>
            </a:pPr>
            <a:r>
              <a:rPr dirty="0" sz="1200">
                <a:latin typeface="Calibri"/>
                <a:cs typeface="Calibri"/>
              </a:rPr>
              <a:t>width: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350px;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25">
                <a:latin typeface="Calibri"/>
                <a:cs typeface="Calibri"/>
              </a:rPr>
              <a:t>text-</a:t>
            </a:r>
            <a:r>
              <a:rPr dirty="0" sz="1200">
                <a:latin typeface="Calibri"/>
                <a:cs typeface="Calibri"/>
              </a:rPr>
              <a:t>align: </a:t>
            </a:r>
            <a:r>
              <a:rPr dirty="0" sz="1200" spc="-10">
                <a:latin typeface="Calibri"/>
                <a:cs typeface="Calibri"/>
              </a:rPr>
              <a:t>center;</a:t>
            </a:r>
            <a:endParaRPr sz="12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shadow: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0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10px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25px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rgba(0,0,0,0.4);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313303" y="895857"/>
            <a:ext cx="2921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latin typeface="Calibri"/>
                <a:cs typeface="Calibri"/>
              </a:rPr>
              <a:t>box-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92860" y="1529842"/>
            <a:ext cx="2376805" cy="76161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/*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Heading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*/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h2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margin-bottom: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15px;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1183640" indent="-6350">
              <a:lnSpc>
                <a:spcPct val="173400"/>
              </a:lnSpc>
              <a:spcBef>
                <a:spcPts val="10"/>
              </a:spcBef>
            </a:pPr>
            <a:r>
              <a:rPr dirty="0" sz="1200">
                <a:latin typeface="Calibri"/>
                <a:cs typeface="Calibri"/>
              </a:rPr>
              <a:t>/*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Inputs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*/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input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>
                <a:latin typeface="Calibri"/>
                <a:cs typeface="Calibri"/>
              </a:rPr>
              <a:t>width: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100%; </a:t>
            </a:r>
            <a:r>
              <a:rPr dirty="0" sz="1200">
                <a:latin typeface="Calibri"/>
                <a:cs typeface="Calibri"/>
              </a:rPr>
              <a:t>padding: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10px;</a:t>
            </a:r>
            <a:endParaRPr sz="1200">
              <a:latin typeface="Calibri"/>
              <a:cs typeface="Calibri"/>
            </a:endParaRPr>
          </a:p>
          <a:p>
            <a:pPr marL="18415" marR="1468755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margin: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8px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0; </a:t>
            </a:r>
            <a:r>
              <a:rPr dirty="0" sz="1200">
                <a:latin typeface="Calibri"/>
                <a:cs typeface="Calibri"/>
              </a:rPr>
              <a:t>border: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none;</a:t>
            </a:r>
            <a:endParaRPr sz="1200">
              <a:latin typeface="Calibri"/>
              <a:cs typeface="Calibri"/>
            </a:endParaRPr>
          </a:p>
          <a:p>
            <a:pPr marL="18415" marR="1172845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border-</a:t>
            </a:r>
            <a:r>
              <a:rPr dirty="0" sz="1200">
                <a:latin typeface="Calibri"/>
                <a:cs typeface="Calibri"/>
              </a:rPr>
              <a:t>radius: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8px; </a:t>
            </a:r>
            <a:r>
              <a:rPr dirty="0" sz="1200">
                <a:latin typeface="Calibri"/>
                <a:cs typeface="Calibri"/>
              </a:rPr>
              <a:t>outline: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none; transition: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0.3s;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/*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Hover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+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focus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effect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*/</a:t>
            </a:r>
            <a:r>
              <a:rPr dirty="0" sz="1200" spc="-10">
                <a:latin typeface="Calibri"/>
                <a:cs typeface="Calibri"/>
              </a:rPr>
              <a:t> input:hover,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963294" algn="l"/>
              </a:tabLst>
            </a:pPr>
            <a:r>
              <a:rPr dirty="0" sz="1200" spc="-10">
                <a:latin typeface="Calibri"/>
                <a:cs typeface="Calibri"/>
              </a:rPr>
              <a:t>input:focus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transform:</a:t>
            </a:r>
            <a:endParaRPr sz="1200">
              <a:latin typeface="Calibri"/>
              <a:cs typeface="Calibri"/>
            </a:endParaRPr>
          </a:p>
          <a:p>
            <a:pPr marL="18415" marR="455295">
              <a:lnSpc>
                <a:spcPct val="173300"/>
              </a:lnSpc>
              <a:tabLst>
                <a:tab pos="901065" algn="l"/>
              </a:tabLst>
            </a:pPr>
            <a:r>
              <a:rPr dirty="0" sz="1200" spc="-10">
                <a:latin typeface="Calibri"/>
                <a:cs typeface="Calibri"/>
              </a:rPr>
              <a:t>scale(1.05);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25">
                <a:latin typeface="Calibri"/>
                <a:cs typeface="Calibri"/>
              </a:rPr>
              <a:t>box-</a:t>
            </a:r>
            <a:r>
              <a:rPr dirty="0" sz="1200" spc="-10">
                <a:latin typeface="Calibri"/>
                <a:cs typeface="Calibri"/>
              </a:rPr>
              <a:t>shadow: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0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0 </a:t>
            </a:r>
            <a:r>
              <a:rPr dirty="0" sz="1200">
                <a:latin typeface="Calibri"/>
                <a:cs typeface="Calibri"/>
              </a:rPr>
              <a:t>8px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#00f7ff;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1005840" indent="-6350">
              <a:lnSpc>
                <a:spcPct val="173300"/>
              </a:lnSpc>
              <a:spcBef>
                <a:spcPts val="15"/>
              </a:spcBef>
            </a:pPr>
            <a:r>
              <a:rPr dirty="0" sz="1200">
                <a:latin typeface="Calibri"/>
                <a:cs typeface="Calibri"/>
              </a:rPr>
              <a:t>/*</a:t>
            </a:r>
            <a:r>
              <a:rPr dirty="0" sz="1200" spc="-10">
                <a:latin typeface="Calibri"/>
                <a:cs typeface="Calibri"/>
              </a:rPr>
              <a:t> Buttons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*/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button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>
                <a:latin typeface="Calibri"/>
                <a:cs typeface="Calibri"/>
              </a:rPr>
              <a:t>width: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100%;</a:t>
            </a:r>
            <a:r>
              <a:rPr dirty="0" sz="1200" spc="5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padding: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10px;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margin-</a:t>
            </a:r>
            <a:r>
              <a:rPr dirty="0" sz="1200">
                <a:latin typeface="Calibri"/>
                <a:cs typeface="Calibri"/>
              </a:rPr>
              <a:t>top: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8px;</a:t>
            </a:r>
            <a:endParaRPr sz="1200">
              <a:latin typeface="Calibri"/>
              <a:cs typeface="Calibri"/>
            </a:endParaRPr>
          </a:p>
          <a:p>
            <a:pPr marL="18415" marR="1042669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background:</a:t>
            </a:r>
            <a:r>
              <a:rPr dirty="0" sz="1200" spc="-7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#00c6ff; </a:t>
            </a:r>
            <a:r>
              <a:rPr dirty="0" sz="1200">
                <a:latin typeface="Calibri"/>
                <a:cs typeface="Calibri"/>
              </a:rPr>
              <a:t>border: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none;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2456815" cy="8256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border-</a:t>
            </a:r>
            <a:r>
              <a:rPr dirty="0" sz="1200">
                <a:latin typeface="Calibri"/>
                <a:cs typeface="Calibri"/>
              </a:rPr>
              <a:t>radius: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10px;</a:t>
            </a:r>
            <a:endParaRPr sz="1200">
              <a:latin typeface="Calibri"/>
              <a:cs typeface="Calibri"/>
            </a:endParaRPr>
          </a:p>
          <a:p>
            <a:pPr marL="18415" marR="1016000">
              <a:lnSpc>
                <a:spcPct val="173300"/>
              </a:lnSpc>
              <a:tabLst>
                <a:tab pos="969644" algn="l"/>
                <a:tab pos="1002665" algn="l"/>
              </a:tabLst>
            </a:pPr>
            <a:r>
              <a:rPr dirty="0" sz="1200">
                <a:latin typeface="Calibri"/>
                <a:cs typeface="Calibri"/>
              </a:rPr>
              <a:t>color: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white;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20">
                <a:latin typeface="Calibri"/>
                <a:cs typeface="Calibri"/>
              </a:rPr>
              <a:t>font- </a:t>
            </a:r>
            <a:r>
              <a:rPr dirty="0" sz="1200">
                <a:latin typeface="Calibri"/>
                <a:cs typeface="Calibri"/>
              </a:rPr>
              <a:t>weight:</a:t>
            </a:r>
            <a:r>
              <a:rPr dirty="0" sz="1200" spc="-7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bold;</a:t>
            </a:r>
            <a:r>
              <a:rPr dirty="0" sz="1200">
                <a:latin typeface="Calibri"/>
                <a:cs typeface="Calibri"/>
              </a:rPr>
              <a:t>		</a:t>
            </a:r>
            <a:r>
              <a:rPr dirty="0" sz="1200" spc="-10">
                <a:latin typeface="Calibri"/>
                <a:cs typeface="Calibri"/>
              </a:rPr>
              <a:t>cursor: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  <a:tabLst>
                <a:tab pos="685800" algn="l"/>
              </a:tabLst>
            </a:pPr>
            <a:r>
              <a:rPr dirty="0" sz="1200" spc="-10">
                <a:latin typeface="Calibri"/>
                <a:cs typeface="Calibri"/>
              </a:rPr>
              <a:t>pointer;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transition: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0.3s;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1288415" indent="-6350">
              <a:lnSpc>
                <a:spcPct val="173500"/>
              </a:lnSpc>
              <a:spcBef>
                <a:spcPts val="10"/>
              </a:spcBef>
            </a:pPr>
            <a:r>
              <a:rPr dirty="0" sz="1200">
                <a:latin typeface="Calibri"/>
                <a:cs typeface="Calibri"/>
              </a:rPr>
              <a:t>/*</a:t>
            </a:r>
            <a:r>
              <a:rPr dirty="0" sz="1200" spc="-10">
                <a:latin typeface="Calibri"/>
                <a:cs typeface="Calibri"/>
              </a:rPr>
              <a:t> Button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hover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*/ </a:t>
            </a:r>
            <a:r>
              <a:rPr dirty="0" sz="1200" spc="-10">
                <a:latin typeface="Calibri"/>
                <a:cs typeface="Calibri"/>
              </a:rPr>
              <a:t>button:hover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8415" marR="1032510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background:</a:t>
            </a:r>
            <a:r>
              <a:rPr dirty="0" sz="1200" spc="-7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#0072ff; transform: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scale(1.05);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 marR="1369060">
              <a:lnSpc>
                <a:spcPts val="2520"/>
              </a:lnSpc>
              <a:spcBef>
                <a:spcPts val="250"/>
              </a:spcBef>
              <a:tabLst>
                <a:tab pos="384175" algn="l"/>
              </a:tabLst>
            </a:pPr>
            <a:r>
              <a:rPr dirty="0" sz="1200">
                <a:latin typeface="Calibri"/>
                <a:cs typeface="Calibri"/>
              </a:rPr>
              <a:t>/*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*/ </a:t>
            </a:r>
            <a:r>
              <a:rPr dirty="0" sz="1200">
                <a:latin typeface="Calibri"/>
                <a:cs typeface="Calibri"/>
              </a:rPr>
              <a:t>ul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25">
                <a:latin typeface="Calibri"/>
                <a:cs typeface="Calibri"/>
              </a:rPr>
              <a:t>list-</a:t>
            </a:r>
            <a:r>
              <a:rPr dirty="0" sz="1200" spc="-10">
                <a:latin typeface="Calibri"/>
                <a:cs typeface="Calibri"/>
              </a:rPr>
              <a:t>style: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790"/>
              </a:spcBef>
              <a:tabLst>
                <a:tab pos="514984" algn="l"/>
              </a:tabLst>
            </a:pPr>
            <a:r>
              <a:rPr dirty="0" sz="1200" spc="-10">
                <a:latin typeface="Calibri"/>
                <a:cs typeface="Calibri"/>
              </a:rPr>
              <a:t>none;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margin-</a:t>
            </a:r>
            <a:r>
              <a:rPr dirty="0" sz="1200" spc="-20">
                <a:latin typeface="Calibri"/>
                <a:cs typeface="Calibri"/>
              </a:rPr>
              <a:t>top: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60"/>
              </a:spcBef>
            </a:pPr>
            <a:r>
              <a:rPr dirty="0" sz="1200">
                <a:latin typeface="Calibri"/>
                <a:cs typeface="Calibri"/>
              </a:rPr>
              <a:t>15px;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 marR="1513840">
              <a:lnSpc>
                <a:spcPct val="174200"/>
              </a:lnSpc>
              <a:spcBef>
                <a:spcPts val="865"/>
              </a:spcBef>
            </a:pPr>
            <a:r>
              <a:rPr dirty="0" sz="1200">
                <a:latin typeface="Calibri"/>
                <a:cs typeface="Calibri"/>
              </a:rPr>
              <a:t>/*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List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items</a:t>
            </a:r>
            <a:r>
              <a:rPr dirty="0" sz="1200" spc="-25">
                <a:latin typeface="Calibri"/>
                <a:cs typeface="Calibri"/>
              </a:rPr>
              <a:t> */ </a:t>
            </a:r>
            <a:r>
              <a:rPr dirty="0" sz="1200">
                <a:latin typeface="Calibri"/>
                <a:cs typeface="Calibri"/>
              </a:rPr>
              <a:t>li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8415" marR="5080" indent="132080">
              <a:lnSpc>
                <a:spcPct val="173300"/>
              </a:lnSpc>
              <a:tabLst>
                <a:tab pos="1104900" algn="l"/>
              </a:tabLst>
            </a:pPr>
            <a:r>
              <a:rPr dirty="0" sz="1200">
                <a:latin typeface="Calibri"/>
                <a:cs typeface="Calibri"/>
              </a:rPr>
              <a:t>background: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rgba(255,255,255,0.15); </a:t>
            </a:r>
            <a:r>
              <a:rPr dirty="0" sz="1200">
                <a:latin typeface="Calibri"/>
                <a:cs typeface="Calibri"/>
              </a:rPr>
              <a:t>padding: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10px;</a:t>
            </a:r>
            <a:r>
              <a:rPr dirty="0" sz="1200">
                <a:latin typeface="Calibri"/>
                <a:cs typeface="Calibri"/>
              </a:rPr>
              <a:t>	margin: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6px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0;</a:t>
            </a:r>
            <a:endParaRPr sz="1200">
              <a:latin typeface="Calibri"/>
              <a:cs typeface="Calibri"/>
            </a:endParaRPr>
          </a:p>
          <a:p>
            <a:pPr marL="18415" marR="315595">
              <a:lnSpc>
                <a:spcPct val="173500"/>
              </a:lnSpc>
              <a:spcBef>
                <a:spcPts val="10"/>
              </a:spcBef>
              <a:tabLst>
                <a:tab pos="1368425" algn="l"/>
              </a:tabLst>
            </a:pPr>
            <a:r>
              <a:rPr dirty="0" sz="1200" spc="-10">
                <a:latin typeface="Calibri"/>
                <a:cs typeface="Calibri"/>
              </a:rPr>
              <a:t>border-</a:t>
            </a:r>
            <a:r>
              <a:rPr dirty="0" sz="1200">
                <a:latin typeface="Calibri"/>
                <a:cs typeface="Calibri"/>
              </a:rPr>
              <a:t>radius: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8px;</a:t>
            </a:r>
            <a:r>
              <a:rPr dirty="0" sz="1200">
                <a:latin typeface="Calibri"/>
                <a:cs typeface="Calibri"/>
              </a:rPr>
              <a:t>	display: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flex; </a:t>
            </a:r>
            <a:r>
              <a:rPr dirty="0" sz="1200" spc="-10">
                <a:latin typeface="Calibri"/>
                <a:cs typeface="Calibri"/>
              </a:rPr>
              <a:t>justify-content: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space-between;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  <a:tabLst>
                <a:tab pos="1388745" algn="l"/>
              </a:tabLst>
            </a:pPr>
            <a:r>
              <a:rPr dirty="0" sz="1200" spc="-10">
                <a:latin typeface="Calibri"/>
                <a:cs typeface="Calibri"/>
              </a:rPr>
              <a:t>align-</a:t>
            </a:r>
            <a:r>
              <a:rPr dirty="0" sz="1200">
                <a:latin typeface="Calibri"/>
                <a:cs typeface="Calibri"/>
              </a:rPr>
              <a:t>items: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center;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transition: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0.3s;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/*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Hover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effect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*/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li:hover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background:</a:t>
            </a:r>
            <a:r>
              <a:rPr dirty="0" sz="1200" spc="-7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rgba(255,255,255,0.3);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3027045" cy="4656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/*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Optional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delete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button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inside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list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*/</a:t>
            </a:r>
            <a:endParaRPr sz="1200">
              <a:latin typeface="Calibri"/>
              <a:cs typeface="Calibri"/>
            </a:endParaRPr>
          </a:p>
          <a:p>
            <a:pPr marL="18415" marR="756920">
              <a:lnSpc>
                <a:spcPct val="173300"/>
              </a:lnSpc>
              <a:tabLst>
                <a:tab pos="708660" algn="l"/>
                <a:tab pos="794385" algn="l"/>
                <a:tab pos="1720850" algn="l"/>
              </a:tabLst>
            </a:pPr>
            <a:r>
              <a:rPr dirty="0" sz="1200">
                <a:latin typeface="Calibri"/>
                <a:cs typeface="Calibri"/>
              </a:rPr>
              <a:t>li</a:t>
            </a:r>
            <a:r>
              <a:rPr dirty="0" sz="1200" spc="-10">
                <a:latin typeface="Calibri"/>
                <a:cs typeface="Calibri"/>
              </a:rPr>
              <a:t> button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	width: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auto;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padding: </a:t>
            </a:r>
            <a:r>
              <a:rPr dirty="0" sz="1200">
                <a:latin typeface="Calibri"/>
                <a:cs typeface="Calibri"/>
              </a:rPr>
              <a:t>5px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8px;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25">
                <a:latin typeface="Calibri"/>
                <a:cs typeface="Calibri"/>
              </a:rPr>
              <a:t>font-</a:t>
            </a:r>
            <a:r>
              <a:rPr dirty="0" sz="1200">
                <a:latin typeface="Calibri"/>
                <a:cs typeface="Calibri"/>
              </a:rPr>
              <a:t>size: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12px;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background:</a:t>
            </a:r>
            <a:r>
              <a:rPr dirty="0" sz="1200" spc="-7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#ff4b5c;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li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button:hover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background:</a:t>
            </a:r>
            <a:r>
              <a:rPr dirty="0" sz="1200" spc="-7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#ff1e38;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5080" indent="-6350">
              <a:lnSpc>
                <a:spcPct val="173300"/>
              </a:lnSpc>
              <a:spcBef>
                <a:spcPts val="10"/>
              </a:spcBef>
              <a:tabLst>
                <a:tab pos="1376045" algn="l"/>
                <a:tab pos="1809750" algn="l"/>
              </a:tabLst>
            </a:pPr>
            <a:r>
              <a:rPr dirty="0" sz="1200" spc="-10" b="1">
                <a:latin typeface="Calibri"/>
                <a:cs typeface="Calibri"/>
              </a:rPr>
              <a:t>SCRIPT.JS: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add()</a:t>
            </a:r>
            <a:r>
              <a:rPr dirty="0" sz="1200" spc="-50">
                <a:latin typeface="Calibri"/>
                <a:cs typeface="Calibri"/>
              </a:rPr>
              <a:t> {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fetch("/products",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>
                <a:latin typeface="Calibri"/>
                <a:cs typeface="Calibri"/>
              </a:rPr>
              <a:t>method: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"POST",</a:t>
            </a:r>
            <a:r>
              <a:rPr dirty="0" sz="1200">
                <a:latin typeface="Calibri"/>
                <a:cs typeface="Calibri"/>
              </a:rPr>
              <a:t>	headers: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{"Content-</a:t>
            </a:r>
            <a:endParaRPr sz="1200">
              <a:latin typeface="Calibri"/>
              <a:cs typeface="Calibri"/>
            </a:endParaRPr>
          </a:p>
          <a:p>
            <a:pPr marL="18415" marR="736600">
              <a:lnSpc>
                <a:spcPct val="173300"/>
              </a:lnSpc>
              <a:tabLst>
                <a:tab pos="1929764" algn="l"/>
              </a:tabLst>
            </a:pPr>
            <a:r>
              <a:rPr dirty="0" sz="1200" spc="-10">
                <a:latin typeface="Calibri"/>
                <a:cs typeface="Calibri"/>
              </a:rPr>
              <a:t>Type":"application/json"},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20">
                <a:latin typeface="Calibri"/>
                <a:cs typeface="Calibri"/>
              </a:rPr>
              <a:t>body: </a:t>
            </a:r>
            <a:r>
              <a:rPr dirty="0" sz="1200" spc="-10">
                <a:latin typeface="Calibri"/>
                <a:cs typeface="Calibri"/>
              </a:rPr>
              <a:t>JSON.stringify(getData())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}).then(get);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get()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98956" y="5658992"/>
            <a:ext cx="2720340" cy="1159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fetch("/products")</a:t>
            </a:r>
            <a:endParaRPr sz="1200">
              <a:latin typeface="Calibri"/>
              <a:cs typeface="Calibri"/>
            </a:endParaRPr>
          </a:p>
          <a:p>
            <a:pPr marL="144780">
              <a:lnSpc>
                <a:spcPct val="100000"/>
              </a:lnSpc>
              <a:spcBef>
                <a:spcPts val="1055"/>
              </a:spcBef>
              <a:tabLst>
                <a:tab pos="1713230" algn="l"/>
              </a:tabLst>
            </a:pPr>
            <a:r>
              <a:rPr dirty="0" sz="1200" spc="-10">
                <a:latin typeface="Calibri"/>
                <a:cs typeface="Calibri"/>
              </a:rPr>
              <a:t>.then(res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res.json())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.then(data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73300"/>
              </a:lnSpc>
              <a:tabLst>
                <a:tab pos="1535430" algn="l"/>
              </a:tabLst>
            </a:pP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document.getElementById("list"); list.innerHTML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"";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data.forEach(p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820795" y="5975984"/>
            <a:ext cx="3994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let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list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041775" y="6609968"/>
            <a:ext cx="1866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Calibri"/>
                <a:cs typeface="Calibri"/>
              </a:rPr>
              <a:t>let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92860" y="6926960"/>
            <a:ext cx="3275329" cy="1797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  <a:tabLst>
                <a:tab pos="2579370" algn="l"/>
              </a:tabLst>
            </a:pPr>
            <a:r>
              <a:rPr dirty="0" sz="1200">
                <a:latin typeface="Calibri"/>
                <a:cs typeface="Calibri"/>
              </a:rPr>
              <a:t>li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10">
                <a:latin typeface="Calibri"/>
                <a:cs typeface="Calibri"/>
              </a:rPr>
              <a:t> document.createElement("li");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li.innerText</a:t>
            </a:r>
            <a:endParaRPr sz="1200">
              <a:latin typeface="Calibri"/>
              <a:cs typeface="Calibri"/>
            </a:endParaRPr>
          </a:p>
          <a:p>
            <a:pPr marL="18415" marR="1051560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`${p.id}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-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${p.name}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-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₹${p.price}`; list.appendChild(li);</a:t>
            </a:r>
            <a:endParaRPr sz="1200">
              <a:latin typeface="Calibri"/>
              <a:cs typeface="Calibri"/>
            </a:endParaRPr>
          </a:p>
          <a:p>
            <a:pPr marL="289560">
              <a:lnSpc>
                <a:spcPct val="100000"/>
              </a:lnSpc>
              <a:spcBef>
                <a:spcPts val="1060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65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2411730" cy="525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94460" algn="l"/>
                <a:tab pos="2178050" algn="l"/>
              </a:tabLst>
            </a:pP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10">
                <a:latin typeface="Calibri"/>
                <a:cs typeface="Calibri"/>
              </a:rPr>
              <a:t> getData()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return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25">
                <a:latin typeface="Calibri"/>
                <a:cs typeface="Calibri"/>
              </a:rPr>
              <a:t>id: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document.getElementById("id").value,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590671" y="1211326"/>
            <a:ext cx="4184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name: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98956" y="1528318"/>
            <a:ext cx="26422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document.getElementById("name").value,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791839" y="1528318"/>
            <a:ext cx="3740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price: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92860" y="1845309"/>
            <a:ext cx="2964815" cy="72993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document.getElementById("price").value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</a:pPr>
            <a:r>
              <a:rPr dirty="0" sz="1200" spc="-25">
                <a:latin typeface="Calibri"/>
                <a:cs typeface="Calibri"/>
              </a:rPr>
              <a:t>};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 b="1">
                <a:latin typeface="Calibri"/>
                <a:cs typeface="Calibri"/>
              </a:rPr>
              <a:t>SERVER.JS:</a:t>
            </a:r>
            <a:endParaRPr sz="1200">
              <a:latin typeface="Calibri"/>
              <a:cs typeface="Calibri"/>
            </a:endParaRPr>
          </a:p>
          <a:p>
            <a:pPr marL="18415" marR="796290" indent="-6350">
              <a:lnSpc>
                <a:spcPct val="173400"/>
              </a:lnSpc>
            </a:pP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express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require("express");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cors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require("cors");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const </a:t>
            </a:r>
            <a:r>
              <a:rPr dirty="0" sz="1200">
                <a:latin typeface="Calibri"/>
                <a:cs typeface="Calibri"/>
              </a:rPr>
              <a:t>db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require("./db");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const</a:t>
            </a:r>
            <a:r>
              <a:rPr dirty="0" sz="1200">
                <a:latin typeface="Calibri"/>
                <a:cs typeface="Calibri"/>
              </a:rPr>
              <a:t> app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express();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app.use(cors()); app.use(express.json());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GET </a:t>
            </a:r>
            <a:r>
              <a:rPr dirty="0" sz="1200" spc="-25">
                <a:latin typeface="Calibri"/>
                <a:cs typeface="Calibri"/>
              </a:rPr>
              <a:t>all </a:t>
            </a:r>
            <a:r>
              <a:rPr dirty="0" sz="1200">
                <a:latin typeface="Calibri"/>
                <a:cs typeface="Calibri"/>
              </a:rPr>
              <a:t>products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app.get("/products",</a:t>
            </a:r>
            <a:endParaRPr sz="1200">
              <a:latin typeface="Calibri"/>
              <a:cs typeface="Calibri"/>
            </a:endParaRPr>
          </a:p>
          <a:p>
            <a:pPr marL="18415" marR="1677670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(req,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res)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 spc="-10">
                <a:latin typeface="Calibri"/>
                <a:cs typeface="Calibri"/>
              </a:rPr>
              <a:t>res.json(db.getAll());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product</a:t>
            </a:r>
            <a:endParaRPr sz="1200">
              <a:latin typeface="Calibri"/>
              <a:cs typeface="Calibri"/>
            </a:endParaRPr>
          </a:p>
          <a:p>
            <a:pPr marL="18415" marR="457200">
              <a:lnSpc>
                <a:spcPct val="173400"/>
              </a:lnSpc>
              <a:tabLst>
                <a:tab pos="1312545" algn="l"/>
              </a:tabLst>
            </a:pPr>
            <a:r>
              <a:rPr dirty="0" sz="1200" spc="-10">
                <a:latin typeface="Calibri"/>
                <a:cs typeface="Calibri"/>
              </a:rPr>
              <a:t>app.post("/products",</a:t>
            </a:r>
            <a:r>
              <a:rPr dirty="0" sz="1200">
                <a:latin typeface="Calibri"/>
                <a:cs typeface="Calibri"/>
              </a:rPr>
              <a:t> (req,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res) =&gt;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 spc="-10">
                <a:latin typeface="Calibri"/>
                <a:cs typeface="Calibri"/>
              </a:rPr>
              <a:t>db.add(req.body);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res.json({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message: </a:t>
            </a:r>
            <a:r>
              <a:rPr dirty="0" sz="1200">
                <a:latin typeface="Calibri"/>
                <a:cs typeface="Calibri"/>
              </a:rPr>
              <a:t>"Product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added"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8415" marR="5080" indent="-6350">
              <a:lnSpc>
                <a:spcPct val="173300"/>
              </a:lnSpc>
              <a:spcBef>
                <a:spcPts val="10"/>
              </a:spcBef>
              <a:tabLst>
                <a:tab pos="833755" algn="l"/>
                <a:tab pos="1017905" algn="l"/>
              </a:tabLst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PUT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update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app.put("/products/:id", </a:t>
            </a:r>
            <a:r>
              <a:rPr dirty="0" sz="1200">
                <a:latin typeface="Calibri"/>
                <a:cs typeface="Calibri"/>
              </a:rPr>
              <a:t>(req,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res)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	</a:t>
            </a:r>
            <a:r>
              <a:rPr dirty="0" sz="1200" spc="-10">
                <a:latin typeface="Calibri"/>
                <a:cs typeface="Calibri"/>
              </a:rPr>
              <a:t>db.update(req.params.id, req.body);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res.json({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message: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"Product </a:t>
            </a:r>
            <a:r>
              <a:rPr dirty="0" sz="1200">
                <a:latin typeface="Calibri"/>
                <a:cs typeface="Calibri"/>
              </a:rPr>
              <a:t>updated"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2879090" cy="1478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8415" marR="5080" indent="-6350">
              <a:lnSpc>
                <a:spcPct val="173300"/>
              </a:lnSpc>
              <a:spcBef>
                <a:spcPts val="10"/>
              </a:spcBef>
              <a:tabLst>
                <a:tab pos="1017905" algn="l"/>
              </a:tabLst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DELETE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app.delete("/products/:id", </a:t>
            </a:r>
            <a:r>
              <a:rPr dirty="0" sz="1200">
                <a:latin typeface="Calibri"/>
                <a:cs typeface="Calibri"/>
              </a:rPr>
              <a:t>(req,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res)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db.remove(req.params.id); res.json({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message: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"Product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deleted"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92860" y="2482342"/>
            <a:ext cx="23215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Server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start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app.listen(3000,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()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362071" y="2482342"/>
            <a:ext cx="16300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console.log("</a:t>
            </a:r>
            <a:r>
              <a:rPr dirty="0" sz="1200" spc="2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API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running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92860" y="2794761"/>
            <a:ext cx="3067050" cy="5923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at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  <a:hlinkClick r:id="rId2"/>
              </a:rPr>
              <a:t>http://localhost:3000/products")</a:t>
            </a:r>
            <a:r>
              <a:rPr dirty="0" sz="1200" spc="-10">
                <a:latin typeface="Calibri"/>
                <a:cs typeface="Calibri"/>
              </a:rPr>
              <a:t>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 b="1">
                <a:latin typeface="Calibri"/>
                <a:cs typeface="Calibri"/>
              </a:rPr>
              <a:t>DB.JS:</a:t>
            </a:r>
            <a:endParaRPr sz="1200">
              <a:latin typeface="Calibri"/>
              <a:cs typeface="Calibri"/>
            </a:endParaRPr>
          </a:p>
          <a:p>
            <a:pPr algn="just" marL="18415" marR="1885950" indent="-6350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let</a:t>
            </a:r>
            <a:r>
              <a:rPr dirty="0" sz="1200" spc="3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products</a:t>
            </a:r>
            <a:r>
              <a:rPr dirty="0" sz="1200" spc="3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34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[]; </a:t>
            </a: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2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getAll()</a:t>
            </a:r>
            <a:r>
              <a:rPr dirty="0" sz="1200" spc="23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>
                <a:latin typeface="Calibri"/>
                <a:cs typeface="Calibri"/>
              </a:rPr>
              <a:t>return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products;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1941830" indent="-6350">
              <a:lnSpc>
                <a:spcPct val="173500"/>
              </a:lnSpc>
              <a:spcBef>
                <a:spcPts val="10"/>
              </a:spcBef>
            </a:pP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add(p)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 spc="-10">
                <a:latin typeface="Calibri"/>
                <a:cs typeface="Calibri"/>
              </a:rPr>
              <a:t>products.push(p);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1144905" indent="-6350">
              <a:lnSpc>
                <a:spcPct val="173300"/>
              </a:lnSpc>
              <a:spcBef>
                <a:spcPts val="10"/>
              </a:spcBef>
            </a:pPr>
            <a:r>
              <a:rPr dirty="0" sz="1200">
                <a:latin typeface="Calibri"/>
                <a:cs typeface="Calibri"/>
              </a:rPr>
              <a:t>function </a:t>
            </a:r>
            <a:r>
              <a:rPr dirty="0" sz="1200" spc="-10">
                <a:latin typeface="Calibri"/>
                <a:cs typeface="Calibri"/>
              </a:rPr>
              <a:t>update(id, newData)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>
                <a:latin typeface="Calibri"/>
                <a:cs typeface="Calibri"/>
              </a:rPr>
              <a:t>products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products.map(p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=&gt;</a:t>
            </a:r>
            <a:endParaRPr sz="1200">
              <a:latin typeface="Calibri"/>
              <a:cs typeface="Calibri"/>
            </a:endParaRPr>
          </a:p>
          <a:p>
            <a:pPr marL="28829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p.id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==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?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{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...p,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...newData </a:t>
            </a:r>
            <a:r>
              <a:rPr dirty="0" sz="1200">
                <a:latin typeface="Calibri"/>
                <a:cs typeface="Calibri"/>
              </a:rPr>
              <a:t>}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: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p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904240" indent="-6350">
              <a:lnSpc>
                <a:spcPct val="173300"/>
              </a:lnSpc>
              <a:spcBef>
                <a:spcPts val="15"/>
              </a:spcBef>
              <a:tabLst>
                <a:tab pos="1496695" algn="l"/>
              </a:tabLst>
            </a:pP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10">
                <a:latin typeface="Calibri"/>
                <a:cs typeface="Calibri"/>
              </a:rPr>
              <a:t> remove(id)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products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products.filter(p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 p.id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!=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id);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module.exports </a:t>
            </a:r>
            <a:r>
              <a:rPr dirty="0" sz="1200">
                <a:latin typeface="Calibri"/>
                <a:cs typeface="Calibri"/>
              </a:rPr>
              <a:t>= {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getAll, add, </a:t>
            </a:r>
            <a:r>
              <a:rPr dirty="0" sz="1200" spc="-10">
                <a:latin typeface="Calibri"/>
                <a:cs typeface="Calibri"/>
              </a:rPr>
              <a:t>update,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remove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};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1095502"/>
            <a:ext cx="5949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Calibri"/>
                <a:cs typeface="Calibri"/>
              </a:rPr>
              <a:t>OUTPUT: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92860" y="5288660"/>
            <a:ext cx="6005195" cy="3710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 marR="5080" indent="-6350">
              <a:lnSpc>
                <a:spcPct val="114199"/>
              </a:lnSpc>
              <a:spcBef>
                <a:spcPts val="100"/>
              </a:spcBef>
            </a:pPr>
            <a:r>
              <a:rPr dirty="0" sz="1200" spc="-20" b="1">
                <a:latin typeface="Calibri"/>
                <a:cs typeface="Calibri"/>
              </a:rPr>
              <a:t>RESULT: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RESTful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API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Management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successfully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implemented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35">
                <a:latin typeface="Calibri"/>
                <a:cs typeface="Calibri"/>
              </a:rPr>
              <a:t>GET, </a:t>
            </a:r>
            <a:r>
              <a:rPr dirty="0" sz="1200" spc="-10">
                <a:latin typeface="Calibri"/>
                <a:cs typeface="Calibri"/>
              </a:rPr>
              <a:t>POST, </a:t>
            </a:r>
            <a:r>
              <a:rPr dirty="0" sz="1200" spc="-40">
                <a:latin typeface="Calibri"/>
                <a:cs typeface="Calibri"/>
              </a:rPr>
              <a:t>PUT,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DELETE</a:t>
            </a:r>
            <a:r>
              <a:rPr dirty="0" sz="1200" spc="-10">
                <a:latin typeface="Calibri"/>
                <a:cs typeface="Calibri"/>
              </a:rPr>
              <a:t> methods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returning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JSON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responses</a:t>
            </a:r>
            <a:r>
              <a:rPr dirty="0" sz="1200" spc="-10" b="1"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 b="1">
                <a:latin typeface="Calibri"/>
                <a:cs typeface="Calibri"/>
              </a:rPr>
              <a:t>TASK14: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MICROSERVICES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APP</a:t>
            </a:r>
            <a:endParaRPr sz="1200">
              <a:latin typeface="Calibri"/>
              <a:cs typeface="Calibri"/>
            </a:endParaRPr>
          </a:p>
          <a:p>
            <a:pPr marL="18415" marR="244475" indent="-6350">
              <a:lnSpc>
                <a:spcPct val="114199"/>
              </a:lnSpc>
              <a:spcBef>
                <a:spcPts val="850"/>
              </a:spcBef>
            </a:pPr>
            <a:r>
              <a:rPr dirty="0" sz="1200" b="1">
                <a:latin typeface="Calibri"/>
                <a:cs typeface="Calibri"/>
              </a:rPr>
              <a:t>AIM:</a:t>
            </a:r>
            <a:r>
              <a:rPr dirty="0" sz="1200" spc="20" b="1">
                <a:latin typeface="Calibri"/>
                <a:cs typeface="Calibri"/>
              </a:rPr>
              <a:t> </a:t>
            </a:r>
            <a:r>
              <a:rPr dirty="0" sz="1200" spc="-6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design 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simple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microservices-</a:t>
            </a:r>
            <a:r>
              <a:rPr dirty="0" sz="1200">
                <a:latin typeface="Calibri"/>
                <a:cs typeface="Calibri"/>
              </a:rPr>
              <a:t>based</a:t>
            </a:r>
            <a:r>
              <a:rPr dirty="0" sz="1200" spc="-10">
                <a:latin typeface="Calibri"/>
                <a:cs typeface="Calibri"/>
              </a:rPr>
              <a:t> system</a:t>
            </a:r>
            <a:r>
              <a:rPr dirty="0" sz="1200">
                <a:latin typeface="Calibri"/>
                <a:cs typeface="Calibri"/>
              </a:rPr>
              <a:t> by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splitting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monolithic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application </a:t>
            </a:r>
            <a:r>
              <a:rPr dirty="0" sz="1200" spc="-20">
                <a:latin typeface="Calibri"/>
                <a:cs typeface="Calibri"/>
              </a:rPr>
              <a:t>into </a:t>
            </a:r>
            <a:r>
              <a:rPr dirty="0" sz="1200">
                <a:latin typeface="Calibri"/>
                <a:cs typeface="Calibri"/>
              </a:rPr>
              <a:t>independent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loose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coupling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single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responsibility.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10" b="1">
                <a:latin typeface="Calibri"/>
                <a:cs typeface="Calibri"/>
              </a:rPr>
              <a:t>ALGORITHM: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Start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program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Identify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modules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 </a:t>
            </a:r>
            <a:r>
              <a:rPr dirty="0" sz="1200" spc="-10">
                <a:latin typeface="Calibri"/>
                <a:cs typeface="Calibri"/>
              </a:rPr>
              <a:t>monolithic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system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Split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system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independent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services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Create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separate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folders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each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service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Implement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(Product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Service)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Implement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(Order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Service)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0594" y="1402080"/>
            <a:ext cx="5942964" cy="3525520"/>
          </a:xfrm>
          <a:prstGeom prst="rect">
            <a:avLst/>
          </a:prstGeom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3596640" cy="81508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79425" indent="-229235">
              <a:lnSpc>
                <a:spcPct val="100000"/>
              </a:lnSpc>
              <a:spcBef>
                <a:spcPts val="100"/>
              </a:spcBef>
              <a:buAutoNum type="arabicPeriod" startAt="7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separate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databases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(db.js)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each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service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55"/>
              </a:spcBef>
              <a:buAutoNum type="arabicPeriod" startAt="7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Assign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different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ports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each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service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 startAt="7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Enable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communication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APIs</a:t>
            </a:r>
            <a:endParaRPr sz="1200">
              <a:latin typeface="Calibri"/>
              <a:cs typeface="Calibri"/>
            </a:endParaRPr>
          </a:p>
          <a:p>
            <a:pPr marL="477520" indent="-227329">
              <a:lnSpc>
                <a:spcPct val="100000"/>
              </a:lnSpc>
              <a:spcBef>
                <a:spcPts val="1055"/>
              </a:spcBef>
              <a:buAutoNum type="arabicPeriod" startAt="7"/>
              <a:tabLst>
                <a:tab pos="477520" algn="l"/>
              </a:tabLst>
            </a:pPr>
            <a:r>
              <a:rPr dirty="0" sz="1200">
                <a:latin typeface="Calibri"/>
                <a:cs typeface="Calibri"/>
              </a:rPr>
              <a:t>Keep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services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loosely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coupled</a:t>
            </a:r>
            <a:endParaRPr sz="1200">
              <a:latin typeface="Calibri"/>
              <a:cs typeface="Calibri"/>
            </a:endParaRPr>
          </a:p>
          <a:p>
            <a:pPr marL="477520" indent="-227329">
              <a:lnSpc>
                <a:spcPct val="100000"/>
              </a:lnSpc>
              <a:spcBef>
                <a:spcPts val="1065"/>
              </a:spcBef>
              <a:buAutoNum type="arabicPeriod" startAt="7"/>
              <a:tabLst>
                <a:tab pos="477520" algn="l"/>
              </a:tabLst>
            </a:pPr>
            <a:r>
              <a:rPr dirty="0" sz="1200">
                <a:latin typeface="Calibri"/>
                <a:cs typeface="Calibri"/>
              </a:rPr>
              <a:t>Deploy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run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independently</a:t>
            </a:r>
            <a:endParaRPr sz="1200">
              <a:latin typeface="Calibri"/>
              <a:cs typeface="Calibri"/>
            </a:endParaRPr>
          </a:p>
          <a:p>
            <a:pPr marL="477520" indent="-227329">
              <a:lnSpc>
                <a:spcPct val="100000"/>
              </a:lnSpc>
              <a:spcBef>
                <a:spcPts val="1060"/>
              </a:spcBef>
              <a:buAutoNum type="arabicPeriod" startAt="7"/>
              <a:tabLst>
                <a:tab pos="477520" algn="l"/>
              </a:tabLst>
            </a:pPr>
            <a:r>
              <a:rPr dirty="0" sz="1200">
                <a:latin typeface="Calibri"/>
                <a:cs typeface="Calibri"/>
              </a:rPr>
              <a:t>Access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verify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functionality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 b="1">
                <a:latin typeface="Calibri"/>
                <a:cs typeface="Calibri"/>
              </a:rPr>
              <a:t>PROGRAM: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10" b="1">
                <a:latin typeface="Calibri"/>
                <a:cs typeface="Calibri"/>
              </a:rPr>
              <a:t>INDEX.HTML: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&lt;!DOCTYPE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html&gt;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&lt;html&gt;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&lt;head&gt;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&lt;title&gt;Microservices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App&lt;/title&gt;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&lt;link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rel="stylesheet"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href="style.css"&gt;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&lt;/head&gt;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&lt;body&gt;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&lt;div </a:t>
            </a:r>
            <a:r>
              <a:rPr dirty="0" sz="1200" spc="-10">
                <a:latin typeface="Calibri"/>
                <a:cs typeface="Calibri"/>
              </a:rPr>
              <a:t>class="container"&gt;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&lt;h2&gt;Microservices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Demo&lt;/h2&gt;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&lt;input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id="pname"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placeholder="Product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Name"&gt;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&lt;button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onclick="addProduct()"&gt;Add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Product&lt;/button&gt;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&lt;input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id="order"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placeholder="Order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Item"&gt;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&lt;button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onclick="addOrder()"&gt;Place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Order&lt;/button&gt;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&lt;/div&gt;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&lt;script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src="script.js"&gt;&lt;/script&gt;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&lt;/body&gt;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&lt;/html&gt;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STYLE.CSS: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  <a:tabLst>
                <a:tab pos="582930" algn="l"/>
              </a:tabLst>
            </a:pPr>
            <a:r>
              <a:rPr dirty="0" sz="1200">
                <a:latin typeface="Calibri"/>
                <a:cs typeface="Calibri"/>
              </a:rPr>
              <a:t>body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25">
                <a:latin typeface="Calibri"/>
                <a:cs typeface="Calibri"/>
              </a:rPr>
              <a:t>font-</a:t>
            </a:r>
            <a:r>
              <a:rPr dirty="0" sz="1200" spc="-10">
                <a:latin typeface="Calibri"/>
                <a:cs typeface="Calibri"/>
              </a:rPr>
              <a:t>family: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8956" y="894333"/>
            <a:ext cx="3511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Arial;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396488" y="894333"/>
            <a:ext cx="7962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background: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98956" y="1211326"/>
            <a:ext cx="5734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#1e1e2f;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618680" y="1211326"/>
            <a:ext cx="802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color: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white;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92860" y="1528318"/>
            <a:ext cx="3035935" cy="75063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  <a:tabLst>
                <a:tab pos="921385" algn="l"/>
              </a:tabLst>
            </a:pPr>
            <a:r>
              <a:rPr dirty="0" sz="1200" spc="-10">
                <a:latin typeface="Calibri"/>
                <a:cs typeface="Calibri"/>
              </a:rPr>
              <a:t>display:flex;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justify-</a:t>
            </a:r>
            <a:endParaRPr sz="1200">
              <a:latin typeface="Calibri"/>
              <a:cs typeface="Calibri"/>
            </a:endParaRPr>
          </a:p>
          <a:p>
            <a:pPr marL="18415" marR="1538605">
              <a:lnSpc>
                <a:spcPct val="173300"/>
              </a:lnSpc>
              <a:tabLst>
                <a:tab pos="1146810" algn="l"/>
              </a:tabLst>
            </a:pPr>
            <a:r>
              <a:rPr dirty="0" sz="1200" spc="-10">
                <a:latin typeface="Calibri"/>
                <a:cs typeface="Calibri"/>
              </a:rPr>
              <a:t>content:center;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align- items:center;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height:100vh;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1851025" indent="-6350">
              <a:lnSpc>
                <a:spcPct val="173300"/>
              </a:lnSpc>
              <a:spcBef>
                <a:spcPts val="15"/>
              </a:spcBef>
              <a:tabLst>
                <a:tab pos="894080" algn="l"/>
              </a:tabLst>
            </a:pPr>
            <a:r>
              <a:rPr dirty="0" sz="1200">
                <a:latin typeface="Calibri"/>
                <a:cs typeface="Calibri"/>
              </a:rPr>
              <a:t>.container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25">
                <a:latin typeface="Calibri"/>
                <a:cs typeface="Calibri"/>
              </a:rPr>
              <a:t>text- </a:t>
            </a:r>
            <a:r>
              <a:rPr dirty="0" sz="1200" spc="-10">
                <a:latin typeface="Calibri"/>
                <a:cs typeface="Calibri"/>
              </a:rPr>
              <a:t>align:center;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input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8415" marR="2171700">
              <a:lnSpc>
                <a:spcPct val="173300"/>
              </a:lnSpc>
              <a:spcBef>
                <a:spcPts val="15"/>
              </a:spcBef>
            </a:pPr>
            <a:r>
              <a:rPr dirty="0" sz="1200">
                <a:latin typeface="Calibri"/>
                <a:cs typeface="Calibri"/>
              </a:rPr>
              <a:t>margin: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5px; </a:t>
            </a:r>
            <a:r>
              <a:rPr dirty="0" sz="1200">
                <a:latin typeface="Calibri"/>
                <a:cs typeface="Calibri"/>
              </a:rPr>
              <a:t>padding: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8px;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  <a:tabLst>
                <a:tab pos="681990" algn="l"/>
              </a:tabLst>
            </a:pPr>
            <a:r>
              <a:rPr dirty="0" sz="1200" spc="-10">
                <a:latin typeface="Calibri"/>
                <a:cs typeface="Calibri"/>
              </a:rPr>
              <a:t>button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padding:</a:t>
            </a:r>
            <a:endParaRPr sz="1200">
              <a:latin typeface="Calibri"/>
              <a:cs typeface="Calibri"/>
            </a:endParaRPr>
          </a:p>
          <a:p>
            <a:pPr marL="18415" marR="1701800">
              <a:lnSpc>
                <a:spcPct val="173300"/>
              </a:lnSpc>
              <a:tabLst>
                <a:tab pos="452120" algn="l"/>
              </a:tabLst>
            </a:pPr>
            <a:r>
              <a:rPr dirty="0" sz="1200" spc="-20">
                <a:latin typeface="Calibri"/>
                <a:cs typeface="Calibri"/>
              </a:rPr>
              <a:t>8px;</a:t>
            </a:r>
            <a:r>
              <a:rPr dirty="0" sz="1200">
                <a:latin typeface="Calibri"/>
                <a:cs typeface="Calibri"/>
              </a:rPr>
              <a:t>	margin: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5px; </a:t>
            </a:r>
            <a:r>
              <a:rPr dirty="0" sz="1200">
                <a:latin typeface="Calibri"/>
                <a:cs typeface="Calibri"/>
              </a:rPr>
              <a:t>background:</a:t>
            </a:r>
            <a:r>
              <a:rPr dirty="0" sz="1200" spc="-7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#00c6ff; </a:t>
            </a:r>
            <a:r>
              <a:rPr dirty="0" sz="1200">
                <a:latin typeface="Calibri"/>
                <a:cs typeface="Calibri"/>
              </a:rPr>
              <a:t>border: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none;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 b="1">
                <a:latin typeface="Calibri"/>
                <a:cs typeface="Calibri"/>
              </a:rPr>
              <a:t>SCRIPT.JS: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addProduct()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fetch(</a:t>
            </a:r>
            <a:r>
              <a:rPr dirty="0" sz="1200" spc="-10">
                <a:latin typeface="Calibri"/>
                <a:cs typeface="Calibri"/>
                <a:hlinkClick r:id="rId2"/>
              </a:rPr>
              <a:t>"http://localhost:3001/products",</a:t>
            </a:r>
            <a:r>
              <a:rPr dirty="0" sz="1200" spc="8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8415" marR="5080">
              <a:lnSpc>
                <a:spcPct val="173300"/>
              </a:lnSpc>
              <a:tabLst>
                <a:tab pos="1374775" algn="l"/>
                <a:tab pos="1567815" algn="l"/>
              </a:tabLst>
            </a:pPr>
            <a:r>
              <a:rPr dirty="0" sz="1200">
                <a:latin typeface="Calibri"/>
                <a:cs typeface="Calibri"/>
              </a:rPr>
              <a:t>method: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"POST",</a:t>
            </a:r>
            <a:r>
              <a:rPr dirty="0" sz="1200">
                <a:latin typeface="Calibri"/>
                <a:cs typeface="Calibri"/>
              </a:rPr>
              <a:t>	headers: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{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"Content-Type": "application/json"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},</a:t>
            </a:r>
            <a:r>
              <a:rPr dirty="0" sz="1200">
                <a:latin typeface="Calibri"/>
                <a:cs typeface="Calibri"/>
              </a:rPr>
              <a:t>		body:</a:t>
            </a:r>
            <a:r>
              <a:rPr dirty="0" sz="1200" spc="-10">
                <a:latin typeface="Calibri"/>
                <a:cs typeface="Calibri"/>
              </a:rPr>
              <a:t> JSON.stringify({ </a:t>
            </a:r>
            <a:r>
              <a:rPr dirty="0" sz="1200">
                <a:latin typeface="Calibri"/>
                <a:cs typeface="Calibri"/>
              </a:rPr>
              <a:t>name: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val("pname")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3035935" cy="8140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addOrder()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fetch("</a:t>
            </a:r>
            <a:r>
              <a:rPr dirty="0" sz="1200" spc="-10">
                <a:latin typeface="Calibri"/>
                <a:cs typeface="Calibri"/>
                <a:hlinkClick r:id="rId2"/>
              </a:rPr>
              <a:t>http://localhost:3002/orders",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8415" marR="5080">
              <a:lnSpc>
                <a:spcPct val="173300"/>
              </a:lnSpc>
              <a:tabLst>
                <a:tab pos="1374775" algn="l"/>
                <a:tab pos="1567815" algn="l"/>
              </a:tabLst>
            </a:pPr>
            <a:r>
              <a:rPr dirty="0" sz="1200">
                <a:latin typeface="Calibri"/>
                <a:cs typeface="Calibri"/>
              </a:rPr>
              <a:t>method: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"POST",</a:t>
            </a:r>
            <a:r>
              <a:rPr dirty="0" sz="1200">
                <a:latin typeface="Calibri"/>
                <a:cs typeface="Calibri"/>
              </a:rPr>
              <a:t>	headers: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{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"Content-Type": "application/json"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},</a:t>
            </a:r>
            <a:r>
              <a:rPr dirty="0" sz="1200">
                <a:latin typeface="Calibri"/>
                <a:cs typeface="Calibri"/>
              </a:rPr>
              <a:t>		body:</a:t>
            </a:r>
            <a:r>
              <a:rPr dirty="0" sz="1200" spc="-10">
                <a:latin typeface="Calibri"/>
                <a:cs typeface="Calibri"/>
              </a:rPr>
              <a:t> JSON.stringify({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item: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val("order")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  <a:tabLst>
                <a:tab pos="1199515" algn="l"/>
              </a:tabLst>
            </a:pP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val(id)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return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60"/>
              </a:spcBef>
            </a:pPr>
            <a:r>
              <a:rPr dirty="0" sz="1200" spc="-10">
                <a:latin typeface="Calibri"/>
                <a:cs typeface="Calibri"/>
              </a:rPr>
              <a:t>document.getElementById(id).value;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 b="1">
                <a:latin typeface="Calibri"/>
                <a:cs typeface="Calibri"/>
              </a:rPr>
              <a:t>SERVER.JS: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express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require("express");</a:t>
            </a:r>
            <a:endParaRPr sz="1200">
              <a:latin typeface="Calibri"/>
              <a:cs typeface="Calibri"/>
            </a:endParaRPr>
          </a:p>
          <a:p>
            <a:pPr marL="18415" marR="924560" indent="-6350">
              <a:lnSpc>
                <a:spcPct val="173400"/>
              </a:lnSpc>
              <a:spcBef>
                <a:spcPts val="10"/>
              </a:spcBef>
            </a:pP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cors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require("cors");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const </a:t>
            </a:r>
            <a:r>
              <a:rPr dirty="0" sz="1200">
                <a:latin typeface="Calibri"/>
                <a:cs typeface="Calibri"/>
              </a:rPr>
              <a:t>db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require("./db");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const</a:t>
            </a:r>
            <a:r>
              <a:rPr dirty="0" sz="1200">
                <a:latin typeface="Calibri"/>
                <a:cs typeface="Calibri"/>
              </a:rPr>
              <a:t> app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express();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app.use(cors());</a:t>
            </a:r>
            <a:endParaRPr sz="1200">
              <a:latin typeface="Calibri"/>
              <a:cs typeface="Calibri"/>
            </a:endParaRPr>
          </a:p>
          <a:p>
            <a:pPr marL="18415" marR="1102995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app.use(express.json());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GET </a:t>
            </a:r>
            <a:r>
              <a:rPr dirty="0" sz="1200">
                <a:latin typeface="Calibri"/>
                <a:cs typeface="Calibri"/>
              </a:rPr>
              <a:t>products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app.get("/products", </a:t>
            </a:r>
            <a:r>
              <a:rPr dirty="0" sz="1200">
                <a:latin typeface="Calibri"/>
                <a:cs typeface="Calibri"/>
              </a:rPr>
              <a:t>(req,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res)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 spc="-10">
                <a:latin typeface="Calibri"/>
                <a:cs typeface="Calibri"/>
              </a:rPr>
              <a:t>res.json(db.getAll());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product</a:t>
            </a:r>
            <a:endParaRPr sz="1200">
              <a:latin typeface="Calibri"/>
              <a:cs typeface="Calibri"/>
            </a:endParaRPr>
          </a:p>
          <a:p>
            <a:pPr algn="just" marL="18415" marR="795020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app.post("/products",</a:t>
            </a:r>
            <a:r>
              <a:rPr dirty="0" sz="1200">
                <a:latin typeface="Calibri"/>
                <a:cs typeface="Calibri"/>
              </a:rPr>
              <a:t> (req,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res) =&gt;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>
                <a:latin typeface="Calibri"/>
                <a:cs typeface="Calibri"/>
              </a:rPr>
              <a:t>db.add(req.body);</a:t>
            </a:r>
            <a:r>
              <a:rPr dirty="0" sz="1200" spc="380">
                <a:latin typeface="Calibri"/>
                <a:cs typeface="Calibri"/>
              </a:rPr>
              <a:t>  </a:t>
            </a:r>
            <a:r>
              <a:rPr dirty="0" sz="1200" spc="-10">
                <a:latin typeface="Calibri"/>
                <a:cs typeface="Calibri"/>
              </a:rPr>
              <a:t>res.json({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msg: </a:t>
            </a:r>
            <a:r>
              <a:rPr dirty="0" sz="1200">
                <a:latin typeface="Calibri"/>
                <a:cs typeface="Calibri"/>
              </a:rPr>
              <a:t>"Product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added"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4032885" cy="4335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77340" algn="l"/>
              </a:tabLst>
            </a:pPr>
            <a:r>
              <a:rPr dirty="0" sz="1200" spc="-10">
                <a:latin typeface="Calibri"/>
                <a:cs typeface="Calibri"/>
              </a:rPr>
              <a:t>app.listen(3001,</a:t>
            </a:r>
            <a:r>
              <a:rPr dirty="0" sz="1200">
                <a:latin typeface="Calibri"/>
                <a:cs typeface="Calibri"/>
              </a:rPr>
              <a:t> ()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console.log("Product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running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at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  <a:hlinkClick r:id="rId2"/>
              </a:rPr>
              <a:t>http://localhost:3001</a:t>
            </a:r>
            <a:r>
              <a:rPr dirty="0" sz="1200" spc="-10">
                <a:latin typeface="Calibri"/>
                <a:cs typeface="Calibri"/>
              </a:rPr>
              <a:t>");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 b="1">
                <a:latin typeface="Calibri"/>
                <a:cs typeface="Calibri"/>
              </a:rPr>
              <a:t>DB.JS:</a:t>
            </a:r>
            <a:endParaRPr sz="1200">
              <a:latin typeface="Calibri"/>
              <a:cs typeface="Calibri"/>
            </a:endParaRPr>
          </a:p>
          <a:p>
            <a:pPr marL="18415" marR="2440940" indent="-6350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let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[];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function </a:t>
            </a:r>
            <a:r>
              <a:rPr dirty="0" sz="1200">
                <a:latin typeface="Calibri"/>
                <a:cs typeface="Calibri"/>
              </a:rPr>
              <a:t>add(p)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 spc="5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products.push(p);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2931795" indent="-6350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getAll()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>
                <a:latin typeface="Calibri"/>
                <a:cs typeface="Calibri"/>
              </a:rPr>
              <a:t>return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products;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module.exports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{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add,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getAll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};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 b="1">
                <a:latin typeface="Calibri"/>
                <a:cs typeface="Calibri"/>
              </a:rPr>
              <a:t>OUTPUT:</a:t>
            </a:r>
            <a:endParaRPr sz="12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070"/>
              </a:spcBef>
            </a:pPr>
            <a:r>
              <a:rPr dirty="0" sz="1200" b="1">
                <a:latin typeface="Calibri"/>
                <a:cs typeface="Calibri"/>
              </a:rPr>
              <a:t>1.</a:t>
            </a:r>
            <a:r>
              <a:rPr dirty="0" sz="1200" spc="155" b="1">
                <a:latin typeface="Calibri"/>
                <a:cs typeface="Calibri"/>
              </a:rPr>
              <a:t>  </a:t>
            </a:r>
            <a:r>
              <a:rPr dirty="0" sz="1200" b="1">
                <a:latin typeface="Calibri"/>
                <a:cs typeface="Calibri"/>
              </a:rPr>
              <a:t>GET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: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u="sng" sz="1200" spc="-10" b="1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http://localhost:3001/products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21460" y="8577833"/>
            <a:ext cx="26225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2.</a:t>
            </a:r>
            <a:r>
              <a:rPr dirty="0" sz="1200" spc="140" b="1">
                <a:latin typeface="Calibri"/>
                <a:cs typeface="Calibri"/>
              </a:rPr>
              <a:t>  </a:t>
            </a:r>
            <a:r>
              <a:rPr dirty="0" sz="1200" spc="-20">
                <a:latin typeface="Calibri"/>
                <a:cs typeface="Calibri"/>
              </a:rPr>
              <a:t>POST: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u="sng" sz="1200" spc="-10" b="1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http://localhost:3001/products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9325" y="5326379"/>
            <a:ext cx="4726305" cy="3179953"/>
          </a:xfrm>
          <a:prstGeom prst="rect">
            <a:avLst/>
          </a:prstGeom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4319142"/>
            <a:ext cx="5967095" cy="4780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 marR="5080" indent="-6350">
              <a:lnSpc>
                <a:spcPct val="114199"/>
              </a:lnSpc>
              <a:spcBef>
                <a:spcPts val="100"/>
              </a:spcBef>
            </a:pPr>
            <a:r>
              <a:rPr dirty="0" sz="1200" spc="-10" b="1">
                <a:latin typeface="Calibri"/>
                <a:cs typeface="Calibri"/>
              </a:rPr>
              <a:t>RESULTS: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application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successfully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divided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independent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microservices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separate responsibilities</a:t>
            </a:r>
            <a:r>
              <a:rPr dirty="0" sz="1200">
                <a:latin typeface="Calibri"/>
                <a:cs typeface="Calibri"/>
              </a:rPr>
              <a:t> and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communication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via REST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APIs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 b="1">
                <a:latin typeface="Calibri"/>
                <a:cs typeface="Calibri"/>
              </a:rPr>
              <a:t>TASK15: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Service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Registry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App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1200">
              <a:latin typeface="Calibri"/>
              <a:cs typeface="Calibri"/>
            </a:endParaRPr>
          </a:p>
          <a:p>
            <a:pPr marL="18415" marR="139700" indent="-6350">
              <a:lnSpc>
                <a:spcPct val="113300"/>
              </a:lnSpc>
            </a:pPr>
            <a:r>
              <a:rPr dirty="0" sz="1200" b="1">
                <a:latin typeface="Calibri"/>
                <a:cs typeface="Calibri"/>
              </a:rPr>
              <a:t>Aim: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-6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implement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registry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discovery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Node.js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dynamically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registering</a:t>
            </a:r>
            <a:r>
              <a:rPr dirty="0" sz="1200" spc="-25">
                <a:latin typeface="Calibri"/>
                <a:cs typeface="Calibri"/>
              </a:rPr>
              <a:t> and </a:t>
            </a:r>
            <a:r>
              <a:rPr dirty="0" sz="1200" spc="-10">
                <a:latin typeface="Calibri"/>
                <a:cs typeface="Calibri"/>
              </a:rPr>
              <a:t>discovering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microservices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without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hard-</a:t>
            </a:r>
            <a:r>
              <a:rPr dirty="0" sz="1200">
                <a:latin typeface="Calibri"/>
                <a:cs typeface="Calibri"/>
              </a:rPr>
              <a:t>coded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URLs.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 b="1">
                <a:latin typeface="Calibri"/>
                <a:cs typeface="Calibri"/>
              </a:rPr>
              <a:t>ALGORITHM: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6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Start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program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Create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registry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server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6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Store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name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URL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memory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6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Start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Service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9425" algn="l"/>
              </a:tabLst>
            </a:pPr>
            <a:r>
              <a:rPr dirty="0" sz="1200" spc="-10">
                <a:latin typeface="Calibri"/>
                <a:cs typeface="Calibri"/>
              </a:rPr>
              <a:t>Register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registry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Start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Order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Service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9425" algn="l"/>
              </a:tabLst>
            </a:pPr>
            <a:r>
              <a:rPr dirty="0" sz="1200" spc="-10">
                <a:latin typeface="Calibri"/>
                <a:cs typeface="Calibri"/>
              </a:rPr>
              <a:t>Register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Order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registry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Maintain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list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registry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6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Client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requests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registry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9960" y="914400"/>
            <a:ext cx="4782185" cy="3361054"/>
          </a:xfrm>
          <a:prstGeom prst="rect">
            <a:avLst/>
          </a:prstGeom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3565525" cy="75063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77520" indent="-227329">
              <a:lnSpc>
                <a:spcPct val="100000"/>
              </a:lnSpc>
              <a:spcBef>
                <a:spcPts val="100"/>
              </a:spcBef>
              <a:buAutoNum type="arabicPeriod" startAt="10"/>
              <a:tabLst>
                <a:tab pos="477520" algn="l"/>
              </a:tabLst>
            </a:pPr>
            <a:r>
              <a:rPr dirty="0" sz="1200">
                <a:latin typeface="Calibri"/>
                <a:cs typeface="Calibri"/>
              </a:rPr>
              <a:t>Fetch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URL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dynamically</a:t>
            </a:r>
            <a:endParaRPr sz="1200">
              <a:latin typeface="Calibri"/>
              <a:cs typeface="Calibri"/>
            </a:endParaRPr>
          </a:p>
          <a:p>
            <a:pPr marL="477520" indent="-227329">
              <a:lnSpc>
                <a:spcPct val="100000"/>
              </a:lnSpc>
              <a:spcBef>
                <a:spcPts val="1055"/>
              </a:spcBef>
              <a:buAutoNum type="arabicPeriod" startAt="10"/>
              <a:tabLst>
                <a:tab pos="477520" algn="l"/>
              </a:tabLst>
            </a:pPr>
            <a:r>
              <a:rPr dirty="0" sz="1200">
                <a:latin typeface="Calibri"/>
                <a:cs typeface="Calibri"/>
              </a:rPr>
              <a:t>Call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discovered </a:t>
            </a:r>
            <a:r>
              <a:rPr dirty="0" sz="1200">
                <a:latin typeface="Calibri"/>
                <a:cs typeface="Calibri"/>
              </a:rPr>
              <a:t>service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API</a:t>
            </a:r>
            <a:endParaRPr sz="1200">
              <a:latin typeface="Calibri"/>
              <a:cs typeface="Calibri"/>
            </a:endParaRPr>
          </a:p>
          <a:p>
            <a:pPr marL="477520" indent="-227329">
              <a:lnSpc>
                <a:spcPct val="100000"/>
              </a:lnSpc>
              <a:spcBef>
                <a:spcPts val="1070"/>
              </a:spcBef>
              <a:buAutoNum type="arabicPeriod" startAt="10"/>
              <a:tabLst>
                <a:tab pos="477520" algn="l"/>
              </a:tabLst>
            </a:pPr>
            <a:r>
              <a:rPr dirty="0" sz="1200">
                <a:latin typeface="Calibri"/>
                <a:cs typeface="Calibri"/>
              </a:rPr>
              <a:t>Stop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program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 b="1">
                <a:latin typeface="Calibri"/>
                <a:cs typeface="Calibri"/>
              </a:rPr>
              <a:t>PROGRAM:</a:t>
            </a:r>
            <a:endParaRPr sz="1200">
              <a:latin typeface="Calibri"/>
              <a:cs typeface="Calibri"/>
            </a:endParaRPr>
          </a:p>
          <a:p>
            <a:pPr marL="18415" marR="1622425" indent="-6350">
              <a:lnSpc>
                <a:spcPct val="173300"/>
              </a:lnSpc>
            </a:pPr>
            <a:r>
              <a:rPr dirty="0" sz="1200" b="1">
                <a:latin typeface="Calibri"/>
                <a:cs typeface="Calibri"/>
              </a:rPr>
              <a:t>SERVER.JS: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express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require("express");</a:t>
            </a:r>
            <a:r>
              <a:rPr dirty="0" sz="1200">
                <a:latin typeface="Calibri"/>
                <a:cs typeface="Calibri"/>
              </a:rPr>
              <a:t> const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</a:t>
            </a:r>
            <a:endParaRPr sz="1200">
              <a:latin typeface="Calibri"/>
              <a:cs typeface="Calibri"/>
            </a:endParaRPr>
          </a:p>
          <a:p>
            <a:pPr marL="18415" marR="1433195">
              <a:lnSpc>
                <a:spcPct val="173500"/>
              </a:lnSpc>
              <a:spcBef>
                <a:spcPts val="10"/>
              </a:spcBef>
            </a:pPr>
            <a:r>
              <a:rPr dirty="0" sz="1200" spc="-10">
                <a:latin typeface="Calibri"/>
                <a:cs typeface="Calibri"/>
              </a:rPr>
              <a:t>express();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app.use(express.json()); </a:t>
            </a:r>
            <a:r>
              <a:rPr dirty="0" sz="1200">
                <a:latin typeface="Calibri"/>
                <a:cs typeface="Calibri"/>
              </a:rPr>
              <a:t>let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{};</a:t>
            </a:r>
            <a:endParaRPr sz="1200">
              <a:latin typeface="Calibri"/>
              <a:cs typeface="Calibri"/>
            </a:endParaRPr>
          </a:p>
          <a:p>
            <a:pPr marL="18415" marR="1399540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app.post("/register",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(req,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res)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{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name,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url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}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req.body;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services[name]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url;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console.log(`${name}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registered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at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  <a:tabLst>
                <a:tab pos="664845" algn="l"/>
              </a:tabLst>
            </a:pPr>
            <a:r>
              <a:rPr dirty="0" sz="1200" spc="-10">
                <a:latin typeface="Calibri"/>
                <a:cs typeface="Calibri"/>
              </a:rPr>
              <a:t>${url}`);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res.json({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msg: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60"/>
              </a:spcBef>
            </a:pPr>
            <a:r>
              <a:rPr dirty="0" sz="1200" spc="-10">
                <a:latin typeface="Calibri"/>
                <a:cs typeface="Calibri"/>
              </a:rPr>
              <a:t>"Registered"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8415" marR="873760" indent="-6350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app.get("/service/:name",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(req, res)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services[req.params.name];</a:t>
            </a:r>
            <a:endParaRPr sz="1200">
              <a:latin typeface="Calibri"/>
              <a:cs typeface="Calibri"/>
            </a:endParaRPr>
          </a:p>
          <a:p>
            <a:pPr marL="18415" marR="201295" indent="132080">
              <a:lnSpc>
                <a:spcPct val="173300"/>
              </a:lnSpc>
              <a:tabLst>
                <a:tab pos="1236345" algn="l"/>
                <a:tab pos="1530350" algn="l"/>
              </a:tabLst>
            </a:pPr>
            <a:r>
              <a:rPr dirty="0" sz="1200">
                <a:latin typeface="Calibri"/>
                <a:cs typeface="Calibri"/>
              </a:rPr>
              <a:t>if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(!service)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return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res.status(404).json({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error: </a:t>
            </a:r>
            <a:r>
              <a:rPr dirty="0" sz="1200">
                <a:latin typeface="Calibri"/>
                <a:cs typeface="Calibri"/>
              </a:rPr>
              <a:t>"Service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found"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})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res.json({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url: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8415" marR="5080" indent="-6350">
              <a:lnSpc>
                <a:spcPct val="173300"/>
              </a:lnSpc>
              <a:spcBef>
                <a:spcPts val="15"/>
              </a:spcBef>
              <a:tabLst>
                <a:tab pos="1579245" algn="l"/>
              </a:tabLst>
            </a:pPr>
            <a:r>
              <a:rPr dirty="0" sz="1200" spc="-10">
                <a:latin typeface="Calibri"/>
                <a:cs typeface="Calibri"/>
              </a:rPr>
              <a:t>app.listen(4000,</a:t>
            </a:r>
            <a:r>
              <a:rPr dirty="0" sz="1200">
                <a:latin typeface="Calibri"/>
                <a:cs typeface="Calibri"/>
              </a:rPr>
              <a:t> ()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console.log("Registry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running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at </a:t>
            </a:r>
            <a:r>
              <a:rPr dirty="0" sz="1200" spc="-10">
                <a:latin typeface="Calibri"/>
                <a:cs typeface="Calibri"/>
                <a:hlinkClick r:id="rId2"/>
              </a:rPr>
              <a:t>http://localhost:4000</a:t>
            </a:r>
            <a:r>
              <a:rPr dirty="0" sz="1200" spc="-10">
                <a:latin typeface="Calibri"/>
                <a:cs typeface="Calibri"/>
              </a:rPr>
              <a:t>");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 b="1">
                <a:latin typeface="Calibri"/>
                <a:cs typeface="Calibri"/>
              </a:rPr>
              <a:t>OUTPUT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4137786"/>
            <a:ext cx="5726430" cy="4988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 marR="5080" indent="-6350">
              <a:lnSpc>
                <a:spcPct val="114199"/>
              </a:lnSpc>
              <a:spcBef>
                <a:spcPts val="100"/>
              </a:spcBef>
            </a:pPr>
            <a:r>
              <a:rPr dirty="0" sz="1200" spc="-10" b="1">
                <a:latin typeface="Calibri"/>
                <a:cs typeface="Calibri"/>
              </a:rPr>
              <a:t>RESULT:</a:t>
            </a:r>
            <a:r>
              <a:rPr dirty="0" sz="1200" spc="2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microservices-</a:t>
            </a:r>
            <a:r>
              <a:rPr dirty="0" sz="1200">
                <a:latin typeface="Calibri"/>
                <a:cs typeface="Calibri"/>
              </a:rPr>
              <a:t>based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system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successfully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implemented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registry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discovery,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enabling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dynamic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communication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between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independent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without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200"/>
              </a:spcBef>
            </a:pPr>
            <a:r>
              <a:rPr dirty="0" sz="1200">
                <a:latin typeface="Calibri"/>
                <a:cs typeface="Calibri"/>
              </a:rPr>
              <a:t>hardcoded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URLs.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20" b="1">
                <a:latin typeface="Calibri"/>
                <a:cs typeface="Calibri"/>
              </a:rPr>
              <a:t>TASK16:</a:t>
            </a:r>
            <a:r>
              <a:rPr dirty="0" sz="1200" spc="1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API</a:t>
            </a:r>
            <a:r>
              <a:rPr dirty="0" sz="1200" spc="20" b="1">
                <a:latin typeface="Calibri"/>
                <a:cs typeface="Calibri"/>
              </a:rPr>
              <a:t> </a:t>
            </a:r>
            <a:r>
              <a:rPr dirty="0" sz="1200" spc="-50" b="1">
                <a:latin typeface="Calibri"/>
                <a:cs typeface="Calibri"/>
              </a:rPr>
              <a:t>GATEWAY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API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1200">
              <a:latin typeface="Calibri"/>
              <a:cs typeface="Calibri"/>
            </a:endParaRPr>
          </a:p>
          <a:p>
            <a:pPr marL="18415" marR="29845" indent="-6350">
              <a:lnSpc>
                <a:spcPct val="114199"/>
              </a:lnSpc>
              <a:spcBef>
                <a:spcPts val="5"/>
              </a:spcBef>
            </a:pPr>
            <a:r>
              <a:rPr dirty="0" sz="1200" b="1">
                <a:latin typeface="Calibri"/>
                <a:cs typeface="Calibri"/>
              </a:rPr>
              <a:t>AIM: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spc="-6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configure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API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Gateway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routes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client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requests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microservices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performs </a:t>
            </a:r>
            <a:r>
              <a:rPr dirty="0" sz="1200">
                <a:latin typeface="Calibri"/>
                <a:cs typeface="Calibri"/>
              </a:rPr>
              <a:t>basic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load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balancing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across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multiple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instances.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 b="1">
                <a:latin typeface="Calibri"/>
                <a:cs typeface="Calibri"/>
              </a:rPr>
              <a:t>ALGORITHM: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Start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program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Create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API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Gateway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server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Define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routes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microservices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Create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multiple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instances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service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Store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URLs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array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Implement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round-</a:t>
            </a:r>
            <a:r>
              <a:rPr dirty="0" sz="1200">
                <a:latin typeface="Calibri"/>
                <a:cs typeface="Calibri"/>
              </a:rPr>
              <a:t>robin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load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balancing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Receive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client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request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at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gateway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Select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instance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dynamically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Forward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request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instance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914400"/>
            <a:ext cx="4726305" cy="3180715"/>
          </a:xfrm>
          <a:prstGeom prst="rect">
            <a:avLst/>
          </a:prstGeom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3542029" cy="528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77520" indent="-227329">
              <a:lnSpc>
                <a:spcPct val="100000"/>
              </a:lnSpc>
              <a:spcBef>
                <a:spcPts val="100"/>
              </a:spcBef>
              <a:buAutoNum type="arabicPeriod" startAt="10"/>
              <a:tabLst>
                <a:tab pos="477520" algn="l"/>
              </a:tabLst>
            </a:pPr>
            <a:r>
              <a:rPr dirty="0" sz="1200">
                <a:latin typeface="Calibri"/>
                <a:cs typeface="Calibri"/>
              </a:rPr>
              <a:t>Get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response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service</a:t>
            </a:r>
            <a:endParaRPr sz="1200">
              <a:latin typeface="Calibri"/>
              <a:cs typeface="Calibri"/>
            </a:endParaRPr>
          </a:p>
          <a:p>
            <a:pPr marL="477520" indent="-227329">
              <a:lnSpc>
                <a:spcPct val="100000"/>
              </a:lnSpc>
              <a:spcBef>
                <a:spcPts val="1055"/>
              </a:spcBef>
              <a:buAutoNum type="arabicPeriod" startAt="10"/>
              <a:tabLst>
                <a:tab pos="477520" algn="l"/>
              </a:tabLst>
            </a:pPr>
            <a:r>
              <a:rPr dirty="0" sz="1200">
                <a:latin typeface="Calibri"/>
                <a:cs typeface="Calibri"/>
              </a:rPr>
              <a:t>Send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response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back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client</a:t>
            </a:r>
            <a:endParaRPr sz="1200">
              <a:latin typeface="Calibri"/>
              <a:cs typeface="Calibri"/>
            </a:endParaRPr>
          </a:p>
          <a:p>
            <a:pPr marL="477520" indent="-227329">
              <a:lnSpc>
                <a:spcPct val="100000"/>
              </a:lnSpc>
              <a:spcBef>
                <a:spcPts val="1070"/>
              </a:spcBef>
              <a:buAutoNum type="arabicPeriod" startAt="10"/>
              <a:tabLst>
                <a:tab pos="477520" algn="l"/>
              </a:tabLst>
            </a:pPr>
            <a:r>
              <a:rPr dirty="0" sz="1200">
                <a:latin typeface="Calibri"/>
                <a:cs typeface="Calibri"/>
              </a:rPr>
              <a:t>Stop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program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 b="1">
                <a:latin typeface="Calibri"/>
                <a:cs typeface="Calibri"/>
              </a:rPr>
              <a:t>PROGRAM:</a:t>
            </a:r>
            <a:endParaRPr sz="1200">
              <a:latin typeface="Calibri"/>
              <a:cs typeface="Calibri"/>
            </a:endParaRPr>
          </a:p>
          <a:p>
            <a:pPr marL="18415" marR="1520190" indent="-6350">
              <a:lnSpc>
                <a:spcPct val="174000"/>
              </a:lnSpc>
            </a:pPr>
            <a:r>
              <a:rPr dirty="0" sz="1200" b="1">
                <a:latin typeface="Calibri"/>
                <a:cs typeface="Calibri"/>
              </a:rPr>
              <a:t>SERVER.JS: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express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require("express");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axios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require("axios");</a:t>
            </a:r>
            <a:r>
              <a:rPr dirty="0" sz="1200">
                <a:latin typeface="Calibri"/>
                <a:cs typeface="Calibri"/>
              </a:rPr>
              <a:t> const app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express();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60">
                <a:latin typeface="Calibri"/>
                <a:cs typeface="Calibri"/>
              </a:rPr>
              <a:t>[</a:t>
            </a:r>
            <a:endParaRPr sz="1200">
              <a:latin typeface="Calibri"/>
              <a:cs typeface="Calibri"/>
            </a:endParaRPr>
          </a:p>
          <a:p>
            <a:pPr marL="151130" marR="1905635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  <a:hlinkClick r:id="rId2"/>
              </a:rPr>
              <a:t>"http://localhost:3001</a:t>
            </a:r>
            <a:r>
              <a:rPr dirty="0" sz="1200" spc="-10">
                <a:latin typeface="Calibri"/>
                <a:cs typeface="Calibri"/>
              </a:rPr>
              <a:t>", </a:t>
            </a:r>
            <a:r>
              <a:rPr dirty="0" sz="1200" spc="-10">
                <a:latin typeface="Calibri"/>
                <a:cs typeface="Calibri"/>
                <a:hlinkClick r:id="rId3"/>
              </a:rPr>
              <a:t>"http://localhost:3002</a:t>
            </a:r>
            <a:r>
              <a:rPr dirty="0" sz="1200" spc="-10">
                <a:latin typeface="Calibri"/>
                <a:cs typeface="Calibri"/>
              </a:rPr>
              <a:t>"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25">
                <a:latin typeface="Calibri"/>
                <a:cs typeface="Calibri"/>
              </a:rPr>
              <a:t>];</a:t>
            </a:r>
            <a:endParaRPr sz="1200">
              <a:latin typeface="Calibri"/>
              <a:cs typeface="Calibri"/>
            </a:endParaRPr>
          </a:p>
          <a:p>
            <a:pPr marL="18415" marR="1035685" indent="-6350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let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index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 0;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app.get("/products",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async </a:t>
            </a:r>
            <a:r>
              <a:rPr dirty="0" sz="1200">
                <a:latin typeface="Calibri"/>
                <a:cs typeface="Calibri"/>
              </a:rPr>
              <a:t>(req,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res)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8415" marR="5080" indent="132080">
              <a:lnSpc>
                <a:spcPct val="173400"/>
              </a:lnSpc>
              <a:tabLst>
                <a:tab pos="716915" algn="l"/>
                <a:tab pos="2118995" algn="l"/>
                <a:tab pos="2932430" algn="l"/>
              </a:tabLst>
            </a:pPr>
            <a:r>
              <a:rPr dirty="0" sz="1200">
                <a:latin typeface="Calibri"/>
                <a:cs typeface="Calibri"/>
              </a:rPr>
              <a:t>try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const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services[index];</a:t>
            </a:r>
            <a:r>
              <a:rPr dirty="0" sz="1200">
                <a:latin typeface="Calibri"/>
                <a:cs typeface="Calibri"/>
              </a:rPr>
              <a:t>	index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 </a:t>
            </a:r>
            <a:r>
              <a:rPr dirty="0" sz="1200">
                <a:latin typeface="Calibri"/>
                <a:cs typeface="Calibri"/>
              </a:rPr>
              <a:t>(index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+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1)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%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services.length;</a:t>
            </a:r>
            <a:r>
              <a:rPr dirty="0" sz="1200">
                <a:latin typeface="Calibri"/>
                <a:cs typeface="Calibri"/>
              </a:rPr>
              <a:t>	const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response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await axios.get(service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+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"/products");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res.json(response.data);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031544" y="6609968"/>
            <a:ext cx="82676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}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catch </a:t>
            </a:r>
            <a:r>
              <a:rPr dirty="0" sz="1200">
                <a:latin typeface="Calibri"/>
                <a:cs typeface="Calibri"/>
              </a:rPr>
              <a:t>(err)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142564" y="6609968"/>
            <a:ext cx="22593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res.status(500).json({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error:</a:t>
            </a:r>
            <a:r>
              <a:rPr dirty="0" sz="1200" spc="-10">
                <a:latin typeface="Calibri"/>
                <a:cs typeface="Calibri"/>
              </a:rPr>
              <a:t> "Service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92860" y="6926960"/>
            <a:ext cx="3347720" cy="2113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unavailable"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8415" marR="5080" indent="-6350">
              <a:lnSpc>
                <a:spcPts val="2510"/>
              </a:lnSpc>
              <a:spcBef>
                <a:spcPts val="250"/>
              </a:spcBef>
              <a:tabLst>
                <a:tab pos="1577340" algn="l"/>
              </a:tabLst>
            </a:pPr>
            <a:r>
              <a:rPr dirty="0" sz="1200" spc="-10">
                <a:latin typeface="Calibri"/>
                <a:cs typeface="Calibri"/>
              </a:rPr>
              <a:t>app.listen(5000,</a:t>
            </a:r>
            <a:r>
              <a:rPr dirty="0" sz="1200">
                <a:latin typeface="Calibri"/>
                <a:cs typeface="Calibri"/>
              </a:rPr>
              <a:t> ()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console.log("API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Gateway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→ </a:t>
            </a:r>
            <a:r>
              <a:rPr dirty="0" sz="1200" spc="-10">
                <a:latin typeface="Calibri"/>
                <a:cs typeface="Calibri"/>
                <a:hlinkClick r:id="rId4"/>
              </a:rPr>
              <a:t>http://localhost:5000/products")</a:t>
            </a:r>
            <a:r>
              <a:rPr dirty="0" sz="1200" spc="-10">
                <a:latin typeface="Calibri"/>
                <a:cs typeface="Calibri"/>
              </a:rPr>
              <a:t>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 b="1">
                <a:latin typeface="Calibri"/>
                <a:cs typeface="Calibri"/>
              </a:rPr>
              <a:t>OUTPUT: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3505326"/>
            <a:ext cx="5796915" cy="5415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 marR="5080" indent="-6350">
              <a:lnSpc>
                <a:spcPct val="114199"/>
              </a:lnSpc>
              <a:spcBef>
                <a:spcPts val="100"/>
              </a:spcBef>
            </a:pPr>
            <a:r>
              <a:rPr dirty="0" sz="1200" spc="-25" b="1">
                <a:latin typeface="Calibri"/>
                <a:cs typeface="Calibri"/>
              </a:rPr>
              <a:t>RESULT: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API</a:t>
            </a:r>
            <a:r>
              <a:rPr dirty="0" sz="1200" spc="-10">
                <a:latin typeface="Calibri"/>
                <a:cs typeface="Calibri"/>
              </a:rPr>
              <a:t> Gateway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was</a:t>
            </a:r>
            <a:r>
              <a:rPr dirty="0" sz="1200" spc="-10">
                <a:latin typeface="Calibri"/>
                <a:cs typeface="Calibri"/>
              </a:rPr>
              <a:t> successfully implemented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route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requests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distribute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load </a:t>
            </a:r>
            <a:r>
              <a:rPr dirty="0" sz="1200">
                <a:latin typeface="Calibri"/>
                <a:cs typeface="Calibri"/>
              </a:rPr>
              <a:t>across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multiple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instances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round-</a:t>
            </a:r>
            <a:r>
              <a:rPr dirty="0" sz="1200">
                <a:latin typeface="Calibri"/>
                <a:cs typeface="Calibri"/>
              </a:rPr>
              <a:t>robin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load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balancing</a:t>
            </a:r>
            <a:r>
              <a:rPr dirty="0" sz="1200" spc="-10" b="1"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20" b="1">
                <a:latin typeface="Calibri"/>
                <a:cs typeface="Calibri"/>
              </a:rPr>
              <a:t>TASK17: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Inter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Service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App</a:t>
            </a:r>
            <a:endParaRPr sz="1200">
              <a:latin typeface="Calibri"/>
              <a:cs typeface="Calibri"/>
            </a:endParaRPr>
          </a:p>
          <a:p>
            <a:pPr marL="18415" marR="300990" indent="28575">
              <a:lnSpc>
                <a:spcPct val="114199"/>
              </a:lnSpc>
              <a:spcBef>
                <a:spcPts val="850"/>
              </a:spcBef>
            </a:pPr>
            <a:r>
              <a:rPr dirty="0" sz="1200" b="1">
                <a:latin typeface="Calibri"/>
                <a:cs typeface="Calibri"/>
              </a:rPr>
              <a:t>AIM:</a:t>
            </a:r>
            <a:r>
              <a:rPr dirty="0" sz="1200" spc="25" b="1">
                <a:latin typeface="Calibri"/>
                <a:cs typeface="Calibri"/>
              </a:rPr>
              <a:t> </a:t>
            </a:r>
            <a:r>
              <a:rPr dirty="0" sz="1200" spc="-60">
                <a:latin typeface="Calibri"/>
                <a:cs typeface="Calibri"/>
              </a:rPr>
              <a:t>To</a:t>
            </a:r>
            <a:r>
              <a:rPr dirty="0" sz="1200">
                <a:latin typeface="Calibri"/>
                <a:cs typeface="Calibri"/>
              </a:rPr>
              <a:t> enable</a:t>
            </a:r>
            <a:r>
              <a:rPr dirty="0" sz="1200" spc="-20">
                <a:latin typeface="Calibri"/>
                <a:cs typeface="Calibri"/>
              </a:rPr>
              <a:t> inter-</a:t>
            </a:r>
            <a:r>
              <a:rPr dirty="0" sz="1200">
                <a:latin typeface="Calibri"/>
                <a:cs typeface="Calibri"/>
              </a:rPr>
              <a:t>service </a:t>
            </a:r>
            <a:r>
              <a:rPr dirty="0" sz="1200" spc="-10">
                <a:latin typeface="Calibri"/>
                <a:cs typeface="Calibri"/>
              </a:rPr>
              <a:t>communication</a:t>
            </a:r>
            <a:r>
              <a:rPr dirty="0" sz="1200">
                <a:latin typeface="Calibri"/>
                <a:cs typeface="Calibri"/>
              </a:rPr>
              <a:t> where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one</a:t>
            </a:r>
            <a:r>
              <a:rPr dirty="0" sz="1200" spc="-10">
                <a:latin typeface="Calibri"/>
                <a:cs typeface="Calibri"/>
              </a:rPr>
              <a:t> microservice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consumes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another service’s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API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handles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responses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0">
                <a:latin typeface="Calibri"/>
                <a:cs typeface="Calibri"/>
              </a:rPr>
              <a:t> failures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gracefully.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 b="1">
                <a:latin typeface="Calibri"/>
                <a:cs typeface="Calibri"/>
              </a:rPr>
              <a:t>ALGORITHM: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Start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program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Create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(provider)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Create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Order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(consumer)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Implement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API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Service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Store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memory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6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Implement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Order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API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6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axios/fetch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call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Service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9425" algn="l"/>
              </a:tabLst>
            </a:pPr>
            <a:r>
              <a:rPr dirty="0" sz="1200" spc="-10">
                <a:latin typeface="Calibri"/>
                <a:cs typeface="Calibri"/>
              </a:rPr>
              <a:t>Receive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response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Service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Process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store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order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data</a:t>
            </a:r>
            <a:endParaRPr sz="1200">
              <a:latin typeface="Calibri"/>
              <a:cs typeface="Calibri"/>
            </a:endParaRPr>
          </a:p>
          <a:p>
            <a:pPr marL="477520" indent="-227329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7520" algn="l"/>
              </a:tabLst>
            </a:pPr>
            <a:r>
              <a:rPr dirty="0" sz="1200">
                <a:latin typeface="Calibri"/>
                <a:cs typeface="Calibri"/>
              </a:rPr>
              <a:t>Handle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errors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try-catch</a:t>
            </a:r>
            <a:endParaRPr sz="1200">
              <a:latin typeface="Calibri"/>
              <a:cs typeface="Calibri"/>
            </a:endParaRPr>
          </a:p>
          <a:p>
            <a:pPr marL="477520" indent="-227329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477520" algn="l"/>
              </a:tabLst>
            </a:pPr>
            <a:r>
              <a:rPr dirty="0" sz="1200">
                <a:latin typeface="Calibri"/>
                <a:cs typeface="Calibri"/>
              </a:rPr>
              <a:t>Send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proper</a:t>
            </a:r>
            <a:r>
              <a:rPr dirty="0" sz="1200" spc="-10">
                <a:latin typeface="Calibri"/>
                <a:cs typeface="Calibri"/>
              </a:rPr>
              <a:t> success/error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response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914400"/>
            <a:ext cx="5943600" cy="1311148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2359761"/>
            <a:ext cx="5943600" cy="1013993"/>
          </a:xfrm>
          <a:prstGeom prst="rect">
            <a:avLst/>
          </a:prstGeom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0604" y="894333"/>
            <a:ext cx="3533775" cy="7902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12.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Stop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program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latin typeface="Calibri"/>
                <a:cs typeface="Calibri"/>
              </a:rPr>
              <a:t>FOLDER</a:t>
            </a:r>
            <a:r>
              <a:rPr dirty="0" sz="1200" spc="-5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STRUCTURE: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20">
                <a:latin typeface="Calibri"/>
                <a:cs typeface="Calibri"/>
              </a:rPr>
              <a:t>inter-</a:t>
            </a:r>
            <a:r>
              <a:rPr dirty="0" sz="1200" spc="-10">
                <a:latin typeface="Calibri"/>
                <a:cs typeface="Calibri"/>
              </a:rPr>
              <a:t>service-</a:t>
            </a:r>
            <a:r>
              <a:rPr dirty="0" sz="1200" spc="-20">
                <a:latin typeface="Calibri"/>
                <a:cs typeface="Calibri"/>
              </a:rPr>
              <a:t>app/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50">
                <a:latin typeface="Calibri"/>
                <a:cs typeface="Calibri"/>
              </a:rPr>
              <a:t>│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dirty="0" sz="1200">
                <a:latin typeface="MS Gothic"/>
                <a:cs typeface="MS Gothic"/>
              </a:rPr>
              <a:t>├</a:t>
            </a:r>
            <a:r>
              <a:rPr dirty="0" sz="1200">
                <a:latin typeface="Calibri"/>
                <a:cs typeface="Calibri"/>
              </a:rPr>
              <a:t>──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product-service/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200">
                <a:latin typeface="Calibri"/>
                <a:cs typeface="Calibri"/>
              </a:rPr>
              <a:t>│</a:t>
            </a:r>
            <a:r>
              <a:rPr dirty="0" sz="1200" spc="140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└──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server.js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50">
                <a:latin typeface="Calibri"/>
                <a:cs typeface="Calibri"/>
              </a:rPr>
              <a:t>│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dirty="0" sz="1200">
                <a:latin typeface="MS Gothic"/>
                <a:cs typeface="MS Gothic"/>
              </a:rPr>
              <a:t>├</a:t>
            </a:r>
            <a:r>
              <a:rPr dirty="0" sz="1200">
                <a:latin typeface="Calibri"/>
                <a:cs typeface="Calibri"/>
              </a:rPr>
              <a:t>── </a:t>
            </a:r>
            <a:r>
              <a:rPr dirty="0" sz="1200" spc="-10">
                <a:latin typeface="Calibri"/>
                <a:cs typeface="Calibri"/>
              </a:rPr>
              <a:t>order-service/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dirty="0" sz="1200">
                <a:latin typeface="Calibri"/>
                <a:cs typeface="Calibri"/>
              </a:rPr>
              <a:t>│</a:t>
            </a:r>
            <a:r>
              <a:rPr dirty="0" sz="1200" spc="140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└──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server.js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10" b="1">
                <a:latin typeface="Calibri"/>
                <a:cs typeface="Calibri"/>
              </a:rPr>
              <a:t>PROGRAM: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25" b="1">
                <a:latin typeface="Calibri"/>
                <a:cs typeface="Calibri"/>
              </a:rPr>
              <a:t>PRODUCT-</a:t>
            </a:r>
            <a:r>
              <a:rPr dirty="0" sz="1200" spc="-10" b="1">
                <a:latin typeface="Calibri"/>
                <a:cs typeface="Calibri"/>
              </a:rPr>
              <a:t>SERVICE:SERVER.JS: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express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</a:t>
            </a:r>
            <a:endParaRPr sz="1200">
              <a:latin typeface="Calibri"/>
              <a:cs typeface="Calibri"/>
            </a:endParaRPr>
          </a:p>
          <a:p>
            <a:pPr marL="18415" marR="1591310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require("express");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express();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[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60"/>
              </a:spcBef>
            </a:pPr>
            <a:r>
              <a:rPr dirty="0" sz="1200">
                <a:latin typeface="Calibri"/>
                <a:cs typeface="Calibri"/>
              </a:rPr>
              <a:t>{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id: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name: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"Laptop"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},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{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id: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name: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"Phone"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];</a:t>
            </a:r>
            <a:endParaRPr sz="1200">
              <a:latin typeface="Calibri"/>
              <a:cs typeface="Calibri"/>
            </a:endParaRPr>
          </a:p>
          <a:p>
            <a:pPr marL="18415" marR="1369695" indent="-6350">
              <a:lnSpc>
                <a:spcPct val="173300"/>
              </a:lnSpc>
              <a:spcBef>
                <a:spcPts val="15"/>
              </a:spcBef>
            </a:pPr>
            <a:r>
              <a:rPr dirty="0" sz="1200" spc="-10">
                <a:latin typeface="Calibri"/>
                <a:cs typeface="Calibri"/>
              </a:rPr>
              <a:t>app.get("/products",</a:t>
            </a:r>
            <a:r>
              <a:rPr dirty="0" sz="1200">
                <a:latin typeface="Calibri"/>
                <a:cs typeface="Calibri"/>
              </a:rPr>
              <a:t> (req,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res) =&gt;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 spc="-10">
                <a:latin typeface="Calibri"/>
                <a:cs typeface="Calibri"/>
              </a:rPr>
              <a:t>res.json(products);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8415" marR="5080" indent="-6350">
              <a:lnSpc>
                <a:spcPct val="173300"/>
              </a:lnSpc>
              <a:tabLst>
                <a:tab pos="1577340" algn="l"/>
              </a:tabLst>
            </a:pPr>
            <a:r>
              <a:rPr dirty="0" sz="1200" spc="-10">
                <a:latin typeface="Calibri"/>
                <a:cs typeface="Calibri"/>
              </a:rPr>
              <a:t>app.listen(3001,</a:t>
            </a:r>
            <a:r>
              <a:rPr dirty="0" sz="1200">
                <a:latin typeface="Calibri"/>
                <a:cs typeface="Calibri"/>
              </a:rPr>
              <a:t> ()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console.log("Product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→ </a:t>
            </a:r>
            <a:r>
              <a:rPr dirty="0" sz="1200" spc="-10">
                <a:latin typeface="Calibri"/>
                <a:cs typeface="Calibri"/>
                <a:hlinkClick r:id="rId2"/>
              </a:rPr>
              <a:t>http://localhost:3001/products")</a:t>
            </a:r>
            <a:r>
              <a:rPr dirty="0" sz="1200" spc="-10">
                <a:latin typeface="Calibri"/>
                <a:cs typeface="Calibri"/>
              </a:rPr>
              <a:t>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 b="1">
                <a:latin typeface="Calibri"/>
                <a:cs typeface="Calibri"/>
              </a:rPr>
              <a:t>ORDER-SERVICE:SERVER.JS: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0604" y="894333"/>
            <a:ext cx="4476115" cy="4761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express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require("express");</a:t>
            </a:r>
            <a:endParaRPr sz="1200">
              <a:latin typeface="Calibri"/>
              <a:cs typeface="Calibri"/>
            </a:endParaRPr>
          </a:p>
          <a:p>
            <a:pPr marL="18415" marR="2240915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axios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10">
                <a:latin typeface="Calibri"/>
                <a:cs typeface="Calibri"/>
              </a:rPr>
              <a:t> require("axios");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const </a:t>
            </a:r>
            <a:r>
              <a:rPr dirty="0" sz="1200">
                <a:latin typeface="Calibri"/>
                <a:cs typeface="Calibri"/>
              </a:rPr>
              <a:t>app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express();</a:t>
            </a:r>
            <a:endParaRPr sz="1200">
              <a:latin typeface="Calibri"/>
              <a:cs typeface="Calibri"/>
            </a:endParaRPr>
          </a:p>
          <a:p>
            <a:pPr marL="18415" marR="2070100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app.use(express.json()); </a:t>
            </a:r>
            <a:r>
              <a:rPr dirty="0" sz="1200">
                <a:latin typeface="Calibri"/>
                <a:cs typeface="Calibri"/>
              </a:rPr>
              <a:t>let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orders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 </a:t>
            </a:r>
            <a:r>
              <a:rPr dirty="0" sz="1200" spc="-25">
                <a:latin typeface="Calibri"/>
                <a:cs typeface="Calibri"/>
              </a:rPr>
              <a:t>[]; </a:t>
            </a:r>
            <a:r>
              <a:rPr dirty="0" sz="1200" spc="-10">
                <a:latin typeface="Calibri"/>
                <a:cs typeface="Calibri"/>
              </a:rPr>
              <a:t>app.post("/orders",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async</a:t>
            </a:r>
            <a:r>
              <a:rPr dirty="0" sz="1200">
                <a:latin typeface="Calibri"/>
                <a:cs typeface="Calibri"/>
              </a:rPr>
              <a:t> (req,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res)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=&gt;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try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8415" marR="5080" indent="271145">
              <a:lnSpc>
                <a:spcPct val="173300"/>
              </a:lnSpc>
              <a:spcBef>
                <a:spcPts val="30"/>
              </a:spcBef>
              <a:tabLst>
                <a:tab pos="2301875" algn="l"/>
                <a:tab pos="3648710" algn="l"/>
              </a:tabLst>
            </a:pP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response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await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axios.get(</a:t>
            </a:r>
            <a:r>
              <a:rPr dirty="0" sz="1200" spc="-10">
                <a:latin typeface="Calibri"/>
                <a:cs typeface="Calibri"/>
                <a:hlinkClick r:id="rId2"/>
              </a:rPr>
              <a:t>"http://localhost:3001/products")</a:t>
            </a:r>
            <a:r>
              <a:rPr dirty="0" sz="1200" spc="-10">
                <a:latin typeface="Calibri"/>
                <a:cs typeface="Calibri"/>
              </a:rPr>
              <a:t>;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response.data;</a:t>
            </a:r>
            <a:r>
              <a:rPr dirty="0" sz="1200">
                <a:latin typeface="Calibri"/>
                <a:cs typeface="Calibri"/>
              </a:rPr>
              <a:t>	const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order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25">
                <a:latin typeface="Calibri"/>
                <a:cs typeface="Calibri"/>
              </a:rPr>
              <a:t>id: </a:t>
            </a:r>
            <a:r>
              <a:rPr dirty="0" sz="1200" spc="-10">
                <a:latin typeface="Calibri"/>
                <a:cs typeface="Calibri"/>
              </a:rPr>
              <a:t>Date.now(),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200">
              <a:latin typeface="Calibri"/>
              <a:cs typeface="Calibri"/>
            </a:endParaRPr>
          </a:p>
          <a:p>
            <a:pPr marL="42672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products:</a:t>
            </a:r>
            <a:r>
              <a:rPr dirty="0" sz="1200" spc="-7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products</a:t>
            </a:r>
            <a:endParaRPr sz="1200">
              <a:latin typeface="Calibri"/>
              <a:cs typeface="Calibri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};</a:t>
            </a:r>
            <a:endParaRPr sz="1200">
              <a:latin typeface="Calibri"/>
              <a:cs typeface="Calibri"/>
            </a:endParaRPr>
          </a:p>
          <a:p>
            <a:pPr algn="just" marL="18415" marR="2051685" indent="271145">
              <a:lnSpc>
                <a:spcPct val="173400"/>
              </a:lnSpc>
              <a:spcBef>
                <a:spcPts val="10"/>
              </a:spcBef>
            </a:pPr>
            <a:r>
              <a:rPr dirty="0" sz="1200">
                <a:latin typeface="Calibri"/>
                <a:cs typeface="Calibri"/>
              </a:rPr>
              <a:t>orders.push(order);</a:t>
            </a:r>
            <a:r>
              <a:rPr dirty="0" sz="1200" spc="310">
                <a:latin typeface="Calibri"/>
                <a:cs typeface="Calibri"/>
              </a:rPr>
              <a:t>    </a:t>
            </a:r>
            <a:r>
              <a:rPr dirty="0" sz="1200" spc="-10">
                <a:latin typeface="Calibri"/>
                <a:cs typeface="Calibri"/>
              </a:rPr>
              <a:t>res.json({ </a:t>
            </a:r>
            <a:r>
              <a:rPr dirty="0" sz="1200">
                <a:latin typeface="Calibri"/>
                <a:cs typeface="Calibri"/>
              </a:rPr>
              <a:t>message: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"Order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created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successfully", </a:t>
            </a:r>
            <a:r>
              <a:rPr dirty="0" sz="1200">
                <a:latin typeface="Calibri"/>
                <a:cs typeface="Calibri"/>
              </a:rPr>
              <a:t>order: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order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36700" y="5764148"/>
            <a:ext cx="2935605" cy="8458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3845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 marR="5080" indent="132080">
              <a:lnSpc>
                <a:spcPct val="174200"/>
              </a:lnSpc>
              <a:tabLst>
                <a:tab pos="1387475" algn="l"/>
              </a:tabLst>
            </a:pPr>
            <a:r>
              <a:rPr dirty="0" sz="1200">
                <a:latin typeface="Calibri"/>
                <a:cs typeface="Calibri"/>
              </a:rPr>
              <a:t>}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catch </a:t>
            </a:r>
            <a:r>
              <a:rPr dirty="0" sz="1200">
                <a:latin typeface="Calibri"/>
                <a:cs typeface="Calibri"/>
              </a:rPr>
              <a:t>(error)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res.status(500).json({ </a:t>
            </a:r>
            <a:r>
              <a:rPr dirty="0" sz="1200">
                <a:latin typeface="Calibri"/>
                <a:cs typeface="Calibri"/>
              </a:rPr>
              <a:t>"Failed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fetch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products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Service"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266554" y="6082665"/>
            <a:ext cx="3790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error: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30604" y="6718172"/>
            <a:ext cx="3408679" cy="2430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956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8415" marR="1396365" indent="-6350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app.get("/orders",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(req,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res)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 spc="-10">
                <a:latin typeface="Calibri"/>
                <a:cs typeface="Calibri"/>
              </a:rPr>
              <a:t>res.json(orders);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8415" marR="5080" indent="-6350">
              <a:lnSpc>
                <a:spcPct val="173300"/>
              </a:lnSpc>
              <a:spcBef>
                <a:spcPts val="15"/>
              </a:spcBef>
              <a:tabLst>
                <a:tab pos="1577340" algn="l"/>
              </a:tabLst>
            </a:pPr>
            <a:r>
              <a:rPr dirty="0" sz="1200" spc="-10">
                <a:latin typeface="Calibri"/>
                <a:cs typeface="Calibri"/>
              </a:rPr>
              <a:t>app.listen(3002,</a:t>
            </a:r>
            <a:r>
              <a:rPr dirty="0" sz="1200">
                <a:latin typeface="Calibri"/>
                <a:cs typeface="Calibri"/>
              </a:rPr>
              <a:t> ()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console.log("Order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→ </a:t>
            </a:r>
            <a:r>
              <a:rPr dirty="0" sz="1200" spc="-10">
                <a:latin typeface="Calibri"/>
                <a:cs typeface="Calibri"/>
                <a:hlinkClick r:id="rId3"/>
              </a:rPr>
              <a:t>http://localhost:3002/orders")</a:t>
            </a:r>
            <a:r>
              <a:rPr dirty="0" sz="1200" spc="-10">
                <a:latin typeface="Calibri"/>
                <a:cs typeface="Calibri"/>
              </a:rPr>
              <a:t>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0604" y="894333"/>
            <a:ext cx="594995" cy="527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 b="1">
                <a:latin typeface="Calibri"/>
                <a:cs typeface="Calibri"/>
              </a:rPr>
              <a:t>OUTPUT: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30604" y="5767196"/>
            <a:ext cx="5565140" cy="443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 marR="5080" indent="-6350">
              <a:lnSpc>
                <a:spcPct val="114199"/>
              </a:lnSpc>
              <a:spcBef>
                <a:spcPts val="100"/>
              </a:spcBef>
            </a:pPr>
            <a:r>
              <a:rPr dirty="0" sz="1200" spc="-20" b="1">
                <a:latin typeface="Calibri"/>
                <a:cs typeface="Calibri"/>
              </a:rPr>
              <a:t>RESULT:</a:t>
            </a:r>
            <a:r>
              <a:rPr dirty="0" sz="1200" spc="15" b="1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Inter-</a:t>
            </a:r>
            <a:r>
              <a:rPr dirty="0" sz="1200">
                <a:latin typeface="Calibri"/>
                <a:cs typeface="Calibri"/>
              </a:rPr>
              <a:t>service </a:t>
            </a:r>
            <a:r>
              <a:rPr dirty="0" sz="1200" spc="-10">
                <a:latin typeface="Calibri"/>
                <a:cs typeface="Calibri"/>
              </a:rPr>
              <a:t>communication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was</a:t>
            </a:r>
            <a:r>
              <a:rPr dirty="0" sz="1200" spc="-10">
                <a:latin typeface="Calibri"/>
                <a:cs typeface="Calibri"/>
              </a:rPr>
              <a:t> successfully implemented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APIs,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with </a:t>
            </a:r>
            <a:r>
              <a:rPr dirty="0" sz="1200">
                <a:latin typeface="Calibri"/>
                <a:cs typeface="Calibri"/>
              </a:rPr>
              <a:t>proper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handling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responses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failures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between</a:t>
            </a:r>
            <a:r>
              <a:rPr dirty="0" sz="1200" spc="-10">
                <a:latin typeface="Calibri"/>
                <a:cs typeface="Calibri"/>
              </a:rPr>
              <a:t> microservices.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1735" y="1518030"/>
            <a:ext cx="4472305" cy="155447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6180" y="3363467"/>
            <a:ext cx="4620895" cy="2041525"/>
          </a:xfrm>
          <a:prstGeom prst="rect">
            <a:avLst/>
          </a:prstGeom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5633085" cy="7721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Calibri"/>
                <a:cs typeface="Calibri"/>
              </a:rPr>
              <a:t>TASK18: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Microservice </a:t>
            </a:r>
            <a:r>
              <a:rPr dirty="0" sz="1200" spc="-20" b="1">
                <a:latin typeface="Calibri"/>
                <a:cs typeface="Calibri"/>
              </a:rPr>
              <a:t>Test</a:t>
            </a:r>
            <a:endParaRPr sz="1200">
              <a:latin typeface="Calibri"/>
              <a:cs typeface="Calibri"/>
            </a:endParaRPr>
          </a:p>
          <a:p>
            <a:pPr marL="18415" marR="5080" indent="-6350">
              <a:lnSpc>
                <a:spcPct val="114199"/>
              </a:lnSpc>
              <a:spcBef>
                <a:spcPts val="850"/>
              </a:spcBef>
            </a:pPr>
            <a:r>
              <a:rPr dirty="0" sz="1200" b="1">
                <a:latin typeface="Calibri"/>
                <a:cs typeface="Calibri"/>
              </a:rPr>
              <a:t>AIM: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-6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write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unit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cases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microservices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validate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logic,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APIs,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data </a:t>
            </a:r>
            <a:r>
              <a:rPr dirty="0" sz="1200">
                <a:latin typeface="Calibri"/>
                <a:cs typeface="Calibri"/>
              </a:rPr>
              <a:t>handling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testing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framework</a:t>
            </a:r>
            <a:r>
              <a:rPr dirty="0" sz="1200" spc="-10" b="1"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 b="1">
                <a:latin typeface="Calibri"/>
                <a:cs typeface="Calibri"/>
              </a:rPr>
              <a:t>ALGORITHM: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Start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program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Install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testing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framework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(Jest,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Supertest)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Configure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test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script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package.json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Create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test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folder/files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6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Import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modules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6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Write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test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cases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logic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Write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test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cases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REST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APIs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Mock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external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dependencies </a:t>
            </a:r>
            <a:r>
              <a:rPr dirty="0" sz="1200">
                <a:latin typeface="Calibri"/>
                <a:cs typeface="Calibri"/>
              </a:rPr>
              <a:t>if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needed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479425" algn="l"/>
              </a:tabLst>
            </a:pPr>
            <a:r>
              <a:rPr dirty="0" sz="1200" spc="-10">
                <a:latin typeface="Calibri"/>
                <a:cs typeface="Calibri"/>
              </a:rPr>
              <a:t>Execute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test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cases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Jest</a:t>
            </a:r>
            <a:endParaRPr sz="1200">
              <a:latin typeface="Calibri"/>
              <a:cs typeface="Calibri"/>
            </a:endParaRPr>
          </a:p>
          <a:p>
            <a:pPr marL="477520" indent="-227329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7520" algn="l"/>
              </a:tabLst>
            </a:pPr>
            <a:r>
              <a:rPr dirty="0" sz="1200">
                <a:latin typeface="Calibri"/>
                <a:cs typeface="Calibri"/>
              </a:rPr>
              <a:t>Verify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expected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outputs</a:t>
            </a:r>
            <a:endParaRPr sz="1200">
              <a:latin typeface="Calibri"/>
              <a:cs typeface="Calibri"/>
            </a:endParaRPr>
          </a:p>
          <a:p>
            <a:pPr marL="477520" indent="-227329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477520" algn="l"/>
              </a:tabLst>
            </a:pPr>
            <a:r>
              <a:rPr dirty="0" sz="1200">
                <a:latin typeface="Calibri"/>
                <a:cs typeface="Calibri"/>
              </a:rPr>
              <a:t>Handle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edge</a:t>
            </a:r>
            <a:r>
              <a:rPr dirty="0" sz="1200" spc="-10">
                <a:latin typeface="Calibri"/>
                <a:cs typeface="Calibri"/>
              </a:rPr>
              <a:t> cases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0">
                <a:latin typeface="Calibri"/>
                <a:cs typeface="Calibri"/>
              </a:rPr>
              <a:t> errors</a:t>
            </a:r>
            <a:endParaRPr sz="1200">
              <a:latin typeface="Calibri"/>
              <a:cs typeface="Calibri"/>
            </a:endParaRPr>
          </a:p>
          <a:p>
            <a:pPr marL="477520" indent="-227329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7520" algn="l"/>
              </a:tabLst>
            </a:pPr>
            <a:r>
              <a:rPr dirty="0" sz="1200">
                <a:latin typeface="Calibri"/>
                <a:cs typeface="Calibri"/>
              </a:rPr>
              <a:t>Stop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program</a:t>
            </a:r>
            <a:endParaRPr sz="1200">
              <a:latin typeface="Calibri"/>
              <a:cs typeface="Calibri"/>
            </a:endParaRPr>
          </a:p>
          <a:p>
            <a:pPr marL="250190">
              <a:lnSpc>
                <a:spcPct val="100000"/>
              </a:lnSpc>
              <a:spcBef>
                <a:spcPts val="1055"/>
              </a:spcBef>
            </a:pPr>
            <a:r>
              <a:rPr dirty="0" sz="1200" spc="-10" b="1">
                <a:latin typeface="Calibri"/>
                <a:cs typeface="Calibri"/>
              </a:rPr>
              <a:t>PROGRAM:</a:t>
            </a:r>
            <a:endParaRPr sz="1200">
              <a:latin typeface="Calibri"/>
              <a:cs typeface="Calibri"/>
            </a:endParaRPr>
          </a:p>
          <a:p>
            <a:pPr marL="250190">
              <a:lnSpc>
                <a:spcPct val="100000"/>
              </a:lnSpc>
              <a:spcBef>
                <a:spcPts val="1055"/>
              </a:spcBef>
            </a:pPr>
            <a:r>
              <a:rPr dirty="0" sz="1200" spc="-10" b="1">
                <a:latin typeface="Calibri"/>
                <a:cs typeface="Calibri"/>
              </a:rPr>
              <a:t>app.js:</a:t>
            </a:r>
            <a:endParaRPr sz="1200">
              <a:latin typeface="Calibri"/>
              <a:cs typeface="Calibri"/>
            </a:endParaRPr>
          </a:p>
          <a:p>
            <a:pPr marL="256540" marR="3227070" indent="-6350">
              <a:lnSpc>
                <a:spcPct val="174200"/>
              </a:lnSpc>
            </a:pP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express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require("express");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express();</a:t>
            </a:r>
            <a:endParaRPr sz="1200">
              <a:latin typeface="Calibri"/>
              <a:cs typeface="Calibri"/>
            </a:endParaRPr>
          </a:p>
          <a:p>
            <a:pPr marL="256540" marR="3701415">
              <a:lnSpc>
                <a:spcPts val="2510"/>
              </a:lnSpc>
              <a:spcBef>
                <a:spcPts val="250"/>
              </a:spcBef>
            </a:pPr>
            <a:r>
              <a:rPr dirty="0" sz="1200" spc="-10">
                <a:latin typeface="Calibri"/>
                <a:cs typeface="Calibri"/>
              </a:rPr>
              <a:t>app.use(express.json());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let </a:t>
            </a:r>
            <a:r>
              <a:rPr dirty="0" sz="1200">
                <a:latin typeface="Calibri"/>
                <a:cs typeface="Calibri"/>
              </a:rPr>
              <a:t>products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[];</a:t>
            </a:r>
            <a:endParaRPr sz="1200">
              <a:latin typeface="Calibri"/>
              <a:cs typeface="Calibri"/>
            </a:endParaRPr>
          </a:p>
          <a:p>
            <a:pPr marL="250190">
              <a:lnSpc>
                <a:spcPct val="100000"/>
              </a:lnSpc>
              <a:spcBef>
                <a:spcPts val="785"/>
              </a:spcBef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API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app.get("/products",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(req,</a:t>
            </a:r>
            <a:endParaRPr sz="1200">
              <a:latin typeface="Calibri"/>
              <a:cs typeface="Calibri"/>
            </a:endParaRPr>
          </a:p>
          <a:p>
            <a:pPr marL="256540">
              <a:lnSpc>
                <a:spcPct val="100000"/>
              </a:lnSpc>
              <a:spcBef>
                <a:spcPts val="1055"/>
              </a:spcBef>
              <a:tabLst>
                <a:tab pos="930275" algn="l"/>
              </a:tabLst>
            </a:pPr>
            <a:r>
              <a:rPr dirty="0" sz="1200">
                <a:latin typeface="Calibri"/>
                <a:cs typeface="Calibri"/>
              </a:rPr>
              <a:t>res)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res.json(products);</a:t>
            </a:r>
            <a:endParaRPr sz="1200">
              <a:latin typeface="Calibri"/>
              <a:cs typeface="Calibri"/>
            </a:endParaRPr>
          </a:p>
          <a:p>
            <a:pPr marL="250190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0604" y="894333"/>
            <a:ext cx="3893820" cy="8146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app.post("/products",</a:t>
            </a:r>
            <a:r>
              <a:rPr dirty="0" sz="1200">
                <a:latin typeface="Calibri"/>
                <a:cs typeface="Calibri"/>
              </a:rPr>
              <a:t> (req,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res) =&gt;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8415" marR="1728470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products.push(req.body);</a:t>
            </a:r>
            <a:r>
              <a:rPr dirty="0" sz="1200" spc="5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res.json({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msg: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"Product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added"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module.exports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app;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 b="1">
                <a:latin typeface="Calibri"/>
                <a:cs typeface="Calibri"/>
              </a:rPr>
              <a:t>SERVER.JS:</a:t>
            </a:r>
            <a:endParaRPr sz="1200">
              <a:latin typeface="Calibri"/>
              <a:cs typeface="Calibri"/>
            </a:endParaRPr>
          </a:p>
          <a:p>
            <a:pPr marL="18415" marR="1064895" indent="-6350">
              <a:lnSpc>
                <a:spcPct val="114399"/>
              </a:lnSpc>
              <a:spcBef>
                <a:spcPts val="850"/>
              </a:spcBef>
            </a:pP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10">
                <a:latin typeface="Calibri"/>
                <a:cs typeface="Calibri"/>
              </a:rPr>
              <a:t> require("./app");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app.listen(3001, </a:t>
            </a:r>
            <a:r>
              <a:rPr dirty="0" sz="1200">
                <a:latin typeface="Calibri"/>
                <a:cs typeface="Calibri"/>
              </a:rPr>
              <a:t>()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250"/>
              </a:spcBef>
            </a:pPr>
            <a:r>
              <a:rPr dirty="0" sz="1200" spc="-10">
                <a:latin typeface="Calibri"/>
                <a:cs typeface="Calibri"/>
              </a:rPr>
              <a:t>console.log("Product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running");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8415" marR="5080" indent="-6350">
              <a:lnSpc>
                <a:spcPct val="173300"/>
              </a:lnSpc>
              <a:tabLst>
                <a:tab pos="991235" algn="l"/>
              </a:tabLst>
            </a:pPr>
            <a:r>
              <a:rPr dirty="0" sz="1200" spc="-20" b="1">
                <a:latin typeface="Calibri"/>
                <a:cs typeface="Calibri"/>
              </a:rPr>
              <a:t>Product.Test.js: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request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require("supertest"); const</a:t>
            </a:r>
            <a:r>
              <a:rPr dirty="0" sz="1200" spc="5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require("../product-service/app");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describe("Product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API </a:t>
            </a:r>
            <a:r>
              <a:rPr dirty="0" sz="1200" spc="-20">
                <a:latin typeface="Calibri"/>
                <a:cs typeface="Calibri"/>
              </a:rPr>
              <a:t>Tests", </a:t>
            </a:r>
            <a:r>
              <a:rPr dirty="0" sz="1200">
                <a:latin typeface="Calibri"/>
                <a:cs typeface="Calibri"/>
              </a:rPr>
              <a:t>()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6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test("GET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/products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should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return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empty</a:t>
            </a:r>
            <a:endParaRPr sz="1200">
              <a:latin typeface="Calibri"/>
              <a:cs typeface="Calibri"/>
            </a:endParaRPr>
          </a:p>
          <a:p>
            <a:pPr marL="18415" marR="1334135">
              <a:lnSpc>
                <a:spcPct val="173300"/>
              </a:lnSpc>
              <a:tabLst>
                <a:tab pos="1515110" algn="l"/>
              </a:tabLst>
            </a:pPr>
            <a:r>
              <a:rPr dirty="0" sz="1200">
                <a:latin typeface="Calibri"/>
                <a:cs typeface="Calibri"/>
              </a:rPr>
              <a:t>array",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async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()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const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await request(app).get("/products");</a:t>
            </a:r>
            <a:endParaRPr sz="1200">
              <a:latin typeface="Calibri"/>
              <a:cs typeface="Calibri"/>
            </a:endParaRPr>
          </a:p>
          <a:p>
            <a:pPr marL="18415" marR="1762760">
              <a:lnSpc>
                <a:spcPct val="173300"/>
              </a:lnSpc>
              <a:spcBef>
                <a:spcPts val="5"/>
              </a:spcBef>
            </a:pPr>
            <a:r>
              <a:rPr dirty="0" sz="1200" spc="-10">
                <a:latin typeface="Calibri"/>
                <a:cs typeface="Calibri"/>
              </a:rPr>
              <a:t>expect(res.statusCode).toBe(200); expect(res.body).toEqual([]);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8415" marR="320675" indent="132080">
              <a:lnSpc>
                <a:spcPct val="173300"/>
              </a:lnSpc>
              <a:spcBef>
                <a:spcPts val="15"/>
              </a:spcBef>
              <a:tabLst>
                <a:tab pos="2333625" algn="l"/>
              </a:tabLst>
            </a:pPr>
            <a:r>
              <a:rPr dirty="0" sz="1200" spc="-10">
                <a:latin typeface="Calibri"/>
                <a:cs typeface="Calibri"/>
              </a:rPr>
              <a:t>test("POST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/products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should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product",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async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()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await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request(app)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.post("/products")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.send({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name: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"Laptop"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60"/>
              </a:spcBef>
            </a:pPr>
            <a:r>
              <a:rPr dirty="0" sz="1200" spc="-10">
                <a:latin typeface="Calibri"/>
                <a:cs typeface="Calibri"/>
              </a:rPr>
              <a:t>expect(res.statusCode).toBe(200);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expect(res.body.msg).toBe("Product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added");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289560" marR="456565" indent="-139065">
              <a:lnSpc>
                <a:spcPts val="2510"/>
              </a:lnSpc>
              <a:spcBef>
                <a:spcPts val="250"/>
              </a:spcBef>
            </a:pPr>
            <a:r>
              <a:rPr dirty="0" sz="1200" spc="-10">
                <a:latin typeface="Calibri"/>
                <a:cs typeface="Calibri"/>
              </a:rPr>
              <a:t>test("GET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/products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should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return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data",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async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()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await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request(app).get("/products");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790"/>
              </a:spcBef>
            </a:pPr>
            <a:r>
              <a:rPr dirty="0" sz="1200" spc="-10">
                <a:latin typeface="Calibri"/>
                <a:cs typeface="Calibri"/>
              </a:rPr>
              <a:t>expect(res.body.length).toBeGreaterThan(0);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594995" cy="843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862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algn="ctr" marL="40005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070"/>
              </a:spcBef>
            </a:pPr>
            <a:r>
              <a:rPr dirty="0" sz="1200" spc="-10" b="1">
                <a:latin typeface="Calibri"/>
                <a:cs typeface="Calibri"/>
              </a:rPr>
              <a:t>OUTPUT: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92860" y="3032886"/>
            <a:ext cx="5965825" cy="443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 marR="5080" indent="-6350">
              <a:lnSpc>
                <a:spcPct val="114199"/>
              </a:lnSpc>
              <a:spcBef>
                <a:spcPts val="100"/>
              </a:spcBef>
            </a:pPr>
            <a:r>
              <a:rPr dirty="0" sz="1200" spc="-10" b="1">
                <a:latin typeface="Calibri"/>
                <a:cs typeface="Calibri"/>
              </a:rPr>
              <a:t>RESULT</a:t>
            </a:r>
            <a:r>
              <a:rPr dirty="0" sz="1200" spc="-10">
                <a:latin typeface="Calibri"/>
                <a:cs typeface="Calibri"/>
              </a:rPr>
              <a:t>:</a:t>
            </a:r>
            <a:r>
              <a:rPr dirty="0" sz="1200">
                <a:latin typeface="Calibri"/>
                <a:cs typeface="Calibri"/>
              </a:rPr>
              <a:t> Unit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cases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were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successfully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implemented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validate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microservice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logic,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APIs,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handling,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ensuring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application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reliability.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9960" y="1836483"/>
            <a:ext cx="5943599" cy="1151191"/>
          </a:xfrm>
          <a:prstGeom prst="rect">
            <a:avLst/>
          </a:prstGeom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5727065" cy="80537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Calibri"/>
                <a:cs typeface="Calibri"/>
              </a:rPr>
              <a:t>TASK19: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Mini</a:t>
            </a:r>
            <a:r>
              <a:rPr dirty="0" sz="1200" spc="-4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Git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System</a:t>
            </a:r>
            <a:endParaRPr sz="1200">
              <a:latin typeface="Calibri"/>
              <a:cs typeface="Calibri"/>
            </a:endParaRPr>
          </a:p>
          <a:p>
            <a:pPr marL="18415" marR="5080" indent="-6350">
              <a:lnSpc>
                <a:spcPct val="114199"/>
              </a:lnSpc>
              <a:spcBef>
                <a:spcPts val="850"/>
              </a:spcBef>
            </a:pPr>
            <a:r>
              <a:rPr dirty="0" sz="1200" b="1">
                <a:latin typeface="Calibri"/>
                <a:cs typeface="Calibri"/>
              </a:rPr>
              <a:t>AIM: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spc="-6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design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simple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Git-</a:t>
            </a:r>
            <a:r>
              <a:rPr dirty="0" sz="1200">
                <a:latin typeface="Calibri"/>
                <a:cs typeface="Calibri"/>
              </a:rPr>
              <a:t>like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web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application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tracks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changes,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stores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versions,</a:t>
            </a:r>
            <a:r>
              <a:rPr dirty="0" sz="1200" spc="-25">
                <a:latin typeface="Calibri"/>
                <a:cs typeface="Calibri"/>
              </a:rPr>
              <a:t> and </a:t>
            </a:r>
            <a:r>
              <a:rPr dirty="0" sz="1200">
                <a:latin typeface="Calibri"/>
                <a:cs typeface="Calibri"/>
              </a:rPr>
              <a:t>displays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commit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history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HTML,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CSS,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JavaScript,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Node.js.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 b="1">
                <a:latin typeface="Calibri"/>
                <a:cs typeface="Calibri"/>
              </a:rPr>
              <a:t>ALGORITHM: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Start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program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6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Create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project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(HTML,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CSS,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JS,</a:t>
            </a:r>
            <a:r>
              <a:rPr dirty="0" sz="1200" spc="-20">
                <a:latin typeface="Calibri"/>
                <a:cs typeface="Calibri"/>
              </a:rPr>
              <a:t> server.js,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db.js)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6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Design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UI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entering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content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Capture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input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JavaScript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6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Send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fetch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API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Store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versions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0">
                <a:latin typeface="Calibri"/>
                <a:cs typeface="Calibri"/>
              </a:rPr>
              <a:t> database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(array)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Assign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version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number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each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commit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6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Save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commit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message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timestamp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Create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API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fetch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commit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history</a:t>
            </a:r>
            <a:endParaRPr sz="1200">
              <a:latin typeface="Calibri"/>
              <a:cs typeface="Calibri"/>
            </a:endParaRPr>
          </a:p>
          <a:p>
            <a:pPr marL="477520" indent="-227329">
              <a:lnSpc>
                <a:spcPct val="100000"/>
              </a:lnSpc>
              <a:spcBef>
                <a:spcPts val="1065"/>
              </a:spcBef>
              <a:buAutoNum type="arabicPeriod"/>
              <a:tabLst>
                <a:tab pos="477520" algn="l"/>
              </a:tabLst>
            </a:pPr>
            <a:r>
              <a:rPr dirty="0" sz="1200">
                <a:latin typeface="Calibri"/>
                <a:cs typeface="Calibri"/>
              </a:rPr>
              <a:t>Display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commit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history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UI</a:t>
            </a:r>
            <a:endParaRPr sz="1200">
              <a:latin typeface="Calibri"/>
              <a:cs typeface="Calibri"/>
            </a:endParaRPr>
          </a:p>
          <a:p>
            <a:pPr marL="477520" indent="-227329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7520" algn="l"/>
              </a:tabLst>
            </a:pPr>
            <a:r>
              <a:rPr dirty="0" sz="1200">
                <a:latin typeface="Calibri"/>
                <a:cs typeface="Calibri"/>
              </a:rPr>
              <a:t>Allow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viewing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previous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versions</a:t>
            </a:r>
            <a:endParaRPr sz="1200">
              <a:latin typeface="Calibri"/>
              <a:cs typeface="Calibri"/>
            </a:endParaRPr>
          </a:p>
          <a:p>
            <a:pPr marL="477520" indent="-227329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7520" algn="l"/>
              </a:tabLst>
            </a:pPr>
            <a:r>
              <a:rPr dirty="0" sz="1200">
                <a:latin typeface="Calibri"/>
                <a:cs typeface="Calibri"/>
              </a:rPr>
              <a:t>Stop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program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 b="1">
                <a:latin typeface="Calibri"/>
                <a:cs typeface="Calibri"/>
              </a:rPr>
              <a:t>PROGRAM: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 b="1">
                <a:latin typeface="Calibri"/>
                <a:cs typeface="Calibri"/>
              </a:rPr>
              <a:t>INDEX.HTML: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sz="1200">
                <a:latin typeface="Calibri"/>
                <a:cs typeface="Calibri"/>
              </a:rPr>
              <a:t>&lt;!DOCTYPE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html&gt;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&lt;html&gt;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&lt;head&gt;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&lt;title&gt;Mini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Git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System&lt;/title&gt;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&lt;link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rel="stylesheet"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href="style.css"&gt;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&lt;/head&gt;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&lt;body&gt;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&lt;div </a:t>
            </a:r>
            <a:r>
              <a:rPr dirty="0" sz="1200" spc="-10">
                <a:latin typeface="Calibri"/>
                <a:cs typeface="Calibri"/>
              </a:rPr>
              <a:t>class="container"&gt;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4447540" cy="81495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113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&lt;h2&gt;Mini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Git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System&lt;/h2&gt;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&lt;textarea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id="content"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placeholder="Write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code..."&gt;&lt;/textarea&gt;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&lt;input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id="message"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placeholder="Commit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message"&gt;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&lt;button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onclick="commit()"&gt;Commit&lt;/button&gt;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&lt;h3&gt;Commit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History&lt;/h3&gt;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&lt;ul</a:t>
            </a:r>
            <a:r>
              <a:rPr dirty="0" sz="1200" spc="-10">
                <a:latin typeface="Calibri"/>
                <a:cs typeface="Calibri"/>
              </a:rPr>
              <a:t> id="history"&gt;&lt;/ul&gt;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&lt;/div&gt;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&lt;script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src="script.js"&gt;&lt;/script&gt;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&lt;/body&gt;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&lt;/html&gt;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STYLE.CSS:</a:t>
            </a:r>
            <a:endParaRPr sz="1200">
              <a:latin typeface="Calibri"/>
              <a:cs typeface="Calibri"/>
            </a:endParaRPr>
          </a:p>
          <a:p>
            <a:pPr marL="18415" marR="3143250">
              <a:lnSpc>
                <a:spcPct val="173300"/>
              </a:lnSpc>
              <a:tabLst>
                <a:tab pos="516890" algn="l"/>
                <a:tab pos="583565" algn="l"/>
              </a:tabLst>
            </a:pPr>
            <a:r>
              <a:rPr dirty="0" sz="1200">
                <a:latin typeface="Calibri"/>
                <a:cs typeface="Calibri"/>
              </a:rPr>
              <a:t>body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	</a:t>
            </a:r>
            <a:r>
              <a:rPr dirty="0" sz="1200" spc="-25">
                <a:latin typeface="Calibri"/>
                <a:cs typeface="Calibri"/>
              </a:rPr>
              <a:t>font-</a:t>
            </a:r>
            <a:r>
              <a:rPr dirty="0" sz="1200" spc="-10">
                <a:latin typeface="Calibri"/>
                <a:cs typeface="Calibri"/>
              </a:rPr>
              <a:t>family: Arial;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background:</a:t>
            </a:r>
            <a:endParaRPr sz="1200">
              <a:latin typeface="Calibri"/>
              <a:cs typeface="Calibri"/>
            </a:endParaRPr>
          </a:p>
          <a:p>
            <a:pPr marL="18415" marR="2923540">
              <a:lnSpc>
                <a:spcPct val="173400"/>
              </a:lnSpc>
              <a:tabLst>
                <a:tab pos="739140" algn="l"/>
                <a:tab pos="922019" algn="l"/>
                <a:tab pos="1147445" algn="l"/>
              </a:tabLst>
            </a:pPr>
            <a:r>
              <a:rPr dirty="0" sz="1200" spc="-10">
                <a:latin typeface="Calibri"/>
                <a:cs typeface="Calibri"/>
              </a:rPr>
              <a:t>#1e1e2f;</a:t>
            </a:r>
            <a:r>
              <a:rPr dirty="0" sz="1200">
                <a:latin typeface="Calibri"/>
                <a:cs typeface="Calibri"/>
              </a:rPr>
              <a:t>	color: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white; display:flex;</a:t>
            </a:r>
            <a:r>
              <a:rPr dirty="0" sz="1200">
                <a:latin typeface="Calibri"/>
                <a:cs typeface="Calibri"/>
              </a:rPr>
              <a:t>		</a:t>
            </a:r>
            <a:r>
              <a:rPr dirty="0" sz="1200" spc="-10">
                <a:latin typeface="Calibri"/>
                <a:cs typeface="Calibri"/>
              </a:rPr>
              <a:t>justify- content:center;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align- items:center;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height:100vh;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3329304" indent="-6350">
              <a:lnSpc>
                <a:spcPct val="173400"/>
              </a:lnSpc>
              <a:spcBef>
                <a:spcPts val="10"/>
              </a:spcBef>
            </a:pPr>
            <a:r>
              <a:rPr dirty="0" sz="1200">
                <a:latin typeface="Calibri"/>
                <a:cs typeface="Calibri"/>
              </a:rPr>
              <a:t>.container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 width: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400px; </a:t>
            </a:r>
            <a:r>
              <a:rPr dirty="0" sz="1200" spc="-25">
                <a:latin typeface="Calibri"/>
                <a:cs typeface="Calibri"/>
              </a:rPr>
              <a:t>text-</a:t>
            </a:r>
            <a:r>
              <a:rPr dirty="0" sz="1200">
                <a:latin typeface="Calibri"/>
                <a:cs typeface="Calibri"/>
              </a:rPr>
              <a:t>align: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center;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3608704" indent="-6350">
              <a:lnSpc>
                <a:spcPct val="173300"/>
              </a:lnSpc>
              <a:spcBef>
                <a:spcPts val="15"/>
              </a:spcBef>
            </a:pPr>
            <a:r>
              <a:rPr dirty="0" sz="1200" spc="-10">
                <a:latin typeface="Calibri"/>
                <a:cs typeface="Calibri"/>
              </a:rPr>
              <a:t>textarea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>
                <a:latin typeface="Calibri"/>
                <a:cs typeface="Calibri"/>
              </a:rPr>
              <a:t>width: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100%; </a:t>
            </a:r>
            <a:r>
              <a:rPr dirty="0" sz="1200">
                <a:latin typeface="Calibri"/>
                <a:cs typeface="Calibri"/>
              </a:rPr>
              <a:t>height: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80px; </a:t>
            </a:r>
            <a:r>
              <a:rPr dirty="0" sz="1200">
                <a:latin typeface="Calibri"/>
                <a:cs typeface="Calibri"/>
              </a:rPr>
              <a:t>margin: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5px;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1513840" cy="30651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algn="just" marL="18415" marR="507365" indent="-6350">
              <a:lnSpc>
                <a:spcPct val="173300"/>
              </a:lnSpc>
              <a:spcBef>
                <a:spcPts val="10"/>
              </a:spcBef>
            </a:pPr>
            <a:r>
              <a:rPr dirty="0" sz="1200">
                <a:latin typeface="Calibri"/>
                <a:cs typeface="Calibri"/>
              </a:rPr>
              <a:t>input,</a:t>
            </a:r>
            <a:r>
              <a:rPr dirty="0" sz="1200" spc="29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button</a:t>
            </a:r>
            <a:r>
              <a:rPr dirty="0" sz="1200" spc="31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>
                <a:latin typeface="Calibri"/>
                <a:cs typeface="Calibri"/>
              </a:rPr>
              <a:t>margin:</a:t>
            </a:r>
            <a:r>
              <a:rPr dirty="0" sz="1200" spc="360">
                <a:latin typeface="Calibri"/>
                <a:cs typeface="Calibri"/>
              </a:rPr>
              <a:t>   </a:t>
            </a:r>
            <a:r>
              <a:rPr dirty="0" sz="1200" spc="-25">
                <a:latin typeface="Calibri"/>
                <a:cs typeface="Calibri"/>
              </a:rPr>
              <a:t>5px; </a:t>
            </a:r>
            <a:r>
              <a:rPr dirty="0" sz="1200">
                <a:latin typeface="Calibri"/>
                <a:cs typeface="Calibri"/>
              </a:rPr>
              <a:t>padding: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8px;</a:t>
            </a:r>
            <a:endParaRPr sz="120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}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li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60"/>
              </a:spcBef>
            </a:pP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background: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#333;</a:t>
            </a:r>
            <a:endParaRPr sz="1200">
              <a:latin typeface="Calibri"/>
              <a:cs typeface="Calibri"/>
            </a:endParaRPr>
          </a:p>
          <a:p>
            <a:pPr marL="18415" marR="5080">
              <a:lnSpc>
                <a:spcPct val="173300"/>
              </a:lnSpc>
              <a:spcBef>
                <a:spcPts val="5"/>
              </a:spcBef>
              <a:tabLst>
                <a:tab pos="960119" algn="l"/>
              </a:tabLst>
            </a:pPr>
            <a:r>
              <a:rPr dirty="0" sz="1200">
                <a:latin typeface="Calibri"/>
                <a:cs typeface="Calibri"/>
              </a:rPr>
              <a:t>margin: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5px;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padding: </a:t>
            </a:r>
            <a:r>
              <a:rPr dirty="0" sz="1200" spc="-20">
                <a:latin typeface="Calibri"/>
                <a:cs typeface="Calibri"/>
              </a:rPr>
              <a:t>5px;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92860" y="4069207"/>
            <a:ext cx="2776855" cy="84264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Calibri"/>
                <a:cs typeface="Calibri"/>
              </a:rPr>
              <a:t>SCRIPT.JS:</a:t>
            </a:r>
            <a:endParaRPr sz="1200">
              <a:latin typeface="Calibri"/>
              <a:cs typeface="Calibri"/>
            </a:endParaRPr>
          </a:p>
          <a:p>
            <a:pPr marL="18415" marR="5080" indent="-6350">
              <a:lnSpc>
                <a:spcPct val="173300"/>
              </a:lnSpc>
              <a:tabLst>
                <a:tab pos="1385570" algn="l"/>
              </a:tabLst>
            </a:pP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commit()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const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content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document.getElementById("content").value;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819271" y="4703190"/>
            <a:ext cx="10388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const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message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92860" y="5020183"/>
            <a:ext cx="3922395" cy="4020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document.getElementById("message").value;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  <a:tabLst>
                <a:tab pos="1458595" algn="l"/>
                <a:tab pos="2816860" algn="l"/>
              </a:tabLst>
            </a:pPr>
            <a:r>
              <a:rPr dirty="0" sz="1200" spc="-10">
                <a:latin typeface="Calibri"/>
                <a:cs typeface="Calibri"/>
              </a:rPr>
              <a:t>fetch("/commit",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method: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"POST",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headers:</a:t>
            </a:r>
            <a:endParaRPr sz="1200">
              <a:latin typeface="Calibri"/>
              <a:cs typeface="Calibri"/>
            </a:endParaRPr>
          </a:p>
          <a:p>
            <a:pPr marL="18415" marR="5080">
              <a:lnSpc>
                <a:spcPct val="173300"/>
              </a:lnSpc>
              <a:tabLst>
                <a:tab pos="2576195" algn="l"/>
              </a:tabLst>
            </a:pPr>
            <a:r>
              <a:rPr dirty="0" sz="1200" spc="-10">
                <a:latin typeface="Calibri"/>
                <a:cs typeface="Calibri"/>
              </a:rPr>
              <a:t>{"Content-Type":"application/json"},</a:t>
            </a:r>
            <a:r>
              <a:rPr dirty="0" sz="1200">
                <a:latin typeface="Calibri"/>
                <a:cs typeface="Calibri"/>
              </a:rPr>
              <a:t>	body: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JSON.stringify({ content,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message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60"/>
              </a:spcBef>
            </a:pPr>
            <a:r>
              <a:rPr dirty="0" sz="1200" spc="-10">
                <a:latin typeface="Calibri"/>
                <a:cs typeface="Calibri"/>
              </a:rPr>
              <a:t>}).then(loadHistory);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2467610" indent="-6350">
              <a:lnSpc>
                <a:spcPct val="173500"/>
              </a:lnSpc>
              <a:spcBef>
                <a:spcPts val="10"/>
              </a:spcBef>
            </a:pPr>
            <a:r>
              <a:rPr dirty="0" sz="1200">
                <a:latin typeface="Calibri"/>
                <a:cs typeface="Calibri"/>
              </a:rPr>
              <a:t>function </a:t>
            </a:r>
            <a:r>
              <a:rPr dirty="0" sz="1200" spc="-10">
                <a:latin typeface="Calibri"/>
                <a:cs typeface="Calibri"/>
              </a:rPr>
              <a:t>loadHistory()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 spc="-10">
                <a:latin typeface="Calibri"/>
                <a:cs typeface="Calibri"/>
              </a:rPr>
              <a:t>fetch("/history")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.then(res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res.json())</a:t>
            </a:r>
            <a:endParaRPr sz="1200">
              <a:latin typeface="Calibri"/>
              <a:cs typeface="Calibri"/>
            </a:endParaRPr>
          </a:p>
          <a:p>
            <a:pPr marL="117475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.then(data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8415" marR="775970" indent="271145">
              <a:lnSpc>
                <a:spcPct val="173300"/>
              </a:lnSpc>
              <a:spcBef>
                <a:spcPts val="15"/>
              </a:spcBef>
              <a:tabLst>
                <a:tab pos="1541145" algn="l"/>
              </a:tabLst>
            </a:pPr>
            <a:r>
              <a:rPr dirty="0" sz="1200">
                <a:latin typeface="Calibri"/>
                <a:cs typeface="Calibri"/>
              </a:rPr>
              <a:t>let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list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document.getElementById("history"); list.innerHTML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"";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data.forEach(c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let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document.createElement("li");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2663825" cy="8148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latin typeface="Calibri"/>
                <a:cs typeface="Calibri"/>
              </a:rPr>
              <a:t>li.innerText</a:t>
            </a:r>
            <a:r>
              <a:rPr dirty="0" sz="1200">
                <a:latin typeface="Calibri"/>
                <a:cs typeface="Calibri"/>
              </a:rPr>
              <a:t> =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`v${c.version}: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${c.message}`;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list.appendChild(li);</a:t>
            </a:r>
            <a:endParaRPr sz="1200">
              <a:latin typeface="Calibri"/>
              <a:cs typeface="Calibri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loadHistory();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 b="1">
                <a:latin typeface="Calibri"/>
                <a:cs typeface="Calibri"/>
              </a:rPr>
              <a:t>SERVER.JS:</a:t>
            </a:r>
            <a:endParaRPr sz="1200">
              <a:latin typeface="Calibri"/>
              <a:cs typeface="Calibri"/>
            </a:endParaRPr>
          </a:p>
          <a:p>
            <a:pPr marL="18415" marR="495300" indent="-6350">
              <a:lnSpc>
                <a:spcPct val="173300"/>
              </a:lnSpc>
              <a:spcBef>
                <a:spcPts val="5"/>
              </a:spcBef>
            </a:pP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express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require("express");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db = </a:t>
            </a:r>
            <a:r>
              <a:rPr dirty="0" sz="1200" spc="-10">
                <a:latin typeface="Calibri"/>
                <a:cs typeface="Calibri"/>
              </a:rPr>
              <a:t>require("./db");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const </a:t>
            </a:r>
            <a:r>
              <a:rPr dirty="0" sz="1200">
                <a:latin typeface="Calibri"/>
                <a:cs typeface="Calibri"/>
              </a:rPr>
              <a:t>app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express();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app.use(express.json());</a:t>
            </a:r>
            <a:endParaRPr sz="1200">
              <a:latin typeface="Calibri"/>
              <a:cs typeface="Calibri"/>
            </a:endParaRPr>
          </a:p>
          <a:p>
            <a:pPr marL="18415" marR="422909">
              <a:lnSpc>
                <a:spcPct val="173300"/>
              </a:lnSpc>
              <a:tabLst>
                <a:tab pos="1351915" algn="l"/>
              </a:tabLst>
            </a:pPr>
            <a:r>
              <a:rPr dirty="0" sz="1200">
                <a:latin typeface="Calibri"/>
                <a:cs typeface="Calibri"/>
              </a:rPr>
              <a:t>app.use(express.static(</a:t>
            </a:r>
            <a:r>
              <a:rPr dirty="0" u="sng" sz="1200" spc="18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1200" spc="-10">
                <a:latin typeface="Calibri"/>
                <a:cs typeface="Calibri"/>
              </a:rPr>
              <a:t>dirname)); app.post("/commit", </a:t>
            </a:r>
            <a:r>
              <a:rPr dirty="0" sz="1200">
                <a:latin typeface="Calibri"/>
                <a:cs typeface="Calibri"/>
              </a:rPr>
              <a:t>(req,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res)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 spc="-10">
                <a:latin typeface="Calibri"/>
                <a:cs typeface="Calibri"/>
              </a:rPr>
              <a:t>db.save(req.body);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res.json({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60"/>
              </a:spcBef>
            </a:pPr>
            <a:r>
              <a:rPr dirty="0" sz="1200">
                <a:latin typeface="Calibri"/>
                <a:cs typeface="Calibri"/>
              </a:rPr>
              <a:t>msg: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"Committed"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8415" marR="619760" indent="-6350">
              <a:lnSpc>
                <a:spcPct val="173300"/>
              </a:lnSpc>
              <a:spcBef>
                <a:spcPts val="15"/>
              </a:spcBef>
            </a:pPr>
            <a:r>
              <a:rPr dirty="0" sz="1200" spc="-10">
                <a:latin typeface="Calibri"/>
                <a:cs typeface="Calibri"/>
              </a:rPr>
              <a:t>app.get("/history",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(req, res)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 spc="-10">
                <a:latin typeface="Calibri"/>
                <a:cs typeface="Calibri"/>
              </a:rPr>
              <a:t>res.json(db.getAll());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app.listen(3000,</a:t>
            </a:r>
            <a:r>
              <a:rPr dirty="0" sz="1200">
                <a:latin typeface="Calibri"/>
                <a:cs typeface="Calibri"/>
              </a:rPr>
              <a:t> ()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console.log(</a:t>
            </a:r>
            <a:r>
              <a:rPr dirty="0" sz="1200" spc="-10">
                <a:latin typeface="Calibri"/>
                <a:cs typeface="Calibri"/>
                <a:hlinkClick r:id="rId2"/>
              </a:rPr>
              <a:t>"http://localhost:3000");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 b="1">
                <a:latin typeface="Calibri"/>
                <a:cs typeface="Calibri"/>
              </a:rPr>
              <a:t>DB.JS: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let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commits </a:t>
            </a:r>
            <a:r>
              <a:rPr dirty="0" sz="1200">
                <a:latin typeface="Calibri"/>
                <a:cs typeface="Calibri"/>
              </a:rPr>
              <a:t>= []; let</a:t>
            </a:r>
            <a:r>
              <a:rPr dirty="0" sz="1200" spc="-10">
                <a:latin typeface="Calibri"/>
                <a:cs typeface="Calibri"/>
              </a:rPr>
              <a:t> version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1;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10">
                <a:latin typeface="Calibri"/>
                <a:cs typeface="Calibri"/>
              </a:rPr>
              <a:t> save(data)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60"/>
              </a:spcBef>
              <a:tabLst>
                <a:tab pos="1295400" algn="l"/>
              </a:tabLst>
            </a:pPr>
            <a:r>
              <a:rPr dirty="0" sz="1200" spc="-10">
                <a:latin typeface="Calibri"/>
                <a:cs typeface="Calibri"/>
              </a:rPr>
              <a:t>commits.push({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version: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8956" y="894333"/>
            <a:ext cx="6667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version++,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849882" y="894333"/>
            <a:ext cx="6026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message: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98956" y="1211326"/>
            <a:ext cx="91249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data.message,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096770" y="1211326"/>
            <a:ext cx="5422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content: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98956" y="1528318"/>
            <a:ext cx="8534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data.content,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037333" y="1528318"/>
            <a:ext cx="6464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time: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new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92860" y="1845309"/>
            <a:ext cx="2655570" cy="21151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2226945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Date()</a:t>
            </a:r>
            <a:endParaRPr sz="1200">
              <a:latin typeface="Calibri"/>
              <a:cs typeface="Calibri"/>
            </a:endParaRPr>
          </a:p>
          <a:p>
            <a:pPr algn="ctr" marR="2210435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1555115" indent="-6350">
              <a:lnSpc>
                <a:spcPct val="173500"/>
              </a:lnSpc>
              <a:spcBef>
                <a:spcPts val="5"/>
              </a:spcBef>
            </a:pP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getAll()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>
                <a:latin typeface="Calibri"/>
                <a:cs typeface="Calibri"/>
              </a:rPr>
              <a:t>return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commits;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module.exports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{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save,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getAll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};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OUTPUT: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92860" y="6411848"/>
            <a:ext cx="5913755" cy="27603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 marR="5080" indent="-6350">
              <a:lnSpc>
                <a:spcPct val="114199"/>
              </a:lnSpc>
              <a:spcBef>
                <a:spcPts val="100"/>
              </a:spcBef>
            </a:pPr>
            <a:r>
              <a:rPr dirty="0" sz="1200" spc="-20" b="1">
                <a:latin typeface="Calibri"/>
                <a:cs typeface="Calibri"/>
              </a:rPr>
              <a:t>RESULT: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mini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Git-</a:t>
            </a:r>
            <a:r>
              <a:rPr dirty="0" sz="1200">
                <a:latin typeface="Calibri"/>
                <a:cs typeface="Calibri"/>
              </a:rPr>
              <a:t>like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system </a:t>
            </a:r>
            <a:r>
              <a:rPr dirty="0" sz="1200">
                <a:latin typeface="Calibri"/>
                <a:cs typeface="Calibri"/>
              </a:rPr>
              <a:t>was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successfully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developed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track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versions,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store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commits,</a:t>
            </a:r>
            <a:r>
              <a:rPr dirty="0" sz="1200" spc="-25">
                <a:latin typeface="Calibri"/>
                <a:cs typeface="Calibri"/>
              </a:rPr>
              <a:t> and </a:t>
            </a:r>
            <a:r>
              <a:rPr dirty="0" sz="1200">
                <a:latin typeface="Calibri"/>
                <a:cs typeface="Calibri"/>
              </a:rPr>
              <a:t>display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history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through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web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interface.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10" b="1">
                <a:latin typeface="Calibri"/>
                <a:cs typeface="Calibri"/>
              </a:rPr>
              <a:t>TASK20: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Mini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Git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Branch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App</a:t>
            </a:r>
            <a:endParaRPr sz="1200">
              <a:latin typeface="Calibri"/>
              <a:cs typeface="Calibri"/>
            </a:endParaRPr>
          </a:p>
          <a:p>
            <a:pPr marL="18415" marR="109220" indent="-6350">
              <a:lnSpc>
                <a:spcPct val="114199"/>
              </a:lnSpc>
              <a:spcBef>
                <a:spcPts val="855"/>
              </a:spcBef>
            </a:pPr>
            <a:r>
              <a:rPr dirty="0" sz="1200" b="1">
                <a:latin typeface="Calibri"/>
                <a:cs typeface="Calibri"/>
              </a:rPr>
              <a:t>Aim: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spc="-75">
                <a:latin typeface="Calibri"/>
                <a:cs typeface="Calibri"/>
              </a:rPr>
              <a:t>To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develop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0">
                <a:latin typeface="Calibri"/>
                <a:cs typeface="Calibri"/>
              </a:rPr>
              <a:t> Git-</a:t>
            </a:r>
            <a:r>
              <a:rPr dirty="0" sz="1200">
                <a:latin typeface="Calibri"/>
                <a:cs typeface="Calibri"/>
              </a:rPr>
              <a:t>like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application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supports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branching,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merging,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rebasing,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conflict resolution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web</a:t>
            </a:r>
            <a:r>
              <a:rPr dirty="0" sz="1200" spc="-10">
                <a:latin typeface="Calibri"/>
                <a:cs typeface="Calibri"/>
              </a:rPr>
              <a:t> interface.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 b="1">
                <a:latin typeface="Calibri"/>
                <a:cs typeface="Calibri"/>
              </a:rPr>
              <a:t>ALGORITHM: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Start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program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Create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project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(HTML,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CSS,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JS,</a:t>
            </a:r>
            <a:r>
              <a:rPr dirty="0" sz="1200" spc="-20">
                <a:latin typeface="Calibri"/>
                <a:cs typeface="Calibri"/>
              </a:rPr>
              <a:t> server.js,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db.js)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6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Store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branches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commits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memory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6944" y="4088891"/>
            <a:ext cx="5231130" cy="2278253"/>
          </a:xfrm>
          <a:prstGeom prst="rect">
            <a:avLst/>
          </a:prstGeom>
        </p:spPr>
      </p:pic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3867150" cy="8166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79425" indent="-229235">
              <a:lnSpc>
                <a:spcPct val="100000"/>
              </a:lnSpc>
              <a:spcBef>
                <a:spcPts val="100"/>
              </a:spcBef>
              <a:buAutoNum type="arabicPeriod" startAt="4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Create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default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branch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(main)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65"/>
              </a:spcBef>
              <a:buAutoNum type="arabicPeriod" startAt="4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Add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feature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create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branch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 startAt="4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Commit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changes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branch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65"/>
              </a:spcBef>
              <a:buAutoNum type="arabicPeriod" startAt="4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Implement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merge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logic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 startAt="4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Detect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conflicts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(same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modified)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 startAt="4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Show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conflict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message</a:t>
            </a:r>
            <a:endParaRPr sz="1200">
              <a:latin typeface="Calibri"/>
              <a:cs typeface="Calibri"/>
            </a:endParaRPr>
          </a:p>
          <a:p>
            <a:pPr marL="477520" indent="-227329">
              <a:lnSpc>
                <a:spcPct val="100000"/>
              </a:lnSpc>
              <a:spcBef>
                <a:spcPts val="1055"/>
              </a:spcBef>
              <a:buAutoNum type="arabicPeriod" startAt="4"/>
              <a:tabLst>
                <a:tab pos="477520" algn="l"/>
              </a:tabLst>
            </a:pPr>
            <a:r>
              <a:rPr dirty="0" sz="1200">
                <a:latin typeface="Calibri"/>
                <a:cs typeface="Calibri"/>
              </a:rPr>
              <a:t>Resolve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conflicts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manually</a:t>
            </a:r>
            <a:endParaRPr sz="1200">
              <a:latin typeface="Calibri"/>
              <a:cs typeface="Calibri"/>
            </a:endParaRPr>
          </a:p>
          <a:p>
            <a:pPr marL="477520" indent="-227329">
              <a:lnSpc>
                <a:spcPct val="100000"/>
              </a:lnSpc>
              <a:spcBef>
                <a:spcPts val="1070"/>
              </a:spcBef>
              <a:buAutoNum type="arabicPeriod" startAt="4"/>
              <a:tabLst>
                <a:tab pos="477520" algn="l"/>
              </a:tabLst>
            </a:pPr>
            <a:r>
              <a:rPr dirty="0" sz="1200">
                <a:latin typeface="Calibri"/>
                <a:cs typeface="Calibri"/>
              </a:rPr>
              <a:t>Implement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rebase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logic</a:t>
            </a:r>
            <a:endParaRPr sz="1200">
              <a:latin typeface="Calibri"/>
              <a:cs typeface="Calibri"/>
            </a:endParaRPr>
          </a:p>
          <a:p>
            <a:pPr marL="477520" indent="-227329">
              <a:lnSpc>
                <a:spcPct val="100000"/>
              </a:lnSpc>
              <a:spcBef>
                <a:spcPts val="1070"/>
              </a:spcBef>
              <a:buAutoNum type="arabicPeriod" startAt="4"/>
              <a:tabLst>
                <a:tab pos="477520" algn="l"/>
              </a:tabLst>
            </a:pPr>
            <a:r>
              <a:rPr dirty="0" sz="1200">
                <a:latin typeface="Calibri"/>
                <a:cs typeface="Calibri"/>
              </a:rPr>
              <a:t>Display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branch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history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stop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 b="1">
                <a:latin typeface="Calibri"/>
                <a:cs typeface="Calibri"/>
              </a:rPr>
              <a:t>PROGRAM: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10" b="1">
                <a:latin typeface="Calibri"/>
                <a:cs typeface="Calibri"/>
              </a:rPr>
              <a:t>INDEX.HTML: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&lt;!DOCTYPE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html&gt;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&lt;html&gt;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&lt;head&gt;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&lt;title&gt;Mini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Git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Branching&lt;/title&gt;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&lt;link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rel="stylesheet"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href="style.css"&gt;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&lt;/head&gt;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&lt;body&gt;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&lt;div </a:t>
            </a:r>
            <a:r>
              <a:rPr dirty="0" sz="1200" spc="-10">
                <a:latin typeface="Calibri"/>
                <a:cs typeface="Calibri"/>
              </a:rPr>
              <a:t>class="container"&gt;</a:t>
            </a:r>
            <a:endParaRPr sz="1200">
              <a:latin typeface="Calibri"/>
              <a:cs typeface="Calibri"/>
            </a:endParaRPr>
          </a:p>
          <a:p>
            <a:pPr marL="16002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&lt;h2&gt;Mini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Git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Branching&lt;/h2&gt;</a:t>
            </a:r>
            <a:endParaRPr sz="1200">
              <a:latin typeface="Calibri"/>
              <a:cs typeface="Calibri"/>
            </a:endParaRPr>
          </a:p>
          <a:p>
            <a:pPr marL="117475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&lt;input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id="branchName"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placeholder="New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Branch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Name"&gt;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&lt;button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onclick="createBranch()"&gt;Create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Branch&lt;/button&gt;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&lt;input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id="message"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placeholder="Commit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Message"&gt;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&lt;button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onclick="commit()"&gt;Commit&lt;/button&gt;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&lt;button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onclick="merge()"&gt;Merge&lt;/button&gt;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&lt;button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onclick="rebase()"&gt;Rebase&lt;/button&gt;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1951989" cy="81540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113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&lt;h3&gt;Branches&lt;/h3&gt;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&lt;ul</a:t>
            </a:r>
            <a:r>
              <a:rPr dirty="0" sz="1200" spc="-10">
                <a:latin typeface="Calibri"/>
                <a:cs typeface="Calibri"/>
              </a:rPr>
              <a:t> id="branches"&gt;&lt;/ul&gt;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&lt;h3&gt;History&lt;/h3&gt;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&lt;ul</a:t>
            </a:r>
            <a:r>
              <a:rPr dirty="0" sz="1200" spc="-10">
                <a:latin typeface="Calibri"/>
                <a:cs typeface="Calibri"/>
              </a:rPr>
              <a:t> id="history"&gt;&lt;/ul&gt;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&lt;/div&gt;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&lt;script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src="script.js"&gt;&lt;/script&gt;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&lt;/body&gt;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&lt;/html&gt;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STYLE.CSS:</a:t>
            </a:r>
            <a:endParaRPr sz="1200">
              <a:latin typeface="Calibri"/>
              <a:cs typeface="Calibri"/>
            </a:endParaRPr>
          </a:p>
          <a:p>
            <a:pPr marL="18415" marR="648335">
              <a:lnSpc>
                <a:spcPct val="173300"/>
              </a:lnSpc>
              <a:tabLst>
                <a:tab pos="516890" algn="l"/>
                <a:tab pos="583565" algn="l"/>
              </a:tabLst>
            </a:pPr>
            <a:r>
              <a:rPr dirty="0" sz="1200">
                <a:latin typeface="Calibri"/>
                <a:cs typeface="Calibri"/>
              </a:rPr>
              <a:t>body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	</a:t>
            </a:r>
            <a:r>
              <a:rPr dirty="0" sz="1200" spc="-25">
                <a:latin typeface="Calibri"/>
                <a:cs typeface="Calibri"/>
              </a:rPr>
              <a:t>font-</a:t>
            </a:r>
            <a:r>
              <a:rPr dirty="0" sz="1200" spc="-10">
                <a:latin typeface="Calibri"/>
                <a:cs typeface="Calibri"/>
              </a:rPr>
              <a:t>family: Arial;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background:</a:t>
            </a:r>
            <a:endParaRPr sz="1200">
              <a:latin typeface="Calibri"/>
              <a:cs typeface="Calibri"/>
            </a:endParaRPr>
          </a:p>
          <a:p>
            <a:pPr marL="18415" marR="428625">
              <a:lnSpc>
                <a:spcPct val="173300"/>
              </a:lnSpc>
              <a:tabLst>
                <a:tab pos="739140" algn="l"/>
                <a:tab pos="922019" algn="l"/>
                <a:tab pos="1147445" algn="l"/>
              </a:tabLst>
            </a:pPr>
            <a:r>
              <a:rPr dirty="0" sz="1200" spc="-10">
                <a:latin typeface="Calibri"/>
                <a:cs typeface="Calibri"/>
              </a:rPr>
              <a:t>#1e1e2f;</a:t>
            </a:r>
            <a:r>
              <a:rPr dirty="0" sz="1200">
                <a:latin typeface="Calibri"/>
                <a:cs typeface="Calibri"/>
              </a:rPr>
              <a:t>	color: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white; display:flex;</a:t>
            </a:r>
            <a:r>
              <a:rPr dirty="0" sz="1200">
                <a:latin typeface="Calibri"/>
                <a:cs typeface="Calibri"/>
              </a:rPr>
              <a:t>		</a:t>
            </a:r>
            <a:r>
              <a:rPr dirty="0" sz="1200" spc="-10">
                <a:latin typeface="Calibri"/>
                <a:cs typeface="Calibri"/>
              </a:rPr>
              <a:t>justify- content:center;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align- items:center;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height:100vh;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.container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60020">
              <a:lnSpc>
                <a:spcPct val="100000"/>
              </a:lnSpc>
              <a:spcBef>
                <a:spcPts val="1070"/>
              </a:spcBef>
            </a:pPr>
            <a:r>
              <a:rPr dirty="0" sz="1200" spc="-25">
                <a:latin typeface="Calibri"/>
                <a:cs typeface="Calibri"/>
              </a:rPr>
              <a:t>text-</a:t>
            </a:r>
            <a:r>
              <a:rPr dirty="0" sz="1200" spc="-10">
                <a:latin typeface="Calibri"/>
                <a:cs typeface="Calibri"/>
              </a:rPr>
              <a:t>align:center;</a:t>
            </a:r>
            <a:endParaRPr sz="1200">
              <a:latin typeface="Calibri"/>
              <a:cs typeface="Calibri"/>
            </a:endParaRPr>
          </a:p>
          <a:p>
            <a:pPr marL="18415" marR="951865" indent="-6350">
              <a:lnSpc>
                <a:spcPct val="173400"/>
              </a:lnSpc>
              <a:spcBef>
                <a:spcPts val="10"/>
              </a:spcBef>
            </a:pPr>
            <a:r>
              <a:rPr dirty="0" sz="1200">
                <a:latin typeface="Calibri"/>
                <a:cs typeface="Calibri"/>
              </a:rPr>
              <a:t>}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input,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button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>
                <a:latin typeface="Calibri"/>
                <a:cs typeface="Calibri"/>
              </a:rPr>
              <a:t>margin: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5px; </a:t>
            </a:r>
            <a:r>
              <a:rPr dirty="0" sz="1200">
                <a:latin typeface="Calibri"/>
                <a:cs typeface="Calibri"/>
              </a:rPr>
              <a:t>padding: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8px;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}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li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80"/>
              </a:spcBef>
            </a:pPr>
            <a:r>
              <a:rPr dirty="0" sz="1200">
                <a:latin typeface="Calibri"/>
                <a:cs typeface="Calibri"/>
              </a:rPr>
              <a:t>background: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#333;</a:t>
            </a:r>
            <a:endParaRPr sz="1200">
              <a:latin typeface="Calibri"/>
              <a:cs typeface="Calibri"/>
            </a:endParaRPr>
          </a:p>
          <a:p>
            <a:pPr marL="18415" marR="443230">
              <a:lnSpc>
                <a:spcPts val="2510"/>
              </a:lnSpc>
              <a:spcBef>
                <a:spcPts val="85"/>
              </a:spcBef>
              <a:tabLst>
                <a:tab pos="960119" algn="l"/>
              </a:tabLst>
            </a:pPr>
            <a:r>
              <a:rPr dirty="0" sz="1200">
                <a:latin typeface="Calibri"/>
                <a:cs typeface="Calibri"/>
              </a:rPr>
              <a:t>margin: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5px;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padding: </a:t>
            </a:r>
            <a:r>
              <a:rPr dirty="0" sz="1200" spc="-20">
                <a:latin typeface="Calibri"/>
                <a:cs typeface="Calibri"/>
              </a:rPr>
              <a:t>5px;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4003040" cy="667130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 b="1">
                <a:latin typeface="Calibri"/>
                <a:cs typeface="Calibri"/>
              </a:rPr>
              <a:t>SCRIPT.JS: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  <a:tabLst>
                <a:tab pos="1730375" algn="l"/>
              </a:tabLst>
            </a:pP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createBranch()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const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name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document.getElementById("branchName").value;</a:t>
            </a:r>
            <a:endParaRPr sz="1200">
              <a:latin typeface="Calibri"/>
              <a:cs typeface="Calibri"/>
            </a:endParaRPr>
          </a:p>
          <a:p>
            <a:pPr marL="18415" marR="5080">
              <a:lnSpc>
                <a:spcPct val="173300"/>
              </a:lnSpc>
              <a:tabLst>
                <a:tab pos="1417320" algn="l"/>
                <a:tab pos="1929764" algn="l"/>
                <a:tab pos="2774315" algn="l"/>
              </a:tabLst>
            </a:pPr>
            <a:r>
              <a:rPr dirty="0" sz="1200" spc="-10">
                <a:latin typeface="Calibri"/>
                <a:cs typeface="Calibri"/>
              </a:rPr>
              <a:t>fetch("/branch",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method: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"POST",</a:t>
            </a:r>
            <a:r>
              <a:rPr dirty="0" sz="1200">
                <a:latin typeface="Calibri"/>
                <a:cs typeface="Calibri"/>
              </a:rPr>
              <a:t>	headers: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{"Content- Type":"application/json"},</a:t>
            </a:r>
            <a:r>
              <a:rPr dirty="0" sz="1200">
                <a:latin typeface="Calibri"/>
                <a:cs typeface="Calibri"/>
              </a:rPr>
              <a:t>	body: </a:t>
            </a:r>
            <a:r>
              <a:rPr dirty="0" sz="1200" spc="-10">
                <a:latin typeface="Calibri"/>
                <a:cs typeface="Calibri"/>
              </a:rPr>
              <a:t>JSON.stringify({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name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}).then(load);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1172845" indent="-6350">
              <a:lnSpc>
                <a:spcPct val="173300"/>
              </a:lnSpc>
              <a:spcBef>
                <a:spcPts val="15"/>
              </a:spcBef>
              <a:tabLst>
                <a:tab pos="1385570" algn="l"/>
              </a:tabLst>
            </a:pP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commit()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const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message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document.getElementById("message").value;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  <a:tabLst>
                <a:tab pos="1458595" algn="l"/>
                <a:tab pos="2816860" algn="l"/>
              </a:tabLst>
            </a:pPr>
            <a:r>
              <a:rPr dirty="0" sz="1200" spc="-10">
                <a:latin typeface="Calibri"/>
                <a:cs typeface="Calibri"/>
              </a:rPr>
              <a:t>fetch("/commit",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method: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"POST",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headers:</a:t>
            </a:r>
            <a:endParaRPr sz="1200">
              <a:latin typeface="Calibri"/>
              <a:cs typeface="Calibri"/>
            </a:endParaRPr>
          </a:p>
          <a:p>
            <a:pPr marL="18415" marR="85725">
              <a:lnSpc>
                <a:spcPct val="173300"/>
              </a:lnSpc>
              <a:tabLst>
                <a:tab pos="2576195" algn="l"/>
              </a:tabLst>
            </a:pPr>
            <a:r>
              <a:rPr dirty="0" sz="1200" spc="-10">
                <a:latin typeface="Calibri"/>
                <a:cs typeface="Calibri"/>
              </a:rPr>
              <a:t>{"Content-Type":"application/json"},</a:t>
            </a:r>
            <a:r>
              <a:rPr dirty="0" sz="1200">
                <a:latin typeface="Calibri"/>
                <a:cs typeface="Calibri"/>
              </a:rPr>
              <a:t>	body: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JSON.stringify({ </a:t>
            </a:r>
            <a:r>
              <a:rPr dirty="0" sz="1200">
                <a:latin typeface="Calibri"/>
                <a:cs typeface="Calibri"/>
              </a:rPr>
              <a:t>message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200">
              <a:latin typeface="Calibri"/>
              <a:cs typeface="Calibri"/>
            </a:endParaRPr>
          </a:p>
          <a:p>
            <a:pPr marL="160020">
              <a:lnSpc>
                <a:spcPct val="100000"/>
              </a:lnSpc>
            </a:pPr>
            <a:r>
              <a:rPr dirty="0" sz="1200" spc="-10">
                <a:latin typeface="Calibri"/>
                <a:cs typeface="Calibri"/>
              </a:rPr>
              <a:t>}).then(load);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1635125" indent="-6350">
              <a:lnSpc>
                <a:spcPct val="173300"/>
              </a:lnSpc>
              <a:spcBef>
                <a:spcPts val="15"/>
              </a:spcBef>
              <a:tabLst>
                <a:tab pos="1306195" algn="l"/>
              </a:tabLst>
            </a:pP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merge()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fetch("/merge",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>
                <a:latin typeface="Calibri"/>
                <a:cs typeface="Calibri"/>
              </a:rPr>
              <a:t>method: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"POST"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.then(res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res.json())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.then(alert)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.then(load);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92860" y="7675626"/>
            <a:ext cx="11664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10">
                <a:latin typeface="Calibri"/>
                <a:cs typeface="Calibri"/>
              </a:rPr>
              <a:t> rebase()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208022" y="7675626"/>
            <a:ext cx="11004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fetch("/rebase",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92860" y="7992617"/>
            <a:ext cx="1168400" cy="84264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method: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"POST"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.then(load);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102044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load()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98956" y="1211326"/>
            <a:ext cx="2717800" cy="84264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fetch("/data")</a:t>
            </a:r>
            <a:endParaRPr sz="1200">
              <a:latin typeface="Calibri"/>
              <a:cs typeface="Calibri"/>
            </a:endParaRPr>
          </a:p>
          <a:p>
            <a:pPr marL="12700" marR="5080" indent="132080">
              <a:lnSpc>
                <a:spcPct val="173300"/>
              </a:lnSpc>
              <a:tabLst>
                <a:tab pos="1713230" algn="l"/>
              </a:tabLst>
            </a:pPr>
            <a:r>
              <a:rPr dirty="0" sz="1200" spc="-10">
                <a:latin typeface="Calibri"/>
                <a:cs typeface="Calibri"/>
              </a:rPr>
              <a:t>.then(res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res.json())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.then(data</a:t>
            </a:r>
            <a:r>
              <a:rPr dirty="0" sz="1200">
                <a:latin typeface="Calibri"/>
                <a:cs typeface="Calibri"/>
              </a:rPr>
              <a:t> =&gt;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 spc="5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 =</a:t>
            </a:r>
            <a:r>
              <a:rPr dirty="0" sz="1200" spc="-10">
                <a:latin typeface="Calibri"/>
                <a:cs typeface="Calibri"/>
              </a:rPr>
              <a:t> document.getElementById("branches");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820795" y="1528318"/>
            <a:ext cx="1866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Calibri"/>
                <a:cs typeface="Calibri"/>
              </a:rPr>
              <a:t>let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904615" y="1845309"/>
            <a:ext cx="1866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Calibri"/>
                <a:cs typeface="Calibri"/>
              </a:rPr>
              <a:t>let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98956" y="2162302"/>
            <a:ext cx="2580005" cy="843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h =</a:t>
            </a:r>
            <a:r>
              <a:rPr dirty="0" sz="1200" spc="-10">
                <a:latin typeface="Calibri"/>
                <a:cs typeface="Calibri"/>
              </a:rPr>
              <a:t> document.getElementById("history");</a:t>
            </a:r>
            <a:endParaRPr sz="1200">
              <a:latin typeface="Calibri"/>
              <a:cs typeface="Calibri"/>
            </a:endParaRPr>
          </a:p>
          <a:p>
            <a:pPr marL="281940" marR="1174750">
              <a:lnSpc>
                <a:spcPts val="2510"/>
              </a:lnSpc>
              <a:spcBef>
                <a:spcPts val="80"/>
              </a:spcBef>
            </a:pPr>
            <a:r>
              <a:rPr dirty="0" sz="1200">
                <a:latin typeface="Calibri"/>
                <a:cs typeface="Calibri"/>
              </a:rPr>
              <a:t>b.innerHTML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""; </a:t>
            </a:r>
            <a:r>
              <a:rPr dirty="0" sz="1200">
                <a:latin typeface="Calibri"/>
                <a:cs typeface="Calibri"/>
              </a:rPr>
              <a:t>h.innerHTML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"";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98956" y="3115182"/>
            <a:ext cx="1850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data.branches.forEach(br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173095" y="3115182"/>
            <a:ext cx="4013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let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92860" y="3432175"/>
            <a:ext cx="2710815" cy="5293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document.createElement("li");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20">
                <a:latin typeface="Calibri"/>
                <a:cs typeface="Calibri"/>
              </a:rPr>
              <a:t>li.innerText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br;</a:t>
            </a:r>
            <a:endParaRPr sz="1200">
              <a:latin typeface="Calibri"/>
              <a:cs typeface="Calibri"/>
            </a:endParaRPr>
          </a:p>
          <a:p>
            <a:pPr marL="42672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b.appendChild(li);</a:t>
            </a:r>
            <a:endParaRPr sz="1200">
              <a:latin typeface="Calibri"/>
              <a:cs typeface="Calibri"/>
            </a:endParaRPr>
          </a:p>
          <a:p>
            <a:pPr marL="289560">
              <a:lnSpc>
                <a:spcPct val="100000"/>
              </a:lnSpc>
              <a:spcBef>
                <a:spcPts val="1070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20">
                <a:latin typeface="Calibri"/>
                <a:cs typeface="Calibri"/>
              </a:rPr>
              <a:t>data.history.forEach(c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2700" marR="5080" indent="380365">
              <a:lnSpc>
                <a:spcPct val="173500"/>
              </a:lnSpc>
              <a:spcBef>
                <a:spcPts val="10"/>
              </a:spcBef>
            </a:pPr>
            <a:r>
              <a:rPr dirty="0" sz="1200">
                <a:latin typeface="Calibri"/>
                <a:cs typeface="Calibri"/>
              </a:rPr>
              <a:t>let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document.createElement("li"); </a:t>
            </a:r>
            <a:r>
              <a:rPr dirty="0" sz="1200" spc="-20">
                <a:latin typeface="Calibri"/>
                <a:cs typeface="Calibri"/>
              </a:rPr>
              <a:t>li.innerText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c;</a:t>
            </a:r>
            <a:endParaRPr sz="1200">
              <a:latin typeface="Calibri"/>
              <a:cs typeface="Calibri"/>
            </a:endParaRPr>
          </a:p>
          <a:p>
            <a:pPr marL="42672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h.appendChild(li);</a:t>
            </a:r>
            <a:endParaRPr sz="1200">
              <a:latin typeface="Calibri"/>
              <a:cs typeface="Calibri"/>
            </a:endParaRPr>
          </a:p>
          <a:p>
            <a:pPr marL="289560">
              <a:lnSpc>
                <a:spcPct val="100000"/>
              </a:lnSpc>
              <a:spcBef>
                <a:spcPts val="1070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load();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SERVER.JS:</a:t>
            </a:r>
            <a:endParaRPr sz="1200">
              <a:latin typeface="Calibri"/>
              <a:cs typeface="Calibri"/>
            </a:endParaRPr>
          </a:p>
          <a:p>
            <a:pPr marL="18415" marR="414020" indent="-6350">
              <a:lnSpc>
                <a:spcPct val="173300"/>
              </a:lnSpc>
              <a:spcBef>
                <a:spcPts val="5"/>
              </a:spcBef>
            </a:pP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express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require("express");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db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10">
                <a:latin typeface="Calibri"/>
                <a:cs typeface="Calibri"/>
              </a:rPr>
              <a:t> require("./db");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app</a:t>
            </a:r>
            <a:endParaRPr sz="1200">
              <a:latin typeface="Calibri"/>
              <a:cs typeface="Calibri"/>
            </a:endParaRPr>
          </a:p>
          <a:p>
            <a:pPr marL="18415" marR="466725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express();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app.use(express.json()); </a:t>
            </a:r>
            <a:r>
              <a:rPr dirty="0" sz="1200">
                <a:latin typeface="Calibri"/>
                <a:cs typeface="Calibri"/>
              </a:rPr>
              <a:t>app.use(express.static(</a:t>
            </a:r>
            <a:r>
              <a:rPr dirty="0" u="sng" sz="1200" spc="18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1200" spc="-10">
                <a:latin typeface="Calibri"/>
                <a:cs typeface="Calibri"/>
              </a:rPr>
              <a:t>dirname));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app.post("/branch",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(req,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res)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2705735" cy="3383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db.createBranch(req.body.name);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res.json({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msg: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"Branch</a:t>
            </a:r>
            <a:r>
              <a:rPr dirty="0" sz="1200" spc="-10">
                <a:latin typeface="Calibri"/>
                <a:cs typeface="Calibri"/>
              </a:rPr>
              <a:t> created" </a:t>
            </a: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app.post("/commit", </a:t>
            </a:r>
            <a:r>
              <a:rPr dirty="0" sz="1200">
                <a:latin typeface="Calibri"/>
                <a:cs typeface="Calibri"/>
              </a:rPr>
              <a:t>(req,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res)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8415" marR="5080">
              <a:lnSpc>
                <a:spcPct val="173300"/>
              </a:lnSpc>
              <a:tabLst>
                <a:tab pos="2117090" algn="l"/>
              </a:tabLst>
            </a:pPr>
            <a:r>
              <a:rPr dirty="0" sz="1200" spc="-10">
                <a:latin typeface="Calibri"/>
                <a:cs typeface="Calibri"/>
              </a:rPr>
              <a:t>db.commit(req.body.message);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res.json({ </a:t>
            </a:r>
            <a:r>
              <a:rPr dirty="0" sz="1200">
                <a:latin typeface="Calibri"/>
                <a:cs typeface="Calibri"/>
              </a:rPr>
              <a:t>msg: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"Committed"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8415" marR="338455" indent="-6350">
              <a:lnSpc>
                <a:spcPct val="173300"/>
              </a:lnSpc>
              <a:spcBef>
                <a:spcPts val="15"/>
              </a:spcBef>
              <a:tabLst>
                <a:tab pos="1781810" algn="l"/>
              </a:tabLst>
            </a:pPr>
            <a:r>
              <a:rPr dirty="0" sz="1200" spc="-10">
                <a:latin typeface="Calibri"/>
                <a:cs typeface="Calibri"/>
              </a:rPr>
              <a:t>app.post("/merge",</a:t>
            </a:r>
            <a:r>
              <a:rPr dirty="0" sz="1200">
                <a:latin typeface="Calibri"/>
                <a:cs typeface="Calibri"/>
              </a:rPr>
              <a:t> (req,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res)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result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db.merge();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res.json({ </a:t>
            </a:r>
            <a:r>
              <a:rPr dirty="0" sz="1200">
                <a:latin typeface="Calibri"/>
                <a:cs typeface="Calibri"/>
              </a:rPr>
              <a:t>msg: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result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92860" y="4387722"/>
            <a:ext cx="28905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app.post("/rebase", </a:t>
            </a:r>
            <a:r>
              <a:rPr dirty="0" sz="1200">
                <a:latin typeface="Calibri"/>
                <a:cs typeface="Calibri"/>
              </a:rPr>
              <a:t>(req,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res) =&gt;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{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db.rebase();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896995" y="4387722"/>
            <a:ext cx="17786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res.json({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msg: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"Rebased"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92860" y="4704715"/>
            <a:ext cx="3689350" cy="4336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app.get("/data",</a:t>
            </a:r>
            <a:r>
              <a:rPr dirty="0" sz="1200">
                <a:latin typeface="Calibri"/>
                <a:cs typeface="Calibri"/>
              </a:rPr>
              <a:t> (req,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res)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60"/>
              </a:spcBef>
            </a:pPr>
            <a:r>
              <a:rPr dirty="0" sz="1200" spc="-10">
                <a:latin typeface="Calibri"/>
                <a:cs typeface="Calibri"/>
              </a:rPr>
              <a:t>res.json(db.getData());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app.listen(3000,</a:t>
            </a:r>
            <a:r>
              <a:rPr dirty="0" sz="1200">
                <a:latin typeface="Calibri"/>
                <a:cs typeface="Calibri"/>
              </a:rPr>
              <a:t> ()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console.log(</a:t>
            </a:r>
            <a:r>
              <a:rPr dirty="0" sz="1200" spc="-10">
                <a:latin typeface="Calibri"/>
                <a:cs typeface="Calibri"/>
                <a:hlinkClick r:id="rId2"/>
              </a:rPr>
              <a:t>"http://localhost:3000"))</a:t>
            </a:r>
            <a:r>
              <a:rPr dirty="0" sz="1200" spc="-10">
                <a:latin typeface="Calibri"/>
                <a:cs typeface="Calibri"/>
              </a:rPr>
              <a:t>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 b="1">
                <a:latin typeface="Calibri"/>
                <a:cs typeface="Calibri"/>
              </a:rPr>
              <a:t>DB.JS:</a:t>
            </a:r>
            <a:endParaRPr sz="1200">
              <a:latin typeface="Calibri"/>
              <a:cs typeface="Calibri"/>
            </a:endParaRPr>
          </a:p>
          <a:p>
            <a:pPr algn="just" marL="18415" marR="2198370" indent="-6350">
              <a:lnSpc>
                <a:spcPct val="173400"/>
              </a:lnSpc>
            </a:pPr>
            <a:r>
              <a:rPr dirty="0" sz="1200">
                <a:latin typeface="Calibri"/>
                <a:cs typeface="Calibri"/>
              </a:rPr>
              <a:t>let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branches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["main"]; </a:t>
            </a:r>
            <a:r>
              <a:rPr dirty="0" sz="1200">
                <a:latin typeface="Calibri"/>
                <a:cs typeface="Calibri"/>
              </a:rPr>
              <a:t>let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current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"main";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let </a:t>
            </a:r>
            <a:r>
              <a:rPr dirty="0" sz="1200" spc="-10">
                <a:latin typeface="Calibri"/>
                <a:cs typeface="Calibri"/>
              </a:rPr>
              <a:t>commits </a:t>
            </a:r>
            <a:r>
              <a:rPr dirty="0" sz="1200">
                <a:latin typeface="Calibri"/>
                <a:cs typeface="Calibri"/>
              </a:rPr>
              <a:t>= {</a:t>
            </a:r>
            <a:r>
              <a:rPr dirty="0" sz="1200" spc="400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main: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[]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};</a:t>
            </a:r>
            <a:endParaRPr sz="1200">
              <a:latin typeface="Calibri"/>
              <a:cs typeface="Calibri"/>
            </a:endParaRPr>
          </a:p>
          <a:p>
            <a:pPr marL="18415" marR="1127125" indent="-6350">
              <a:lnSpc>
                <a:spcPct val="173300"/>
              </a:lnSpc>
              <a:spcBef>
                <a:spcPts val="15"/>
              </a:spcBef>
              <a:tabLst>
                <a:tab pos="1576070" algn="l"/>
              </a:tabLst>
            </a:pP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createBranch(name)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 spc="-10">
                <a:latin typeface="Calibri"/>
                <a:cs typeface="Calibri"/>
              </a:rPr>
              <a:t>branches.push(name);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commits[name]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[...commits[current]];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3520440" cy="3698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commit(msg)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commits[current].push(msg);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merge()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{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mainCommits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  <a:tabLst>
                <a:tab pos="1290955" algn="l"/>
              </a:tabLst>
            </a:pPr>
            <a:r>
              <a:rPr dirty="0" sz="1200" spc="-10">
                <a:latin typeface="Calibri"/>
                <a:cs typeface="Calibri"/>
              </a:rPr>
              <a:t>commits["main"];</a:t>
            </a:r>
            <a:r>
              <a:rPr dirty="0" sz="1200">
                <a:latin typeface="Calibri"/>
                <a:cs typeface="Calibri"/>
              </a:rPr>
              <a:t>	let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featureCommits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</a:t>
            </a:r>
            <a:endParaRPr sz="1200">
              <a:latin typeface="Calibri"/>
              <a:cs typeface="Calibri"/>
            </a:endParaRPr>
          </a:p>
          <a:p>
            <a:pPr marL="18415" marR="229870">
              <a:lnSpc>
                <a:spcPct val="173400"/>
              </a:lnSpc>
              <a:tabLst>
                <a:tab pos="1313815" algn="l"/>
                <a:tab pos="1887220" algn="l"/>
              </a:tabLst>
            </a:pPr>
            <a:r>
              <a:rPr dirty="0" sz="1200" spc="-10">
                <a:latin typeface="Calibri"/>
                <a:cs typeface="Calibri"/>
              </a:rPr>
              <a:t>commits[current];</a:t>
            </a:r>
            <a:r>
              <a:rPr dirty="0" sz="1200">
                <a:latin typeface="Calibri"/>
                <a:cs typeface="Calibri"/>
              </a:rPr>
              <a:t>	if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(mainCommits.length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&amp;&amp; </a:t>
            </a:r>
            <a:r>
              <a:rPr dirty="0" sz="1200" spc="-10">
                <a:latin typeface="Calibri"/>
                <a:cs typeface="Calibri"/>
              </a:rPr>
              <a:t>featureCommits.length)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return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"Merge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Conflict Detected!";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5080" indent="-6350">
              <a:lnSpc>
                <a:spcPct val="173300"/>
              </a:lnSpc>
              <a:spcBef>
                <a:spcPts val="10"/>
              </a:spcBef>
            </a:pPr>
            <a:r>
              <a:rPr dirty="0" sz="1200">
                <a:latin typeface="Calibri"/>
                <a:cs typeface="Calibri"/>
              </a:rPr>
              <a:t>commits["main"]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[...mainCommits,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...featureCommits]; </a:t>
            </a:r>
            <a:r>
              <a:rPr dirty="0" sz="1200">
                <a:latin typeface="Calibri"/>
                <a:cs typeface="Calibri"/>
              </a:rPr>
              <a:t>return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"Merged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Successfully";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92860" y="4703190"/>
            <a:ext cx="11664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10">
                <a:latin typeface="Calibri"/>
                <a:cs typeface="Calibri"/>
              </a:rPr>
              <a:t> rebase()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208022" y="4703190"/>
            <a:ext cx="25063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commits[current]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[...commits["main"],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92860" y="5020183"/>
            <a:ext cx="1315720" cy="525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...commits[current]];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92860" y="5657469"/>
            <a:ext cx="12350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10">
                <a:latin typeface="Calibri"/>
                <a:cs typeface="Calibri"/>
              </a:rPr>
              <a:t> getData()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275077" y="5657469"/>
            <a:ext cx="499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return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92860" y="5974460"/>
            <a:ext cx="4832350" cy="14801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  <a:tabLst>
                <a:tab pos="929640" algn="l"/>
              </a:tabLst>
            </a:pPr>
            <a:r>
              <a:rPr dirty="0" sz="1200" spc="-10">
                <a:latin typeface="Calibri"/>
                <a:cs typeface="Calibri"/>
              </a:rPr>
              <a:t>branches,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history: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commits[current]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60"/>
              </a:spcBef>
            </a:pPr>
            <a:r>
              <a:rPr dirty="0" sz="1200" spc="-25">
                <a:latin typeface="Calibri"/>
                <a:cs typeface="Calibri"/>
              </a:rPr>
              <a:t>};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module.exports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{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createBranch,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commit,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merge,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rebase,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getData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};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OUTPUT: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3455034"/>
            <a:ext cx="5611495" cy="5416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 marR="5715" indent="-6350">
              <a:lnSpc>
                <a:spcPct val="114199"/>
              </a:lnSpc>
              <a:spcBef>
                <a:spcPts val="100"/>
              </a:spcBef>
            </a:pPr>
            <a:r>
              <a:rPr dirty="0" sz="1200" spc="-25" b="1">
                <a:latin typeface="Calibri"/>
                <a:cs typeface="Calibri"/>
              </a:rPr>
              <a:t>RESULT: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Git-</a:t>
            </a:r>
            <a:r>
              <a:rPr dirty="0" sz="1200">
                <a:latin typeface="Calibri"/>
                <a:cs typeface="Calibri"/>
              </a:rPr>
              <a:t>like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branching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application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successfully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developed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simulate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branching, </a:t>
            </a:r>
            <a:r>
              <a:rPr dirty="0" sz="1200">
                <a:latin typeface="Calibri"/>
                <a:cs typeface="Calibri"/>
              </a:rPr>
              <a:t>merging,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rebasing,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conflict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resolution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through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web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interface</a:t>
            </a:r>
            <a:r>
              <a:rPr dirty="0" sz="1200" spc="-10" b="1"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 b="1">
                <a:latin typeface="Calibri"/>
                <a:cs typeface="Calibri"/>
              </a:rPr>
              <a:t>TASK21:</a:t>
            </a:r>
            <a:r>
              <a:rPr dirty="0" sz="1200" spc="-4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Mini</a:t>
            </a:r>
            <a:r>
              <a:rPr dirty="0" sz="1200" spc="-4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Cicd</a:t>
            </a:r>
            <a:r>
              <a:rPr dirty="0" sz="1200" spc="-55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App</a:t>
            </a:r>
            <a:endParaRPr sz="1200">
              <a:latin typeface="Calibri"/>
              <a:cs typeface="Calibri"/>
            </a:endParaRPr>
          </a:p>
          <a:p>
            <a:pPr marL="18415" marR="210185" indent="-6350">
              <a:lnSpc>
                <a:spcPct val="113300"/>
              </a:lnSpc>
              <a:spcBef>
                <a:spcPts val="865"/>
              </a:spcBef>
            </a:pPr>
            <a:r>
              <a:rPr dirty="0" sz="1200" b="1">
                <a:latin typeface="Calibri"/>
                <a:cs typeface="Calibri"/>
              </a:rPr>
              <a:t>AIM: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-6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develop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CI/CD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pipeline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simulation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application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automates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build,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test,</a:t>
            </a:r>
            <a:r>
              <a:rPr dirty="0" sz="1200" spc="-25">
                <a:latin typeface="Calibri"/>
                <a:cs typeface="Calibri"/>
              </a:rPr>
              <a:t> and </a:t>
            </a:r>
            <a:r>
              <a:rPr dirty="0" sz="1200">
                <a:latin typeface="Calibri"/>
                <a:cs typeface="Calibri"/>
              </a:rPr>
              <a:t>deployment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steps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through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web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interface.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 b="1">
                <a:latin typeface="Calibri"/>
                <a:cs typeface="Calibri"/>
              </a:rPr>
              <a:t>ALGORITHM: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Start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program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6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Create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project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(HTML,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CSS,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JS,</a:t>
            </a:r>
            <a:r>
              <a:rPr dirty="0" sz="1200" spc="-20">
                <a:latin typeface="Calibri"/>
                <a:cs typeface="Calibri"/>
              </a:rPr>
              <a:t> server.js,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db.js)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6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Design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UI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pipeline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trigger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Capture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action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(Run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Pipeline)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Send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request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backend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Simulate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code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checkout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step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Simulate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build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process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Simulate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test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execution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Simulate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deployment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step</a:t>
            </a:r>
            <a:endParaRPr sz="1200">
              <a:latin typeface="Calibri"/>
              <a:cs typeface="Calibri"/>
            </a:endParaRPr>
          </a:p>
          <a:p>
            <a:pPr marL="477520" indent="-227329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477520" algn="l"/>
              </a:tabLst>
            </a:pPr>
            <a:r>
              <a:rPr dirty="0" sz="1200">
                <a:latin typeface="Calibri"/>
                <a:cs typeface="Calibri"/>
              </a:rPr>
              <a:t>Store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pipeline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logs</a:t>
            </a:r>
            <a:endParaRPr sz="1200">
              <a:latin typeface="Calibri"/>
              <a:cs typeface="Calibri"/>
            </a:endParaRPr>
          </a:p>
          <a:p>
            <a:pPr marL="477520" indent="-227329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7520" algn="l"/>
              </a:tabLst>
            </a:pPr>
            <a:r>
              <a:rPr dirty="0" sz="1200">
                <a:latin typeface="Calibri"/>
                <a:cs typeface="Calibri"/>
              </a:rPr>
              <a:t>Display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pipeline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status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UI</a:t>
            </a:r>
            <a:endParaRPr sz="1200">
              <a:latin typeface="Calibri"/>
              <a:cs typeface="Calibri"/>
            </a:endParaRPr>
          </a:p>
          <a:p>
            <a:pPr marL="477520" indent="-227329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477520" algn="l"/>
              </a:tabLst>
            </a:pPr>
            <a:r>
              <a:rPr dirty="0" sz="1200">
                <a:latin typeface="Calibri"/>
                <a:cs typeface="Calibri"/>
              </a:rPr>
              <a:t>Stop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program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4405" y="914400"/>
            <a:ext cx="4947412" cy="2179320"/>
          </a:xfrm>
          <a:prstGeom prst="rect">
            <a:avLst/>
          </a:prstGeom>
        </p:spPr>
      </p:pic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3591560" cy="8146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Calibri"/>
                <a:cs typeface="Calibri"/>
              </a:rPr>
              <a:t>PROGRAM: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 b="1">
                <a:latin typeface="Calibri"/>
                <a:cs typeface="Calibri"/>
              </a:rPr>
              <a:t>INDEX.HTML: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&lt;!DOCTYPE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html&gt;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&lt;html&gt;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&lt;head&gt;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&lt;title&gt;Mini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CI/CD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Pipeline&lt;/title&gt;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&lt;link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rel="stylesheet"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href="style.css"&gt;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&lt;/head&gt;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&lt;body&gt;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&lt;div </a:t>
            </a:r>
            <a:r>
              <a:rPr dirty="0" sz="1200" spc="-10">
                <a:latin typeface="Calibri"/>
                <a:cs typeface="Calibri"/>
              </a:rPr>
              <a:t>class="container"&gt;</a:t>
            </a:r>
            <a:endParaRPr sz="1200">
              <a:latin typeface="Calibri"/>
              <a:cs typeface="Calibri"/>
            </a:endParaRPr>
          </a:p>
          <a:p>
            <a:pPr marL="117475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&lt;h2&gt;CI/CD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Pipeline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Simulator&lt;/h2&gt;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&lt;button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onclick="runPipeline()"&gt;Run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Pipeline&lt;/button&gt;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&lt;h3&gt;Pipeline</a:t>
            </a:r>
            <a:r>
              <a:rPr dirty="0" sz="1200" spc="-7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Logs&lt;/h3&gt;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&lt;ul</a:t>
            </a:r>
            <a:r>
              <a:rPr dirty="0" sz="1200" spc="-10">
                <a:latin typeface="Calibri"/>
                <a:cs typeface="Calibri"/>
              </a:rPr>
              <a:t> id="logs"&gt;&lt;/ul&gt;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&lt;/div&gt;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&lt;script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src="script.js"&gt;&lt;/script&gt;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&lt;/body&gt;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&lt;/html&gt;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STYLE.CSS:</a:t>
            </a:r>
            <a:endParaRPr sz="1200">
              <a:latin typeface="Calibri"/>
              <a:cs typeface="Calibri"/>
            </a:endParaRPr>
          </a:p>
          <a:p>
            <a:pPr marL="18415" marR="2287270">
              <a:lnSpc>
                <a:spcPct val="173300"/>
              </a:lnSpc>
              <a:tabLst>
                <a:tab pos="516255" algn="l"/>
                <a:tab pos="582930" algn="l"/>
              </a:tabLst>
            </a:pPr>
            <a:r>
              <a:rPr dirty="0" sz="1200">
                <a:latin typeface="Calibri"/>
                <a:cs typeface="Calibri"/>
              </a:rPr>
              <a:t>body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	</a:t>
            </a:r>
            <a:r>
              <a:rPr dirty="0" sz="1200" spc="-25">
                <a:latin typeface="Calibri"/>
                <a:cs typeface="Calibri"/>
              </a:rPr>
              <a:t>font-</a:t>
            </a:r>
            <a:r>
              <a:rPr dirty="0" sz="1200" spc="-10">
                <a:latin typeface="Calibri"/>
                <a:cs typeface="Calibri"/>
              </a:rPr>
              <a:t>family: Arial;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background:</a:t>
            </a:r>
            <a:endParaRPr sz="1200">
              <a:latin typeface="Calibri"/>
              <a:cs typeface="Calibri"/>
            </a:endParaRPr>
          </a:p>
          <a:p>
            <a:pPr marL="18415" marR="2068830">
              <a:lnSpc>
                <a:spcPct val="173300"/>
              </a:lnSpc>
              <a:spcBef>
                <a:spcPts val="5"/>
              </a:spcBef>
              <a:tabLst>
                <a:tab pos="737870" algn="l"/>
                <a:tab pos="921385" algn="l"/>
                <a:tab pos="1146810" algn="l"/>
              </a:tabLst>
            </a:pPr>
            <a:r>
              <a:rPr dirty="0" sz="1200" spc="-10">
                <a:latin typeface="Calibri"/>
                <a:cs typeface="Calibri"/>
              </a:rPr>
              <a:t>#1e1e2f;</a:t>
            </a:r>
            <a:r>
              <a:rPr dirty="0" sz="1200">
                <a:latin typeface="Calibri"/>
                <a:cs typeface="Calibri"/>
              </a:rPr>
              <a:t>	color: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white; display:flex;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justify- content:center;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align- items:center;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height:100vh;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2830830" cy="81451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94080" algn="l"/>
              </a:tabLst>
            </a:pPr>
            <a:r>
              <a:rPr dirty="0" sz="1200">
                <a:latin typeface="Calibri"/>
                <a:cs typeface="Calibri"/>
              </a:rPr>
              <a:t>.container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20">
                <a:latin typeface="Calibri"/>
                <a:cs typeface="Calibri"/>
              </a:rPr>
              <a:t>text-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  <a:tabLst>
                <a:tab pos="964565" algn="l"/>
              </a:tabLst>
            </a:pPr>
            <a:r>
              <a:rPr dirty="0" sz="1200" spc="-10">
                <a:latin typeface="Calibri"/>
                <a:cs typeface="Calibri"/>
              </a:rPr>
              <a:t>align:center;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width: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400px;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51130" marR="1363345" indent="-139065">
              <a:lnSpc>
                <a:spcPct val="173300"/>
              </a:lnSpc>
              <a:spcBef>
                <a:spcPts val="25"/>
              </a:spcBef>
            </a:pPr>
            <a:r>
              <a:rPr dirty="0" sz="1200" spc="-10">
                <a:latin typeface="Calibri"/>
                <a:cs typeface="Calibri"/>
              </a:rPr>
              <a:t>button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{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padding: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10px; </a:t>
            </a:r>
            <a:r>
              <a:rPr dirty="0" sz="1200">
                <a:latin typeface="Calibri"/>
                <a:cs typeface="Calibri"/>
              </a:rPr>
              <a:t>margin: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10px;</a:t>
            </a:r>
            <a:endParaRPr sz="1200">
              <a:latin typeface="Calibri"/>
              <a:cs typeface="Calibri"/>
            </a:endParaRPr>
          </a:p>
          <a:p>
            <a:pPr marL="151130" marR="1363980">
              <a:lnSpc>
                <a:spcPct val="173500"/>
              </a:lnSpc>
              <a:spcBef>
                <a:spcPts val="10"/>
              </a:spcBef>
            </a:pPr>
            <a:r>
              <a:rPr dirty="0" sz="1200">
                <a:latin typeface="Calibri"/>
                <a:cs typeface="Calibri"/>
              </a:rPr>
              <a:t>background:</a:t>
            </a:r>
            <a:r>
              <a:rPr dirty="0" sz="1200" spc="-7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#00c6ff; </a:t>
            </a:r>
            <a:r>
              <a:rPr dirty="0" sz="1200">
                <a:latin typeface="Calibri"/>
                <a:cs typeface="Calibri"/>
              </a:rPr>
              <a:t>border: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none;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color: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white;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cursor: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pointer;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li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background: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#333;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  <a:tabLst>
                <a:tab pos="959485" algn="l"/>
              </a:tabLst>
            </a:pPr>
            <a:r>
              <a:rPr dirty="0" sz="1200">
                <a:latin typeface="Calibri"/>
                <a:cs typeface="Calibri"/>
              </a:rPr>
              <a:t>margin: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5px;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padding: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60"/>
              </a:spcBef>
            </a:pPr>
            <a:r>
              <a:rPr dirty="0" sz="1200" spc="-20">
                <a:latin typeface="Calibri"/>
                <a:cs typeface="Calibri"/>
              </a:rPr>
              <a:t>5px;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10" b="1">
                <a:latin typeface="Calibri"/>
                <a:cs typeface="Calibri"/>
              </a:rPr>
              <a:t>SCRIPT.JS: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runPipeline()</a:t>
            </a:r>
            <a:r>
              <a:rPr dirty="0" sz="1200" spc="-50">
                <a:latin typeface="Calibri"/>
                <a:cs typeface="Calibri"/>
              </a:rPr>
              <a:t> {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fetch("/run",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{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method: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"POST"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.then(()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loadLogs());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1540510" indent="-6350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loadLogs()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 spc="-10">
                <a:latin typeface="Calibri"/>
                <a:cs typeface="Calibri"/>
              </a:rPr>
              <a:t>fetch("/logs")</a:t>
            </a:r>
            <a:endParaRPr sz="1200">
              <a:latin typeface="Calibri"/>
              <a:cs typeface="Calibri"/>
            </a:endParaRPr>
          </a:p>
          <a:p>
            <a:pPr marL="18415" marR="133985" indent="132080">
              <a:lnSpc>
                <a:spcPct val="173300"/>
              </a:lnSpc>
              <a:spcBef>
                <a:spcPts val="5"/>
              </a:spcBef>
              <a:tabLst>
                <a:tab pos="1717675" algn="l"/>
              </a:tabLst>
            </a:pPr>
            <a:r>
              <a:rPr dirty="0" sz="1200" spc="-10">
                <a:latin typeface="Calibri"/>
                <a:cs typeface="Calibri"/>
              </a:rPr>
              <a:t>.then(res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res.json())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.then(data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>
                <a:latin typeface="Calibri"/>
                <a:cs typeface="Calibri"/>
              </a:rPr>
              <a:t>let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list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document.getElementById("logs");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  <a:tabLst>
                <a:tab pos="1539240" algn="l"/>
              </a:tabLst>
            </a:pPr>
            <a:r>
              <a:rPr dirty="0" sz="1200" spc="-10">
                <a:latin typeface="Calibri"/>
                <a:cs typeface="Calibri"/>
              </a:rPr>
              <a:t>list.innerHTML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"";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data.forEach(log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2595880" cy="75063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let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document.createElement("li");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  <a:tabLst>
                <a:tab pos="1384935" algn="l"/>
              </a:tabLst>
            </a:pPr>
            <a:r>
              <a:rPr dirty="0" sz="1200" spc="-20">
                <a:latin typeface="Calibri"/>
                <a:cs typeface="Calibri"/>
              </a:rPr>
              <a:t>li.innerText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log;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list.appendChild(li);</a:t>
            </a:r>
            <a:endParaRPr sz="1200">
              <a:latin typeface="Calibri"/>
              <a:cs typeface="Calibri"/>
            </a:endParaRPr>
          </a:p>
          <a:p>
            <a:pPr algn="ctr" marR="1854835">
              <a:lnSpc>
                <a:spcPct val="100000"/>
              </a:lnSpc>
              <a:spcBef>
                <a:spcPts val="1070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60020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algn="ctr" marR="1872614">
              <a:lnSpc>
                <a:spcPct val="100000"/>
              </a:lnSpc>
              <a:spcBef>
                <a:spcPts val="1060"/>
              </a:spcBef>
            </a:pPr>
            <a:r>
              <a:rPr dirty="0" sz="1200" spc="-10">
                <a:latin typeface="Calibri"/>
                <a:cs typeface="Calibri"/>
              </a:rPr>
              <a:t>loadLogs();</a:t>
            </a:r>
            <a:endParaRPr sz="1200">
              <a:latin typeface="Calibri"/>
              <a:cs typeface="Calibri"/>
            </a:endParaRPr>
          </a:p>
          <a:p>
            <a:pPr algn="ctr" marR="1862455">
              <a:lnSpc>
                <a:spcPct val="100000"/>
              </a:lnSpc>
              <a:spcBef>
                <a:spcPts val="1055"/>
              </a:spcBef>
            </a:pPr>
            <a:r>
              <a:rPr dirty="0" sz="1200" spc="-10" b="1">
                <a:latin typeface="Calibri"/>
                <a:cs typeface="Calibri"/>
              </a:rPr>
              <a:t>SERVER.JS:</a:t>
            </a:r>
            <a:endParaRPr sz="1200">
              <a:latin typeface="Calibri"/>
              <a:cs typeface="Calibri"/>
            </a:endParaRPr>
          </a:p>
          <a:p>
            <a:pPr marL="18415" marR="191135" indent="-6350">
              <a:lnSpc>
                <a:spcPct val="173300"/>
              </a:lnSpc>
              <a:tabLst>
                <a:tab pos="1602740" algn="l"/>
              </a:tabLst>
            </a:pP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express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require("express");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db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10">
                <a:latin typeface="Calibri"/>
                <a:cs typeface="Calibri"/>
              </a:rPr>
              <a:t> require("./db");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express();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app.use(express.json()); </a:t>
            </a:r>
            <a:r>
              <a:rPr dirty="0" sz="1200">
                <a:latin typeface="Calibri"/>
                <a:cs typeface="Calibri"/>
              </a:rPr>
              <a:t>app.use(express.static(</a:t>
            </a:r>
            <a:r>
              <a:rPr dirty="0" u="sng" sz="1200" spc="18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1200" spc="-10">
                <a:latin typeface="Calibri"/>
                <a:cs typeface="Calibri"/>
              </a:rPr>
              <a:t>dirname)); </a:t>
            </a:r>
            <a:r>
              <a:rPr dirty="0" sz="1200">
                <a:latin typeface="Calibri"/>
                <a:cs typeface="Calibri"/>
              </a:rPr>
              <a:t>app.post("/run",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async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(req,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res)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>
                <a:latin typeface="Calibri"/>
                <a:cs typeface="Calibri"/>
              </a:rPr>
              <a:t>await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db.runPipeline();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res.json({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60"/>
              </a:spcBef>
            </a:pPr>
            <a:r>
              <a:rPr dirty="0" sz="1200">
                <a:latin typeface="Calibri"/>
                <a:cs typeface="Calibri"/>
              </a:rPr>
              <a:t>msg: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"Pipeline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executed"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app.get("/logs",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(req,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res)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res.json(db.getLogs());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app.listen(3000,</a:t>
            </a:r>
            <a:r>
              <a:rPr dirty="0" sz="1200">
                <a:latin typeface="Calibri"/>
                <a:cs typeface="Calibri"/>
              </a:rPr>
              <a:t> ()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60"/>
              </a:spcBef>
            </a:pPr>
            <a:r>
              <a:rPr dirty="0" sz="1200" spc="-10">
                <a:latin typeface="Calibri"/>
                <a:cs typeface="Calibri"/>
              </a:rPr>
              <a:t>console.log(</a:t>
            </a:r>
            <a:r>
              <a:rPr dirty="0" sz="1200" spc="-10">
                <a:latin typeface="Calibri"/>
                <a:cs typeface="Calibri"/>
                <a:hlinkClick r:id="rId2"/>
              </a:rPr>
              <a:t>"http://localhost:3000");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8415" marR="1051560" indent="-6350">
              <a:lnSpc>
                <a:spcPct val="173300"/>
              </a:lnSpc>
              <a:spcBef>
                <a:spcPts val="15"/>
              </a:spcBef>
            </a:pPr>
            <a:r>
              <a:rPr dirty="0" sz="1200" b="1">
                <a:latin typeface="Calibri"/>
                <a:cs typeface="Calibri"/>
              </a:rPr>
              <a:t>DB.JS: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logs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[];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async </a:t>
            </a: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runPipeline()</a:t>
            </a:r>
            <a:r>
              <a:rPr dirty="0" sz="1200" spc="-50">
                <a:latin typeface="Calibri"/>
                <a:cs typeface="Calibri"/>
              </a:rPr>
              <a:t> {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logs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[];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5857"/>
            <a:ext cx="3209290" cy="5062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113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logs.push("</a:t>
            </a:r>
            <a:r>
              <a:rPr dirty="0" sz="1200" spc="2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Code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Checkout...");</a:t>
            </a:r>
            <a:endParaRPr sz="1200">
              <a:latin typeface="Calibri"/>
              <a:cs typeface="Calibri"/>
            </a:endParaRPr>
          </a:p>
          <a:p>
            <a:pPr marL="151130" marR="1097915">
              <a:lnSpc>
                <a:spcPct val="171700"/>
              </a:lnSpc>
              <a:spcBef>
                <a:spcPts val="20"/>
              </a:spcBef>
            </a:pPr>
            <a:r>
              <a:rPr dirty="0" sz="1200">
                <a:latin typeface="Calibri"/>
                <a:cs typeface="Calibri"/>
              </a:rPr>
              <a:t>await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delay();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logs.push("</a:t>
            </a:r>
            <a:r>
              <a:rPr dirty="0" sz="1200" spc="254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Build </a:t>
            </a:r>
            <a:r>
              <a:rPr dirty="0" sz="1200">
                <a:latin typeface="Calibri"/>
                <a:cs typeface="Calibri"/>
              </a:rPr>
              <a:t>Started...");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await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delay();</a:t>
            </a:r>
            <a:endParaRPr sz="1200">
              <a:latin typeface="Calibri"/>
              <a:cs typeface="Calibri"/>
            </a:endParaRPr>
          </a:p>
          <a:p>
            <a:pPr marL="12700" marR="535305" indent="138430">
              <a:lnSpc>
                <a:spcPct val="172100"/>
              </a:lnSpc>
              <a:spcBef>
                <a:spcPts val="885"/>
              </a:spcBef>
              <a:tabLst>
                <a:tab pos="648335" algn="l"/>
                <a:tab pos="2327275" algn="l"/>
              </a:tabLst>
            </a:pPr>
            <a:r>
              <a:rPr dirty="0" sz="1200">
                <a:latin typeface="Calibri"/>
                <a:cs typeface="Calibri"/>
              </a:rPr>
              <a:t>logs.push("</a:t>
            </a:r>
            <a:r>
              <a:rPr dirty="0" sz="1200" spc="29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Running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Tests...");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await </a:t>
            </a:r>
            <a:r>
              <a:rPr dirty="0" sz="1200">
                <a:latin typeface="Calibri"/>
                <a:cs typeface="Calibri"/>
              </a:rPr>
              <a:t>delay();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logs.push("</a:t>
            </a:r>
            <a:r>
              <a:rPr dirty="0" sz="1200" spc="254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Tests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Passed");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20">
                <a:latin typeface="Calibri"/>
                <a:cs typeface="Calibri"/>
              </a:rPr>
              <a:t>await </a:t>
            </a:r>
            <a:r>
              <a:rPr dirty="0" sz="1200" spc="-10">
                <a:latin typeface="Calibri"/>
                <a:cs typeface="Calibri"/>
              </a:rPr>
              <a:t>delay();</a:t>
            </a:r>
            <a:r>
              <a:rPr dirty="0" sz="1200">
                <a:latin typeface="Calibri"/>
                <a:cs typeface="Calibri"/>
              </a:rPr>
              <a:t>	logs.push("</a:t>
            </a:r>
            <a:r>
              <a:rPr dirty="0" sz="1200" spc="28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Deploying</a:t>
            </a:r>
            <a:endParaRPr sz="1200">
              <a:latin typeface="Calibri"/>
              <a:cs typeface="Calibri"/>
            </a:endParaRPr>
          </a:p>
          <a:p>
            <a:pPr marL="12700" marR="794385">
              <a:lnSpc>
                <a:spcPct val="171900"/>
              </a:lnSpc>
              <a:spcBef>
                <a:spcPts val="5"/>
              </a:spcBef>
              <a:tabLst>
                <a:tab pos="1146175" algn="l"/>
              </a:tabLst>
            </a:pPr>
            <a:r>
              <a:rPr dirty="0" sz="1200" spc="-10">
                <a:latin typeface="Calibri"/>
                <a:cs typeface="Calibri"/>
              </a:rPr>
              <a:t>Application...");</a:t>
            </a:r>
            <a:r>
              <a:rPr dirty="0" sz="1200">
                <a:latin typeface="Calibri"/>
                <a:cs typeface="Calibri"/>
              </a:rPr>
              <a:t>	await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delay(); </a:t>
            </a:r>
            <a:r>
              <a:rPr dirty="0" sz="1200">
                <a:latin typeface="Calibri"/>
                <a:cs typeface="Calibri"/>
              </a:rPr>
              <a:t>logs.push("</a:t>
            </a:r>
            <a:r>
              <a:rPr dirty="0" sz="1200" spc="3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Deployment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Successful!");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1990725" indent="-6350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10">
                <a:latin typeface="Calibri"/>
                <a:cs typeface="Calibri"/>
              </a:rPr>
              <a:t> getLogs()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>
                <a:latin typeface="Calibri"/>
                <a:cs typeface="Calibri"/>
              </a:rPr>
              <a:t>return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logs;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59055" indent="-6350">
              <a:lnSpc>
                <a:spcPct val="173500"/>
              </a:lnSpc>
              <a:spcBef>
                <a:spcPts val="10"/>
              </a:spcBef>
              <a:tabLst>
                <a:tab pos="1239520" algn="l"/>
              </a:tabLst>
            </a:pP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delay()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return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new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Promise(resolve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=&gt; </a:t>
            </a:r>
            <a:r>
              <a:rPr dirty="0" sz="1200" spc="-10">
                <a:latin typeface="Calibri"/>
                <a:cs typeface="Calibri"/>
              </a:rPr>
              <a:t>setTimeout(resolve,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1000));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module.exports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{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runPipeline,</a:t>
            </a:r>
            <a:r>
              <a:rPr dirty="0" sz="1200" spc="-10">
                <a:latin typeface="Calibri"/>
                <a:cs typeface="Calibri"/>
              </a:rPr>
              <a:t> getLogs </a:t>
            </a:r>
            <a:r>
              <a:rPr dirty="0" sz="1200">
                <a:latin typeface="Calibri"/>
                <a:cs typeface="Calibri"/>
              </a:rPr>
              <a:t>};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OUTPUT: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92860" y="8571789"/>
            <a:ext cx="5747385" cy="443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 marR="5080" indent="-6350">
              <a:lnSpc>
                <a:spcPct val="114100"/>
              </a:lnSpc>
              <a:spcBef>
                <a:spcPts val="100"/>
              </a:spcBef>
            </a:pPr>
            <a:r>
              <a:rPr dirty="0" sz="1200" spc="-25" b="1">
                <a:latin typeface="Calibri"/>
                <a:cs typeface="Calibri"/>
              </a:rPr>
              <a:t>RESULT: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CI/CD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pipeline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simulation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application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successfully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developed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automate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and </a:t>
            </a:r>
            <a:r>
              <a:rPr dirty="0" sz="1200" spc="-10">
                <a:latin typeface="Calibri"/>
                <a:cs typeface="Calibri"/>
              </a:rPr>
              <a:t>visualize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build,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test,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deployment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processes.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1230" y="6086855"/>
            <a:ext cx="5942330" cy="2441448"/>
          </a:xfrm>
          <a:prstGeom prst="rect">
            <a:avLst/>
          </a:prstGeom>
        </p:spPr>
      </p:pic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5962015" cy="80537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Calibri"/>
                <a:cs typeface="Calibri"/>
              </a:rPr>
              <a:t>TASK22:</a:t>
            </a:r>
            <a:r>
              <a:rPr dirty="0" sz="1200" spc="-5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Cloud</a:t>
            </a:r>
            <a:r>
              <a:rPr dirty="0" sz="1200" spc="-55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App</a:t>
            </a:r>
            <a:endParaRPr sz="1200">
              <a:latin typeface="Calibri"/>
              <a:cs typeface="Calibri"/>
            </a:endParaRPr>
          </a:p>
          <a:p>
            <a:pPr marL="18415" marR="5080" indent="-6350">
              <a:lnSpc>
                <a:spcPct val="114199"/>
              </a:lnSpc>
              <a:spcBef>
                <a:spcPts val="850"/>
              </a:spcBef>
            </a:pPr>
            <a:r>
              <a:rPr dirty="0" sz="1200" b="1">
                <a:latin typeface="Calibri"/>
                <a:cs typeface="Calibri"/>
              </a:rPr>
              <a:t>AIM: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-6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develop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cloud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comparison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application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displays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compares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pricing </a:t>
            </a:r>
            <a:r>
              <a:rPr dirty="0" sz="1200">
                <a:latin typeface="Calibri"/>
                <a:cs typeface="Calibri"/>
              </a:rPr>
              <a:t>models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AWS,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45">
                <a:latin typeface="Calibri"/>
                <a:cs typeface="Calibri"/>
              </a:rPr>
              <a:t>GCP,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Azure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 b="1">
                <a:latin typeface="Calibri"/>
                <a:cs typeface="Calibri"/>
              </a:rPr>
              <a:t>ALGORITHM: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Start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program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6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Create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project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(HTML,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CSS,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JS,</a:t>
            </a:r>
            <a:r>
              <a:rPr dirty="0" sz="1200" spc="-20">
                <a:latin typeface="Calibri"/>
                <a:cs typeface="Calibri"/>
              </a:rPr>
              <a:t> server.js,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db.js)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6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Design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interface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dropdown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cloud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providers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9425" algn="l"/>
              </a:tabLst>
            </a:pPr>
            <a:r>
              <a:rPr dirty="0" sz="1200" spc="-10">
                <a:latin typeface="Calibri"/>
                <a:cs typeface="Calibri"/>
              </a:rPr>
              <a:t>Initialize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cloud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(AWS,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45">
                <a:latin typeface="Calibri"/>
                <a:cs typeface="Calibri"/>
              </a:rPr>
              <a:t>GCP,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Azure)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database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module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6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Capture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selected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provider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JavaScript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Send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request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fetch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details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Display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compute, storage,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database,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networking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services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6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Accept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input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compute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hours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storage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usage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Send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input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cost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calculation</a:t>
            </a:r>
            <a:endParaRPr sz="1200">
              <a:latin typeface="Calibri"/>
              <a:cs typeface="Calibri"/>
            </a:endParaRPr>
          </a:p>
          <a:p>
            <a:pPr marL="477520" indent="-227329">
              <a:lnSpc>
                <a:spcPct val="100000"/>
              </a:lnSpc>
              <a:spcBef>
                <a:spcPts val="1065"/>
              </a:spcBef>
              <a:buAutoNum type="arabicPeriod"/>
              <a:tabLst>
                <a:tab pos="477520" algn="l"/>
              </a:tabLst>
            </a:pPr>
            <a:r>
              <a:rPr dirty="0" sz="1200">
                <a:latin typeface="Calibri"/>
                <a:cs typeface="Calibri"/>
              </a:rPr>
              <a:t>Calculate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based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pay-as-you-</a:t>
            </a: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pricing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model</a:t>
            </a:r>
            <a:endParaRPr sz="1200">
              <a:latin typeface="Calibri"/>
              <a:cs typeface="Calibri"/>
            </a:endParaRPr>
          </a:p>
          <a:p>
            <a:pPr marL="477520" indent="-227329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7520" algn="l"/>
              </a:tabLst>
            </a:pPr>
            <a:r>
              <a:rPr dirty="0" sz="1200">
                <a:latin typeface="Calibri"/>
                <a:cs typeface="Calibri"/>
              </a:rPr>
              <a:t>Display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total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cost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dynamically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UI</a:t>
            </a:r>
            <a:endParaRPr sz="1200">
              <a:latin typeface="Calibri"/>
              <a:cs typeface="Calibri"/>
            </a:endParaRPr>
          </a:p>
          <a:p>
            <a:pPr marL="477520" indent="-227329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7520" algn="l"/>
              </a:tabLst>
            </a:pPr>
            <a:r>
              <a:rPr dirty="0" sz="1200">
                <a:latin typeface="Calibri"/>
                <a:cs typeface="Calibri"/>
              </a:rPr>
              <a:t>Stop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program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 b="1">
                <a:latin typeface="Calibri"/>
                <a:cs typeface="Calibri"/>
              </a:rPr>
              <a:t>PROGRAM: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 b="1">
                <a:latin typeface="Calibri"/>
                <a:cs typeface="Calibri"/>
              </a:rPr>
              <a:t>INDEX.HTML: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sz="1200">
                <a:latin typeface="Calibri"/>
                <a:cs typeface="Calibri"/>
              </a:rPr>
              <a:t>&lt;!DOCTYPE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html&gt;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&lt;html&gt;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&lt;head&gt;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&lt;title&gt;Cloud</a:t>
            </a:r>
            <a:r>
              <a:rPr dirty="0" sz="1200" spc="-7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Comparison&lt;/title&gt;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&lt;link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rel="stylesheet"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href="style.css"&gt;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&lt;/head&gt;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&lt;body&gt;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&lt;div </a:t>
            </a:r>
            <a:r>
              <a:rPr dirty="0" sz="1200" spc="-10">
                <a:latin typeface="Calibri"/>
                <a:cs typeface="Calibri"/>
              </a:rPr>
              <a:t>class="container"&gt;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3528695" cy="795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002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&lt;h2&gt;Cloud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Comparison&lt;/h2&gt;</a:t>
            </a:r>
            <a:endParaRPr sz="1200">
              <a:latin typeface="Calibri"/>
              <a:cs typeface="Calibri"/>
            </a:endParaRPr>
          </a:p>
          <a:p>
            <a:pPr marL="16002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&lt;select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id="provider"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onchange="loadData()"&gt;</a:t>
            </a:r>
            <a:endParaRPr sz="12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&lt;option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value="aws"&gt;AWS&lt;/option&gt;</a:t>
            </a:r>
            <a:endParaRPr sz="1200">
              <a:latin typeface="Calibri"/>
              <a:cs typeface="Calibri"/>
            </a:endParaRPr>
          </a:p>
          <a:p>
            <a:pPr marL="254635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&lt;option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value="gcp"&gt;GCP&lt;/option&gt;</a:t>
            </a:r>
            <a:endParaRPr sz="1200">
              <a:latin typeface="Calibri"/>
              <a:cs typeface="Calibri"/>
            </a:endParaRPr>
          </a:p>
          <a:p>
            <a:pPr marL="28956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&lt;option</a:t>
            </a:r>
            <a:r>
              <a:rPr dirty="0" sz="1200" spc="-7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value="azure"&gt;Azure&lt;/option&gt;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&lt;/select&gt;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&lt;h3&gt;Services&lt;/h3&gt;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&lt;ul</a:t>
            </a:r>
            <a:r>
              <a:rPr dirty="0" sz="1200" spc="-10">
                <a:latin typeface="Calibri"/>
                <a:cs typeface="Calibri"/>
              </a:rPr>
              <a:t> id="services"&gt;&lt;/ul&gt;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&lt;h3&gt;Pricing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Calculator&lt;/h3&gt;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&lt;input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id="hours"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placeholder="Compute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Hours"&gt;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&lt;input </a:t>
            </a:r>
            <a:r>
              <a:rPr dirty="0" sz="1200" spc="-10">
                <a:latin typeface="Calibri"/>
                <a:cs typeface="Calibri"/>
              </a:rPr>
              <a:t>id="storage"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placeholder="Storage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(GB)"&gt;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&lt;button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onclick="calculate()"&gt;Calculate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Cost&lt;/button&gt;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&lt;h3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id="result"&gt;&lt;/h3&gt;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&lt;/div&gt;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&lt;script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src="script.js"&gt;&lt;/script&gt;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&lt;/body&gt;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>
                <a:latin typeface="Calibri"/>
                <a:cs typeface="Calibri"/>
              </a:rPr>
              <a:t>&lt;/html&gt;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STYLE.CSS:</a:t>
            </a:r>
            <a:endParaRPr sz="1200">
              <a:latin typeface="Calibri"/>
              <a:cs typeface="Calibri"/>
            </a:endParaRPr>
          </a:p>
          <a:p>
            <a:pPr marL="18415" marR="2224405">
              <a:lnSpc>
                <a:spcPts val="2510"/>
              </a:lnSpc>
              <a:spcBef>
                <a:spcPts val="245"/>
              </a:spcBef>
              <a:tabLst>
                <a:tab pos="516890" algn="l"/>
                <a:tab pos="583565" algn="l"/>
              </a:tabLst>
            </a:pPr>
            <a:r>
              <a:rPr dirty="0" sz="1200">
                <a:latin typeface="Calibri"/>
                <a:cs typeface="Calibri"/>
              </a:rPr>
              <a:t>body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	</a:t>
            </a:r>
            <a:r>
              <a:rPr dirty="0" sz="1200" spc="-25">
                <a:latin typeface="Calibri"/>
                <a:cs typeface="Calibri"/>
              </a:rPr>
              <a:t>font-</a:t>
            </a:r>
            <a:r>
              <a:rPr dirty="0" sz="1200" spc="-10">
                <a:latin typeface="Calibri"/>
                <a:cs typeface="Calibri"/>
              </a:rPr>
              <a:t>family: Arial;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background: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795"/>
              </a:spcBef>
              <a:tabLst>
                <a:tab pos="739140" algn="l"/>
              </a:tabLst>
            </a:pPr>
            <a:r>
              <a:rPr dirty="0" sz="1200" spc="-10">
                <a:latin typeface="Calibri"/>
                <a:cs typeface="Calibri"/>
              </a:rPr>
              <a:t>#1e1e2f;</a:t>
            </a:r>
            <a:r>
              <a:rPr dirty="0" sz="1200">
                <a:latin typeface="Calibri"/>
                <a:cs typeface="Calibri"/>
              </a:rPr>
              <a:t>	color: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white;</a:t>
            </a:r>
            <a:endParaRPr sz="1200">
              <a:latin typeface="Calibri"/>
              <a:cs typeface="Calibri"/>
            </a:endParaRPr>
          </a:p>
          <a:p>
            <a:pPr marL="18415" marR="2031364">
              <a:lnSpc>
                <a:spcPct val="173300"/>
              </a:lnSpc>
              <a:tabLst>
                <a:tab pos="922019" algn="l"/>
                <a:tab pos="1147445" algn="l"/>
              </a:tabLst>
            </a:pPr>
            <a:r>
              <a:rPr dirty="0" sz="1200" spc="-10">
                <a:latin typeface="Calibri"/>
                <a:cs typeface="Calibri"/>
              </a:rPr>
              <a:t>display:flex;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justify- content:center;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align- items:center;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height:100vh;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2822575" cy="4968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94715" algn="l"/>
              </a:tabLst>
            </a:pPr>
            <a:r>
              <a:rPr dirty="0" sz="1200">
                <a:latin typeface="Calibri"/>
                <a:cs typeface="Calibri"/>
              </a:rPr>
              <a:t>.container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20">
                <a:latin typeface="Calibri"/>
                <a:cs typeface="Calibri"/>
              </a:rPr>
              <a:t>text-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  <a:tabLst>
                <a:tab pos="966469" algn="l"/>
              </a:tabLst>
            </a:pPr>
            <a:r>
              <a:rPr dirty="0" sz="1200" spc="-10">
                <a:latin typeface="Calibri"/>
                <a:cs typeface="Calibri"/>
              </a:rPr>
              <a:t>align:center;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width: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350px;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input,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button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  <a:tabLst>
                <a:tab pos="960119" algn="l"/>
              </a:tabLst>
            </a:pPr>
            <a:r>
              <a:rPr dirty="0" sz="1200">
                <a:latin typeface="Calibri"/>
                <a:cs typeface="Calibri"/>
              </a:rPr>
              <a:t>margin: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5px;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padding: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20">
                <a:latin typeface="Calibri"/>
                <a:cs typeface="Calibri"/>
              </a:rPr>
              <a:t>8px;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}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li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60"/>
              </a:spcBef>
            </a:pP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background: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#333;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  <a:tabLst>
                <a:tab pos="960119" algn="l"/>
              </a:tabLst>
            </a:pPr>
            <a:r>
              <a:rPr dirty="0" sz="1200">
                <a:latin typeface="Calibri"/>
                <a:cs typeface="Calibri"/>
              </a:rPr>
              <a:t>margin: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5px;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padding: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20">
                <a:latin typeface="Calibri"/>
                <a:cs typeface="Calibri"/>
              </a:rPr>
              <a:t>5px;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 b="1">
                <a:latin typeface="Calibri"/>
                <a:cs typeface="Calibri"/>
              </a:rPr>
              <a:t>SCRIPT.JS:</a:t>
            </a:r>
            <a:endParaRPr sz="1200">
              <a:latin typeface="Calibri"/>
              <a:cs typeface="Calibri"/>
            </a:endParaRPr>
          </a:p>
          <a:p>
            <a:pPr marL="18415" marR="5080" indent="-6350">
              <a:lnSpc>
                <a:spcPct val="173300"/>
              </a:lnSpc>
              <a:spcBef>
                <a:spcPts val="5"/>
              </a:spcBef>
              <a:tabLst>
                <a:tab pos="1467485" algn="l"/>
              </a:tabLst>
            </a:pP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loadData()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const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provider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document.getElementById("provider").value;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98956" y="5971413"/>
            <a:ext cx="2745740" cy="84264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fetch(`/services/${provider}`)</a:t>
            </a:r>
            <a:endParaRPr sz="1200">
              <a:latin typeface="Calibri"/>
              <a:cs typeface="Calibri"/>
            </a:endParaRPr>
          </a:p>
          <a:p>
            <a:pPr marL="12700" marR="5080" indent="132080">
              <a:lnSpc>
                <a:spcPct val="173300"/>
              </a:lnSpc>
              <a:tabLst>
                <a:tab pos="1713230" algn="l"/>
              </a:tabLst>
            </a:pPr>
            <a:r>
              <a:rPr dirty="0" sz="1200" spc="-10">
                <a:latin typeface="Calibri"/>
                <a:cs typeface="Calibri"/>
              </a:rPr>
              <a:t>.then(res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res.json())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.then(data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>
                <a:latin typeface="Calibri"/>
                <a:cs typeface="Calibri"/>
              </a:rPr>
              <a:t>list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document.getElementById("services");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820795" y="6288404"/>
            <a:ext cx="1866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Calibri"/>
                <a:cs typeface="Calibri"/>
              </a:rPr>
              <a:t>let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98956" y="6922389"/>
            <a:ext cx="3139440" cy="19069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list.innerHTML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"";</a:t>
            </a:r>
            <a:endParaRPr sz="1200">
              <a:latin typeface="Calibri"/>
              <a:cs typeface="Calibri"/>
            </a:endParaRPr>
          </a:p>
          <a:p>
            <a:pPr marL="12700" marR="5080" indent="271145">
              <a:lnSpc>
                <a:spcPct val="174200"/>
              </a:lnSpc>
            </a:pPr>
            <a:r>
              <a:rPr dirty="0" sz="1200" spc="-10">
                <a:latin typeface="Calibri"/>
                <a:cs typeface="Calibri"/>
              </a:rPr>
              <a:t>Object.entries(data).forEach(([key,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value])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>
                <a:latin typeface="Calibri"/>
                <a:cs typeface="Calibri"/>
              </a:rPr>
              <a:t>let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document.createElement("li");</a:t>
            </a:r>
            <a:endParaRPr sz="1200">
              <a:latin typeface="Calibri"/>
              <a:cs typeface="Calibri"/>
            </a:endParaRPr>
          </a:p>
          <a:p>
            <a:pPr marL="12700" marR="1200150">
              <a:lnSpc>
                <a:spcPct val="173300"/>
              </a:lnSpc>
            </a:pPr>
            <a:r>
              <a:rPr dirty="0" sz="1200" spc="-20">
                <a:latin typeface="Calibri"/>
                <a:cs typeface="Calibri"/>
              </a:rPr>
              <a:t>li.innerText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`${key}: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${value}`; list.appendChild(li);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200">
              <a:latin typeface="Calibri"/>
              <a:cs typeface="Calibri"/>
            </a:endParaRPr>
          </a:p>
          <a:p>
            <a:pPr marL="292735">
              <a:lnSpc>
                <a:spcPct val="100000"/>
              </a:lnSpc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4300220" cy="6032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51130">
              <a:lnSpc>
                <a:spcPct val="100000"/>
              </a:lnSpc>
              <a:spcBef>
                <a:spcPts val="100"/>
              </a:spcBef>
              <a:tabLst>
                <a:tab pos="2783205" algn="l"/>
              </a:tabLst>
            </a:pPr>
            <a:r>
              <a:rPr dirty="0" sz="1200">
                <a:latin typeface="Calibri"/>
                <a:cs typeface="Calibri"/>
              </a:rPr>
              <a:t>});</a:t>
            </a:r>
            <a:r>
              <a:rPr dirty="0" sz="1200" spc="254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}</a:t>
            </a:r>
            <a:r>
              <a:rPr dirty="0" sz="1200" spc="254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260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calculate()</a:t>
            </a:r>
            <a:r>
              <a:rPr dirty="0" sz="1200" spc="260">
                <a:latin typeface="Calibri"/>
                <a:cs typeface="Calibri"/>
              </a:rPr>
              <a:t> 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const</a:t>
            </a:r>
            <a:r>
              <a:rPr dirty="0" sz="1200" spc="240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provider</a:t>
            </a:r>
            <a:r>
              <a:rPr dirty="0" sz="1200" spc="254">
                <a:latin typeface="Calibri"/>
                <a:cs typeface="Calibri"/>
              </a:rPr>
              <a:t>  </a:t>
            </a:r>
            <a:r>
              <a:rPr dirty="0" sz="1200" spc="-50">
                <a:latin typeface="Calibri"/>
                <a:cs typeface="Calibri"/>
              </a:rPr>
              <a:t>=</a:t>
            </a:r>
            <a:endParaRPr sz="1200">
              <a:latin typeface="Calibri"/>
              <a:cs typeface="Calibri"/>
            </a:endParaRPr>
          </a:p>
          <a:p>
            <a:pPr algn="just" marL="12700" marR="300990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document.getElementById("provider").value;</a:t>
            </a:r>
            <a:r>
              <a:rPr dirty="0" sz="1200" spc="445">
                <a:latin typeface="Calibri"/>
                <a:cs typeface="Calibri"/>
              </a:rPr>
              <a:t>  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1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hours</a:t>
            </a:r>
            <a:r>
              <a:rPr dirty="0" sz="1200" spc="14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 </a:t>
            </a:r>
            <a:r>
              <a:rPr dirty="0" sz="1200">
                <a:latin typeface="Calibri"/>
                <a:cs typeface="Calibri"/>
              </a:rPr>
              <a:t>document.getElementById("hours").value;</a:t>
            </a:r>
            <a:r>
              <a:rPr dirty="0" sz="1200" spc="350">
                <a:latin typeface="Calibri"/>
                <a:cs typeface="Calibri"/>
              </a:rPr>
              <a:t>   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2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storage</a:t>
            </a:r>
            <a:r>
              <a:rPr dirty="0" sz="1200" spc="22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document.getElementById("storage").value;</a:t>
            </a:r>
            <a:endParaRPr sz="1200">
              <a:latin typeface="Calibri"/>
              <a:cs typeface="Calibri"/>
            </a:endParaRPr>
          </a:p>
          <a:p>
            <a:pPr algn="just" marL="18415" marR="1457325" indent="132080">
              <a:lnSpc>
                <a:spcPct val="174200"/>
              </a:lnSpc>
            </a:pPr>
            <a:r>
              <a:rPr dirty="0" sz="1200" spc="-10">
                <a:latin typeface="Calibri"/>
                <a:cs typeface="Calibri"/>
              </a:rPr>
              <a:t>fetch("/cost", </a:t>
            </a:r>
            <a:r>
              <a:rPr dirty="0" sz="1200">
                <a:latin typeface="Calibri"/>
                <a:cs typeface="Calibri"/>
              </a:rPr>
              <a:t>{</a:t>
            </a:r>
            <a:r>
              <a:rPr dirty="0" sz="1200" spc="330">
                <a:latin typeface="Calibri"/>
                <a:cs typeface="Calibri"/>
              </a:rPr>
              <a:t>    </a:t>
            </a:r>
            <a:r>
              <a:rPr dirty="0" sz="1200">
                <a:latin typeface="Calibri"/>
                <a:cs typeface="Calibri"/>
              </a:rPr>
              <a:t>method: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"POST", </a:t>
            </a:r>
            <a:r>
              <a:rPr dirty="0" sz="1200">
                <a:latin typeface="Calibri"/>
                <a:cs typeface="Calibri"/>
              </a:rPr>
              <a:t>headers: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{"Content-Type":"application/json"},</a:t>
            </a:r>
            <a:endParaRPr sz="1200">
              <a:latin typeface="Calibri"/>
              <a:cs typeface="Calibri"/>
            </a:endParaRPr>
          </a:p>
          <a:p>
            <a:pPr algn="just" marL="18415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body: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JSON.stringify({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provider,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hours,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storage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60"/>
              </a:spcBef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65"/>
              </a:spcBef>
              <a:tabLst>
                <a:tab pos="1719580" algn="l"/>
              </a:tabLst>
            </a:pPr>
            <a:r>
              <a:rPr dirty="0" sz="1200" spc="-10">
                <a:latin typeface="Calibri"/>
                <a:cs typeface="Calibri"/>
              </a:rPr>
              <a:t>.then(res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res.json())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.then(data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algn="just" marL="18415">
              <a:lnSpc>
                <a:spcPct val="100000"/>
              </a:lnSpc>
              <a:spcBef>
                <a:spcPts val="1060"/>
              </a:spcBef>
            </a:pPr>
            <a:r>
              <a:rPr dirty="0" sz="1200" spc="-10">
                <a:latin typeface="Calibri"/>
                <a:cs typeface="Calibri"/>
              </a:rPr>
              <a:t>document.getElementById("result").innerText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"Cost: $"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+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data.cost;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10">
                <a:latin typeface="Calibri"/>
                <a:cs typeface="Calibri"/>
              </a:rPr>
              <a:t>loadData(); </a:t>
            </a:r>
            <a:r>
              <a:rPr dirty="0" sz="1200" b="1">
                <a:latin typeface="Calibri"/>
                <a:cs typeface="Calibri"/>
              </a:rPr>
              <a:t>SERVER.JS: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express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</a:t>
            </a:r>
            <a:endParaRPr sz="1200">
              <a:latin typeface="Calibri"/>
              <a:cs typeface="Calibri"/>
            </a:endParaRPr>
          </a:p>
          <a:p>
            <a:pPr algn="just" marL="18415" marR="1421130">
              <a:lnSpc>
                <a:spcPct val="173400"/>
              </a:lnSpc>
              <a:spcBef>
                <a:spcPts val="10"/>
              </a:spcBef>
            </a:pPr>
            <a:r>
              <a:rPr dirty="0" sz="1200" spc="-10">
                <a:latin typeface="Calibri"/>
                <a:cs typeface="Calibri"/>
              </a:rPr>
              <a:t>require("express");</a:t>
            </a:r>
            <a:r>
              <a:rPr dirty="0" sz="1200">
                <a:latin typeface="Calibri"/>
                <a:cs typeface="Calibri"/>
              </a:rPr>
              <a:t> const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db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10">
                <a:latin typeface="Calibri"/>
                <a:cs typeface="Calibri"/>
              </a:rPr>
              <a:t> require("./db");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express();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app.use(express.json()); </a:t>
            </a:r>
            <a:r>
              <a:rPr dirty="0" sz="1200">
                <a:latin typeface="Calibri"/>
                <a:cs typeface="Calibri"/>
              </a:rPr>
              <a:t>app.use(express.static(</a:t>
            </a:r>
            <a:r>
              <a:rPr dirty="0" u="sng" sz="1200" spc="18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1200" spc="-10">
                <a:latin typeface="Calibri"/>
                <a:cs typeface="Calibri"/>
              </a:rPr>
              <a:t>dirname));</a:t>
            </a:r>
            <a:endParaRPr sz="1200">
              <a:latin typeface="Calibri"/>
              <a:cs typeface="Calibri"/>
            </a:endParaRPr>
          </a:p>
          <a:p>
            <a:pPr algn="just" marL="18415" marR="1403350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app.get("/services/:provider",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(req,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res)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 spc="-10">
                <a:latin typeface="Calibri"/>
                <a:cs typeface="Calibri"/>
              </a:rPr>
              <a:t>res.json(db.getServices(req.params.provider));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92860" y="7036689"/>
            <a:ext cx="19437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app.post("/cost", </a:t>
            </a:r>
            <a:r>
              <a:rPr dirty="0" sz="1200">
                <a:latin typeface="Calibri"/>
                <a:cs typeface="Calibri"/>
              </a:rPr>
              <a:t>(req,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res)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985642" y="7036689"/>
            <a:ext cx="10217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const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{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provider,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92860" y="7354061"/>
            <a:ext cx="3123565" cy="17951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  <a:tabLst>
                <a:tab pos="1896110" algn="l"/>
              </a:tabLst>
            </a:pPr>
            <a:r>
              <a:rPr dirty="0" sz="1200">
                <a:latin typeface="Calibri"/>
                <a:cs typeface="Calibri"/>
              </a:rPr>
              <a:t>hours,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storage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}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req.body;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const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cost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</a:t>
            </a:r>
            <a:endParaRPr sz="1200">
              <a:latin typeface="Calibri"/>
              <a:cs typeface="Calibri"/>
            </a:endParaRPr>
          </a:p>
          <a:p>
            <a:pPr marL="18415" marR="5080">
              <a:lnSpc>
                <a:spcPct val="173300"/>
              </a:lnSpc>
              <a:tabLst>
                <a:tab pos="2534920" algn="l"/>
              </a:tabLst>
            </a:pPr>
            <a:r>
              <a:rPr dirty="0" sz="1200" spc="-10">
                <a:latin typeface="Calibri"/>
                <a:cs typeface="Calibri"/>
              </a:rPr>
              <a:t>db.calculate(provider,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hours,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storage);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res.json({ </a:t>
            </a:r>
            <a:r>
              <a:rPr dirty="0" sz="1200">
                <a:latin typeface="Calibri"/>
                <a:cs typeface="Calibri"/>
              </a:rPr>
              <a:t>cost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app.listen(3000,</a:t>
            </a:r>
            <a:r>
              <a:rPr dirty="0" sz="1200">
                <a:latin typeface="Calibri"/>
                <a:cs typeface="Calibri"/>
              </a:rPr>
              <a:t> ()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console.log(</a:t>
            </a:r>
            <a:r>
              <a:rPr dirty="0" sz="1200" spc="-10">
                <a:latin typeface="Calibri"/>
                <a:cs typeface="Calibri"/>
                <a:hlinkClick r:id="rId2"/>
              </a:rPr>
              <a:t>"http://localhost:3000");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2152015" cy="6889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8415" marR="1374775" indent="-6350">
              <a:lnSpc>
                <a:spcPct val="173300"/>
              </a:lnSpc>
              <a:spcBef>
                <a:spcPts val="10"/>
              </a:spcBef>
            </a:pPr>
            <a:r>
              <a:rPr dirty="0" sz="1200" b="1">
                <a:latin typeface="Calibri"/>
                <a:cs typeface="Calibri"/>
              </a:rPr>
              <a:t>DB.JS: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const </a:t>
            </a:r>
            <a:r>
              <a:rPr dirty="0" sz="1200">
                <a:latin typeface="Calibri"/>
                <a:cs typeface="Calibri"/>
              </a:rPr>
              <a:t>services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>
                <a:latin typeface="Calibri"/>
                <a:cs typeface="Calibri"/>
              </a:rPr>
              <a:t>aws: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288290" marR="796925" indent="1270">
              <a:lnSpc>
                <a:spcPts val="2510"/>
              </a:lnSpc>
              <a:spcBef>
                <a:spcPts val="250"/>
              </a:spcBef>
            </a:pPr>
            <a:r>
              <a:rPr dirty="0" sz="1200">
                <a:latin typeface="Calibri"/>
                <a:cs typeface="Calibri"/>
              </a:rPr>
              <a:t>Compute:</a:t>
            </a:r>
            <a:r>
              <a:rPr dirty="0" sz="1200" spc="-7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"EC2", Storage: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"S3", </a:t>
            </a:r>
            <a:r>
              <a:rPr dirty="0" sz="1200">
                <a:latin typeface="Calibri"/>
                <a:cs typeface="Calibri"/>
              </a:rPr>
              <a:t>Database:</a:t>
            </a:r>
            <a:r>
              <a:rPr dirty="0" sz="1200" spc="-7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"RDS",</a:t>
            </a:r>
            <a:endParaRPr sz="1200">
              <a:latin typeface="Calibri"/>
              <a:cs typeface="Calibri"/>
            </a:endParaRPr>
          </a:p>
          <a:p>
            <a:pPr marL="288290">
              <a:lnSpc>
                <a:spcPct val="100000"/>
              </a:lnSpc>
              <a:spcBef>
                <a:spcPts val="805"/>
              </a:spcBef>
            </a:pPr>
            <a:r>
              <a:rPr dirty="0" sz="1200" spc="-10">
                <a:latin typeface="Calibri"/>
                <a:cs typeface="Calibri"/>
              </a:rPr>
              <a:t>Network: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"VPC"</a:t>
            </a:r>
            <a:endParaRPr sz="1200">
              <a:latin typeface="Calibri"/>
              <a:cs typeface="Calibri"/>
            </a:endParaRPr>
          </a:p>
          <a:p>
            <a:pPr algn="ctr" marR="1756410">
              <a:lnSpc>
                <a:spcPct val="100000"/>
              </a:lnSpc>
              <a:spcBef>
                <a:spcPts val="1065"/>
              </a:spcBef>
            </a:pPr>
            <a:r>
              <a:rPr dirty="0" sz="1200" spc="-25">
                <a:latin typeface="Calibri"/>
                <a:cs typeface="Calibri"/>
              </a:rPr>
              <a:t>},</a:t>
            </a:r>
            <a:endParaRPr sz="1200">
              <a:latin typeface="Calibri"/>
              <a:cs typeface="Calibri"/>
            </a:endParaRPr>
          </a:p>
          <a:p>
            <a:pPr algn="ctr" marR="1767839">
              <a:lnSpc>
                <a:spcPct val="100000"/>
              </a:lnSpc>
              <a:spcBef>
                <a:spcPts val="1060"/>
              </a:spcBef>
            </a:pPr>
            <a:r>
              <a:rPr dirty="0" sz="1200">
                <a:latin typeface="Calibri"/>
                <a:cs typeface="Calibri"/>
              </a:rPr>
              <a:t>gcp: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Compute: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"Compute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Engine",</a:t>
            </a:r>
            <a:endParaRPr sz="1200">
              <a:latin typeface="Calibri"/>
              <a:cs typeface="Calibri"/>
            </a:endParaRPr>
          </a:p>
          <a:p>
            <a:pPr marL="288290" marR="290830" indent="1270">
              <a:lnSpc>
                <a:spcPct val="173700"/>
              </a:lnSpc>
              <a:spcBef>
                <a:spcPts val="5"/>
              </a:spcBef>
            </a:pPr>
            <a:r>
              <a:rPr dirty="0" sz="1200" spc="-10">
                <a:latin typeface="Calibri"/>
                <a:cs typeface="Calibri"/>
              </a:rPr>
              <a:t>Storage: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"Cloud </a:t>
            </a:r>
            <a:r>
              <a:rPr dirty="0" sz="1200" spc="-10">
                <a:latin typeface="Calibri"/>
                <a:cs typeface="Calibri"/>
              </a:rPr>
              <a:t>Storage", </a:t>
            </a:r>
            <a:r>
              <a:rPr dirty="0" sz="1200">
                <a:latin typeface="Calibri"/>
                <a:cs typeface="Calibri"/>
              </a:rPr>
              <a:t>Database: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"Cloud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SQL", </a:t>
            </a:r>
            <a:r>
              <a:rPr dirty="0" sz="1200" spc="-10">
                <a:latin typeface="Calibri"/>
                <a:cs typeface="Calibri"/>
              </a:rPr>
              <a:t>Network: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"VPC"</a:t>
            </a:r>
            <a:endParaRPr sz="1200">
              <a:latin typeface="Calibri"/>
              <a:cs typeface="Calibri"/>
            </a:endParaRPr>
          </a:p>
          <a:p>
            <a:pPr algn="ctr" marR="1756410">
              <a:lnSpc>
                <a:spcPct val="100000"/>
              </a:lnSpc>
              <a:spcBef>
                <a:spcPts val="1070"/>
              </a:spcBef>
            </a:pPr>
            <a:r>
              <a:rPr dirty="0" sz="1200" spc="-25">
                <a:latin typeface="Calibri"/>
                <a:cs typeface="Calibri"/>
              </a:rPr>
              <a:t>},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azure: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2700" marR="5080" indent="276860">
              <a:lnSpc>
                <a:spcPct val="174200"/>
              </a:lnSpc>
            </a:pPr>
            <a:r>
              <a:rPr dirty="0" sz="1200">
                <a:latin typeface="Calibri"/>
                <a:cs typeface="Calibri"/>
              </a:rPr>
              <a:t>Compute: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"Virtual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Machines", </a:t>
            </a:r>
            <a:r>
              <a:rPr dirty="0" sz="1200">
                <a:latin typeface="Calibri"/>
                <a:cs typeface="Calibri"/>
              </a:rPr>
              <a:t>Storage: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"Blob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Storage",</a:t>
            </a:r>
            <a:endParaRPr sz="1200">
              <a:latin typeface="Calibri"/>
              <a:cs typeface="Calibri"/>
            </a:endParaRPr>
          </a:p>
          <a:p>
            <a:pPr marL="299085" marR="187325">
              <a:lnSpc>
                <a:spcPct val="174200"/>
              </a:lnSpc>
            </a:pPr>
            <a:r>
              <a:rPr dirty="0" sz="1200" spc="-10">
                <a:latin typeface="Calibri"/>
                <a:cs typeface="Calibri"/>
              </a:rPr>
              <a:t>Database: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"SQL</a:t>
            </a:r>
            <a:r>
              <a:rPr dirty="0" sz="1200" spc="-10">
                <a:latin typeface="Calibri"/>
                <a:cs typeface="Calibri"/>
              </a:rPr>
              <a:t> Database", Network: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"VNet"</a:t>
            </a:r>
            <a:endParaRPr sz="1200">
              <a:latin typeface="Calibri"/>
              <a:cs typeface="Calibri"/>
            </a:endParaRPr>
          </a:p>
          <a:p>
            <a:pPr marL="117475">
              <a:lnSpc>
                <a:spcPct val="100000"/>
              </a:lnSpc>
              <a:spcBef>
                <a:spcPts val="107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25">
                <a:latin typeface="Calibri"/>
                <a:cs typeface="Calibri"/>
              </a:rPr>
              <a:t>};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92860" y="7892033"/>
            <a:ext cx="10052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pricing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046477" y="7892033"/>
            <a:ext cx="12776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aws: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{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compute: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0.1,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98956" y="8210550"/>
            <a:ext cx="9486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storage: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0.02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},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996185" y="8210550"/>
            <a:ext cx="1331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gcp: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{</a:t>
            </a:r>
            <a:r>
              <a:rPr dirty="0" sz="1200" spc="-10">
                <a:latin typeface="Calibri"/>
                <a:cs typeface="Calibri"/>
              </a:rPr>
              <a:t> compute: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0.09,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98956" y="8527542"/>
            <a:ext cx="2287270" cy="525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85545" algn="l"/>
              </a:tabLst>
            </a:pPr>
            <a:r>
              <a:rPr dirty="0" sz="1200" spc="-10">
                <a:latin typeface="Calibri"/>
                <a:cs typeface="Calibri"/>
              </a:rPr>
              <a:t>storage: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0.025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},</a:t>
            </a:r>
            <a:r>
              <a:rPr dirty="0" sz="1200">
                <a:latin typeface="Calibri"/>
                <a:cs typeface="Calibri"/>
              </a:rPr>
              <a:t>	azure: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{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compute: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0.11,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storage: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0.018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3628390" cy="2749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Calibri"/>
                <a:cs typeface="Calibri"/>
              </a:rPr>
              <a:t>};</a:t>
            </a:r>
            <a:endParaRPr sz="1200">
              <a:latin typeface="Calibri"/>
              <a:cs typeface="Calibri"/>
            </a:endParaRPr>
          </a:p>
          <a:p>
            <a:pPr marL="18415" marR="1657985" indent="-6350">
              <a:lnSpc>
                <a:spcPct val="173300"/>
              </a:lnSpc>
              <a:spcBef>
                <a:spcPts val="10"/>
              </a:spcBef>
            </a:pP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getServices(provider)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>
                <a:latin typeface="Calibri"/>
                <a:cs typeface="Calibri"/>
              </a:rPr>
              <a:t>return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services[provider];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5080" indent="-6350">
              <a:lnSpc>
                <a:spcPct val="173300"/>
              </a:lnSpc>
              <a:spcBef>
                <a:spcPts val="15"/>
              </a:spcBef>
              <a:tabLst>
                <a:tab pos="1268095" algn="l"/>
                <a:tab pos="2923540" algn="l"/>
              </a:tabLst>
            </a:pP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calculate(provider,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hours,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storage)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const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pricing[provider];</a:t>
            </a:r>
            <a:r>
              <a:rPr dirty="0" sz="1200">
                <a:latin typeface="Calibri"/>
                <a:cs typeface="Calibri"/>
              </a:rPr>
              <a:t>	return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(hours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*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p.compute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+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storage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* </a:t>
            </a:r>
            <a:r>
              <a:rPr dirty="0" sz="1200" spc="-10">
                <a:latin typeface="Calibri"/>
                <a:cs typeface="Calibri"/>
              </a:rPr>
              <a:t>p.storage).toFixed(2);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module.exports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{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getServices,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calculate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};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OUTPUT: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0594" y="3771900"/>
            <a:ext cx="5941822" cy="2509392"/>
          </a:xfrm>
          <a:prstGeom prst="rect">
            <a:avLst/>
          </a:prstGeom>
        </p:spPr>
      </p:pic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7564373"/>
            <a:ext cx="5713730" cy="962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 marR="5080" indent="-6350">
              <a:lnSpc>
                <a:spcPct val="114199"/>
              </a:lnSpc>
              <a:spcBef>
                <a:spcPts val="100"/>
              </a:spcBef>
            </a:pPr>
            <a:r>
              <a:rPr dirty="0" sz="1200" spc="-10" b="1">
                <a:latin typeface="Calibri"/>
                <a:cs typeface="Calibri"/>
              </a:rPr>
              <a:t>RESULTS: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cloud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comparison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application </a:t>
            </a:r>
            <a:r>
              <a:rPr dirty="0" sz="1200">
                <a:latin typeface="Calibri"/>
                <a:cs typeface="Calibri"/>
              </a:rPr>
              <a:t>was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successfully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developed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display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and </a:t>
            </a:r>
            <a:r>
              <a:rPr dirty="0" sz="1200" spc="-10">
                <a:latin typeface="Calibri"/>
                <a:cs typeface="Calibri"/>
              </a:rPr>
              <a:t>simulate</a:t>
            </a:r>
            <a:r>
              <a:rPr dirty="0" sz="1200" spc="-20">
                <a:latin typeface="Calibri"/>
                <a:cs typeface="Calibri"/>
              </a:rPr>
              <a:t> pay-</a:t>
            </a:r>
            <a:r>
              <a:rPr dirty="0" sz="1200" spc="-10">
                <a:latin typeface="Calibri"/>
                <a:cs typeface="Calibri"/>
              </a:rPr>
              <a:t>as-you-</a:t>
            </a: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pricing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across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AWS,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GCP,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Azure.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20" b="1">
                <a:latin typeface="Calibri"/>
                <a:cs typeface="Calibri"/>
              </a:rPr>
              <a:t>TASK23: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AI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PROMPT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APP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914400"/>
            <a:ext cx="5943600" cy="3299967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4345432"/>
            <a:ext cx="5943600" cy="3087878"/>
          </a:xfrm>
          <a:prstGeom prst="rect">
            <a:avLst/>
          </a:prstGeom>
        </p:spPr>
      </p:pic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68425"/>
            <a:ext cx="5530850" cy="8067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 marR="5080" indent="-6350">
              <a:lnSpc>
                <a:spcPct val="114199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AIM: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spc="-6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develop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application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demonstrates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prompt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engineering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generating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and </a:t>
            </a:r>
            <a:r>
              <a:rPr dirty="0" sz="1200" spc="-10">
                <a:latin typeface="Calibri"/>
                <a:cs typeface="Calibri"/>
              </a:rPr>
              <a:t>evaluating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code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 cloud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configurations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based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 user </a:t>
            </a:r>
            <a:r>
              <a:rPr dirty="0" sz="1200" spc="-10">
                <a:latin typeface="Calibri"/>
                <a:cs typeface="Calibri"/>
              </a:rPr>
              <a:t>input.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 b="1">
                <a:latin typeface="Calibri"/>
                <a:cs typeface="Calibri"/>
              </a:rPr>
              <a:t>ALGORITHM: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Start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program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Create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project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(HTML,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CSS,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JS,</a:t>
            </a:r>
            <a:r>
              <a:rPr dirty="0" sz="1200" spc="-20">
                <a:latin typeface="Calibri"/>
                <a:cs typeface="Calibri"/>
              </a:rPr>
              <a:t> server.js,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db.js)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Design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UI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input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field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prompt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6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Capture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prompt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JavaScript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6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Send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prompt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fetch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API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9425" algn="l"/>
              </a:tabLst>
            </a:pPr>
            <a:r>
              <a:rPr dirty="0" sz="1200" spc="-10">
                <a:latin typeface="Calibri"/>
                <a:cs typeface="Calibri"/>
              </a:rPr>
              <a:t>Receive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prompt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backend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(server.js)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Process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prompt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predefined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logic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(db.js)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9425" algn="l"/>
              </a:tabLst>
            </a:pPr>
            <a:r>
              <a:rPr dirty="0" sz="1200" spc="-10">
                <a:latin typeface="Calibri"/>
                <a:cs typeface="Calibri"/>
              </a:rPr>
              <a:t>Generate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output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(code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/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cloud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config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/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response)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479425" algn="l"/>
              </a:tabLst>
            </a:pPr>
            <a:r>
              <a:rPr dirty="0" sz="1200" spc="-10">
                <a:latin typeface="Calibri"/>
                <a:cs typeface="Calibri"/>
              </a:rPr>
              <a:t>Evaluate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output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quality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assign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score</a:t>
            </a:r>
            <a:endParaRPr sz="1200">
              <a:latin typeface="Calibri"/>
              <a:cs typeface="Calibri"/>
            </a:endParaRPr>
          </a:p>
          <a:p>
            <a:pPr marL="477520" indent="-227329">
              <a:lnSpc>
                <a:spcPct val="100000"/>
              </a:lnSpc>
              <a:spcBef>
                <a:spcPts val="1065"/>
              </a:spcBef>
              <a:buAutoNum type="arabicPeriod"/>
              <a:tabLst>
                <a:tab pos="477520" algn="l"/>
              </a:tabLst>
            </a:pPr>
            <a:r>
              <a:rPr dirty="0" sz="1200">
                <a:latin typeface="Calibri"/>
                <a:cs typeface="Calibri"/>
              </a:rPr>
              <a:t>Send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generated </a:t>
            </a:r>
            <a:r>
              <a:rPr dirty="0" sz="1200">
                <a:latin typeface="Calibri"/>
                <a:cs typeface="Calibri"/>
              </a:rPr>
              <a:t>output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0">
                <a:latin typeface="Calibri"/>
                <a:cs typeface="Calibri"/>
              </a:rPr>
              <a:t> score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frontend</a:t>
            </a:r>
            <a:endParaRPr sz="1200">
              <a:latin typeface="Calibri"/>
              <a:cs typeface="Calibri"/>
            </a:endParaRPr>
          </a:p>
          <a:p>
            <a:pPr marL="477520" indent="-227329">
              <a:lnSpc>
                <a:spcPct val="100000"/>
              </a:lnSpc>
              <a:spcBef>
                <a:spcPts val="1060"/>
              </a:spcBef>
              <a:buAutoNum type="arabicPeriod"/>
              <a:tabLst>
                <a:tab pos="477520" algn="l"/>
              </a:tabLst>
            </a:pPr>
            <a:r>
              <a:rPr dirty="0" sz="1200">
                <a:latin typeface="Calibri"/>
                <a:cs typeface="Calibri"/>
              </a:rPr>
              <a:t>Display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output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score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UI</a:t>
            </a:r>
            <a:endParaRPr sz="1200">
              <a:latin typeface="Calibri"/>
              <a:cs typeface="Calibri"/>
            </a:endParaRPr>
          </a:p>
          <a:p>
            <a:pPr marL="477520" indent="-227329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7520" algn="l"/>
              </a:tabLst>
            </a:pPr>
            <a:r>
              <a:rPr dirty="0" sz="1200">
                <a:latin typeface="Calibri"/>
                <a:cs typeface="Calibri"/>
              </a:rPr>
              <a:t>Stop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program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 b="1">
                <a:latin typeface="Calibri"/>
                <a:cs typeface="Calibri"/>
              </a:rPr>
              <a:t>PROGRAM: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 b="1">
                <a:latin typeface="Calibri"/>
                <a:cs typeface="Calibri"/>
              </a:rPr>
              <a:t>INDEX.HTML: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&lt;!DOCTYPE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html&gt;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&lt;html&gt;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&lt;head&gt;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&lt;title&gt;AI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Prompt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App&lt;/title&gt;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&lt;link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rel="stylesheet"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href="style.css"&gt;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&lt;/head&gt;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&lt;body&gt;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&lt;div </a:t>
            </a:r>
            <a:r>
              <a:rPr dirty="0" sz="1200" spc="-10">
                <a:latin typeface="Calibri"/>
                <a:cs typeface="Calibri"/>
              </a:rPr>
              <a:t>class="container"&gt;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&lt;h2&gt;Prompt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Engineering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Tool&lt;/h2&gt;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4583430" cy="81451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113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&lt;textarea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id="prompt"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placeholder="Enter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prompt..."&gt;&lt;/textarea&gt;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&lt;button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onclick="generate()"&gt;Generate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Output&lt;/button&gt;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&lt;h3&gt;Generated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Output&lt;/h3&gt;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&lt;pre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id="output"&gt;&lt;/pre&gt;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&lt;h3&gt;Quality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Score&lt;/h3&gt;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60"/>
              </a:spcBef>
            </a:pPr>
            <a:r>
              <a:rPr dirty="0" sz="1200">
                <a:latin typeface="Calibri"/>
                <a:cs typeface="Calibri"/>
              </a:rPr>
              <a:t>&lt;p</a:t>
            </a:r>
            <a:r>
              <a:rPr dirty="0" sz="1200" spc="-10">
                <a:latin typeface="Calibri"/>
                <a:cs typeface="Calibri"/>
              </a:rPr>
              <a:t> id="score"&gt;&lt;/p&gt;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&lt;/div&gt;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10">
                <a:latin typeface="Calibri"/>
                <a:cs typeface="Calibri"/>
              </a:rPr>
              <a:t>&lt;script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src="script.js"&gt;&lt;/script&gt;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&lt;/body&gt;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&lt;/html&gt;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STYLE.CSS:</a:t>
            </a:r>
            <a:endParaRPr sz="1200">
              <a:latin typeface="Calibri"/>
              <a:cs typeface="Calibri"/>
            </a:endParaRPr>
          </a:p>
          <a:p>
            <a:pPr algn="just" marL="18415" marR="3279140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body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{</a:t>
            </a:r>
            <a:r>
              <a:rPr dirty="0" sz="1200" spc="430">
                <a:latin typeface="Calibri"/>
                <a:cs typeface="Calibri"/>
              </a:rPr>
              <a:t>  </a:t>
            </a:r>
            <a:r>
              <a:rPr dirty="0" sz="1200" spc="-25">
                <a:latin typeface="Calibri"/>
                <a:cs typeface="Calibri"/>
              </a:rPr>
              <a:t>font-</a:t>
            </a:r>
            <a:r>
              <a:rPr dirty="0" sz="1200" spc="-10">
                <a:latin typeface="Calibri"/>
                <a:cs typeface="Calibri"/>
              </a:rPr>
              <a:t>family: </a:t>
            </a:r>
            <a:r>
              <a:rPr dirty="0" sz="1200">
                <a:latin typeface="Calibri"/>
                <a:cs typeface="Calibri"/>
              </a:rPr>
              <a:t>Arial;</a:t>
            </a:r>
            <a:r>
              <a:rPr dirty="0" sz="1200" spc="405">
                <a:latin typeface="Calibri"/>
                <a:cs typeface="Calibri"/>
              </a:rPr>
              <a:t>  </a:t>
            </a:r>
            <a:r>
              <a:rPr dirty="0" sz="1200" spc="-10">
                <a:latin typeface="Calibri"/>
                <a:cs typeface="Calibri"/>
              </a:rPr>
              <a:t>background: </a:t>
            </a:r>
            <a:r>
              <a:rPr dirty="0" sz="1200">
                <a:latin typeface="Calibri"/>
                <a:cs typeface="Calibri"/>
              </a:rPr>
              <a:t>#202038;</a:t>
            </a:r>
            <a:r>
              <a:rPr dirty="0" sz="1200" spc="385">
                <a:latin typeface="Calibri"/>
                <a:cs typeface="Calibri"/>
              </a:rPr>
              <a:t>  </a:t>
            </a:r>
            <a:r>
              <a:rPr dirty="0" sz="1200" spc="-10">
                <a:latin typeface="Calibri"/>
                <a:cs typeface="Calibri"/>
              </a:rPr>
              <a:t>color:</a:t>
            </a:r>
            <a:endParaRPr sz="1200">
              <a:latin typeface="Calibri"/>
              <a:cs typeface="Calibri"/>
            </a:endParaRPr>
          </a:p>
          <a:p>
            <a:pPr marL="18415" marR="3180715">
              <a:lnSpc>
                <a:spcPct val="173400"/>
              </a:lnSpc>
              <a:spcBef>
                <a:spcPts val="10"/>
              </a:spcBef>
              <a:tabLst>
                <a:tab pos="581025" algn="l"/>
              </a:tabLst>
            </a:pPr>
            <a:r>
              <a:rPr dirty="0" sz="1200" spc="-10">
                <a:latin typeface="Calibri"/>
                <a:cs typeface="Calibri"/>
              </a:rPr>
              <a:t>white;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display:flex; justify-content:center; align-items:center; height:100vh;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3465195" indent="-6350">
              <a:lnSpc>
                <a:spcPct val="173900"/>
              </a:lnSpc>
              <a:spcBef>
                <a:spcPts val="5"/>
              </a:spcBef>
            </a:pPr>
            <a:r>
              <a:rPr dirty="0" sz="1200">
                <a:latin typeface="Calibri"/>
                <a:cs typeface="Calibri"/>
              </a:rPr>
              <a:t>.container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 width: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400px; </a:t>
            </a:r>
            <a:r>
              <a:rPr dirty="0" sz="1200" spc="-25">
                <a:latin typeface="Calibri"/>
                <a:cs typeface="Calibri"/>
              </a:rPr>
              <a:t>text-</a:t>
            </a:r>
            <a:r>
              <a:rPr dirty="0" sz="1200">
                <a:latin typeface="Calibri"/>
                <a:cs typeface="Calibri"/>
              </a:rPr>
              <a:t>align: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center;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3673475" indent="-6350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textarea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>
                <a:latin typeface="Calibri"/>
                <a:cs typeface="Calibri"/>
              </a:rPr>
              <a:t>width: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100%; </a:t>
            </a:r>
            <a:r>
              <a:rPr dirty="0" sz="1200">
                <a:latin typeface="Calibri"/>
                <a:cs typeface="Calibri"/>
              </a:rPr>
              <a:t>height: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100px; </a:t>
            </a:r>
            <a:r>
              <a:rPr dirty="0" sz="1200">
                <a:latin typeface="Calibri"/>
                <a:cs typeface="Calibri"/>
              </a:rPr>
              <a:t>margin: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5px;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736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92860" y="1211326"/>
            <a:ext cx="5238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button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562804" y="1211326"/>
            <a:ext cx="5676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padding: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92860" y="1529842"/>
            <a:ext cx="1409065" cy="27451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  <a:tabLst>
                <a:tab pos="529590" algn="l"/>
              </a:tabLst>
            </a:pPr>
            <a:r>
              <a:rPr dirty="0" sz="1200" spc="-10">
                <a:latin typeface="Calibri"/>
                <a:cs typeface="Calibri"/>
              </a:rPr>
              <a:t>10px;</a:t>
            </a:r>
            <a:r>
              <a:rPr dirty="0" sz="1200">
                <a:latin typeface="Calibri"/>
                <a:cs typeface="Calibri"/>
              </a:rPr>
              <a:t>	margin: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10px;</a:t>
            </a:r>
            <a:endParaRPr sz="1200">
              <a:latin typeface="Calibri"/>
              <a:cs typeface="Calibri"/>
            </a:endParaRPr>
          </a:p>
          <a:p>
            <a:pPr marL="18415" marR="5080">
              <a:lnSpc>
                <a:spcPct val="173300"/>
              </a:lnSpc>
              <a:tabLst>
                <a:tab pos="1043940" algn="l"/>
              </a:tabLst>
            </a:pPr>
            <a:r>
              <a:rPr dirty="0" sz="1200">
                <a:latin typeface="Calibri"/>
                <a:cs typeface="Calibri"/>
              </a:rPr>
              <a:t>background:</a:t>
            </a:r>
            <a:r>
              <a:rPr dirty="0" sz="1200" spc="-7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#00c6ff; </a:t>
            </a:r>
            <a:r>
              <a:rPr dirty="0" sz="1200">
                <a:latin typeface="Calibri"/>
                <a:cs typeface="Calibri"/>
              </a:rPr>
              <a:t>border: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none;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20">
                <a:latin typeface="Calibri"/>
                <a:cs typeface="Calibri"/>
              </a:rPr>
              <a:t>color: </a:t>
            </a:r>
            <a:r>
              <a:rPr dirty="0" sz="1200" spc="-10">
                <a:latin typeface="Calibri"/>
                <a:cs typeface="Calibri"/>
              </a:rPr>
              <a:t>white;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155575" indent="-6350">
              <a:lnSpc>
                <a:spcPct val="173300"/>
              </a:lnSpc>
              <a:spcBef>
                <a:spcPts val="5"/>
              </a:spcBef>
              <a:tabLst>
                <a:tab pos="473075" algn="l"/>
                <a:tab pos="539115" algn="l"/>
              </a:tabLst>
            </a:pPr>
            <a:r>
              <a:rPr dirty="0" sz="1200">
                <a:latin typeface="Calibri"/>
                <a:cs typeface="Calibri"/>
              </a:rPr>
              <a:t>pre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background: #333;</a:t>
            </a:r>
            <a:r>
              <a:rPr dirty="0" sz="1200">
                <a:latin typeface="Calibri"/>
                <a:cs typeface="Calibri"/>
              </a:rPr>
              <a:t>		</a:t>
            </a:r>
            <a:r>
              <a:rPr dirty="0" sz="1200" spc="-10">
                <a:latin typeface="Calibri"/>
                <a:cs typeface="Calibri"/>
              </a:rPr>
              <a:t>padding: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10px;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92860" y="4384675"/>
            <a:ext cx="2763520" cy="1159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Calibri"/>
                <a:cs typeface="Calibri"/>
              </a:rPr>
              <a:t>SCRIPT.JS:</a:t>
            </a:r>
            <a:endParaRPr sz="1200">
              <a:latin typeface="Calibri"/>
              <a:cs typeface="Calibri"/>
            </a:endParaRPr>
          </a:p>
          <a:p>
            <a:pPr marL="18415" marR="5080" indent="-6350">
              <a:lnSpc>
                <a:spcPct val="173400"/>
              </a:lnSpc>
              <a:tabLst>
                <a:tab pos="1459865" algn="l"/>
                <a:tab pos="1533525" algn="l"/>
              </a:tabLst>
            </a:pP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generate()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const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prompt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document.getElementById("prompt").value; fetch("/generate",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	method: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"POST",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770387" y="5335904"/>
            <a:ext cx="5619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headers: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92860" y="5652896"/>
            <a:ext cx="5173345" cy="33820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  <a:tabLst>
                <a:tab pos="2573655" algn="l"/>
              </a:tabLst>
            </a:pPr>
            <a:r>
              <a:rPr dirty="0" sz="1200" spc="-10">
                <a:latin typeface="Calibri"/>
                <a:cs typeface="Calibri"/>
              </a:rPr>
              <a:t>{"Content-Type":"application/json"},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20">
                <a:latin typeface="Calibri"/>
                <a:cs typeface="Calibri"/>
              </a:rPr>
              <a:t>body: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JSON.stringify({</a:t>
            </a:r>
            <a:r>
              <a:rPr dirty="0" sz="1200">
                <a:latin typeface="Calibri"/>
                <a:cs typeface="Calibri"/>
              </a:rPr>
              <a:t> prompt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.then(res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res.json())</a:t>
            </a:r>
            <a:endParaRPr sz="1200">
              <a:latin typeface="Calibri"/>
              <a:cs typeface="Calibri"/>
            </a:endParaRPr>
          </a:p>
          <a:p>
            <a:pPr marL="18415" marR="5080" indent="99060">
              <a:lnSpc>
                <a:spcPct val="173500"/>
              </a:lnSpc>
              <a:spcBef>
                <a:spcPts val="10"/>
              </a:spcBef>
              <a:tabLst>
                <a:tab pos="1336675" algn="l"/>
              </a:tabLst>
            </a:pPr>
            <a:r>
              <a:rPr dirty="0" sz="1200" spc="-10">
                <a:latin typeface="Calibri"/>
                <a:cs typeface="Calibri"/>
              </a:rPr>
              <a:t>.then(data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document.getElementById("output").innerText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data.output; document.getElementById("score").innerText</a:t>
            </a:r>
            <a:r>
              <a:rPr dirty="0" sz="1200">
                <a:latin typeface="Calibri"/>
                <a:cs typeface="Calibri"/>
              </a:rPr>
              <a:t> =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data.score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+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"/10";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3303270" indent="-6350">
              <a:lnSpc>
                <a:spcPct val="173300"/>
              </a:lnSpc>
              <a:spcBef>
                <a:spcPts val="10"/>
              </a:spcBef>
            </a:pPr>
            <a:r>
              <a:rPr dirty="0" sz="1200" b="1">
                <a:latin typeface="Calibri"/>
                <a:cs typeface="Calibri"/>
              </a:rPr>
              <a:t>SERVER.JS: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express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require("express");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db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require("./db");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1212850"/>
            <a:ext cx="3187700" cy="7920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express();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Middleware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app.use(express.json());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app.use(express.static(</a:t>
            </a:r>
            <a:r>
              <a:rPr dirty="0" u="sng" sz="1200" spc="2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1200">
                <a:latin typeface="Calibri"/>
                <a:cs typeface="Calibri"/>
              </a:rPr>
              <a:t>dirname));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serve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HTML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1200">
              <a:latin typeface="Calibri"/>
              <a:cs typeface="Calibri"/>
            </a:endParaRPr>
          </a:p>
          <a:p>
            <a:pPr algn="just" marL="18415" marR="483870" indent="-6350">
              <a:lnSpc>
                <a:spcPct val="173400"/>
              </a:lnSpc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240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Home</a:t>
            </a:r>
            <a:r>
              <a:rPr dirty="0" sz="1200" spc="240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route</a:t>
            </a:r>
            <a:r>
              <a:rPr dirty="0" sz="1200" spc="245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(optional</a:t>
            </a:r>
            <a:r>
              <a:rPr dirty="0" sz="1200" spc="240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but</a:t>
            </a:r>
            <a:r>
              <a:rPr dirty="0" sz="1200" spc="235">
                <a:latin typeface="Calibri"/>
                <a:cs typeface="Calibri"/>
              </a:rPr>
              <a:t>  </a:t>
            </a:r>
            <a:r>
              <a:rPr dirty="0" sz="1200" spc="-10">
                <a:latin typeface="Calibri"/>
                <a:cs typeface="Calibri"/>
              </a:rPr>
              <a:t>useful) </a:t>
            </a:r>
            <a:r>
              <a:rPr dirty="0" sz="1200">
                <a:latin typeface="Calibri"/>
                <a:cs typeface="Calibri"/>
              </a:rPr>
              <a:t>app.get("/",</a:t>
            </a:r>
            <a:r>
              <a:rPr dirty="0" sz="1200" spc="325">
                <a:latin typeface="Calibri"/>
                <a:cs typeface="Calibri"/>
              </a:rPr>
              <a:t>    </a:t>
            </a:r>
            <a:r>
              <a:rPr dirty="0" sz="1200">
                <a:latin typeface="Calibri"/>
                <a:cs typeface="Calibri"/>
              </a:rPr>
              <a:t>(req,</a:t>
            </a:r>
            <a:r>
              <a:rPr dirty="0" sz="1200" spc="320">
                <a:latin typeface="Calibri"/>
                <a:cs typeface="Calibri"/>
              </a:rPr>
              <a:t>    </a:t>
            </a:r>
            <a:r>
              <a:rPr dirty="0" sz="1200">
                <a:latin typeface="Calibri"/>
                <a:cs typeface="Calibri"/>
              </a:rPr>
              <a:t>res)</a:t>
            </a:r>
            <a:r>
              <a:rPr dirty="0" sz="1200" spc="325">
                <a:latin typeface="Calibri"/>
                <a:cs typeface="Calibri"/>
              </a:rPr>
              <a:t>   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325">
                <a:latin typeface="Calibri"/>
                <a:cs typeface="Calibri"/>
              </a:rPr>
              <a:t>   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>
                <a:latin typeface="Calibri"/>
                <a:cs typeface="Calibri"/>
              </a:rPr>
              <a:t>res.sendFile(</a:t>
            </a:r>
            <a:r>
              <a:rPr dirty="0" u="sng" sz="1200" spc="24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1200">
                <a:latin typeface="Calibri"/>
                <a:cs typeface="Calibri"/>
              </a:rPr>
              <a:t>dirname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+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"/index.html");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// </a:t>
            </a:r>
            <a:r>
              <a:rPr dirty="0" sz="1200" spc="-10">
                <a:latin typeface="Calibri"/>
                <a:cs typeface="Calibri"/>
              </a:rPr>
              <a:t>Generate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output</a:t>
            </a:r>
            <a:r>
              <a:rPr dirty="0" sz="1200" spc="-10">
                <a:latin typeface="Calibri"/>
                <a:cs typeface="Calibri"/>
              </a:rPr>
              <a:t> app.post("/generate",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(req,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res)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  <a:tabLst>
                <a:tab pos="426084" algn="l"/>
              </a:tabLst>
            </a:pP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const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result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</a:t>
            </a:r>
            <a:endParaRPr sz="1200">
              <a:latin typeface="Calibri"/>
              <a:cs typeface="Calibri"/>
            </a:endParaRPr>
          </a:p>
          <a:p>
            <a:pPr marL="18415" marR="849630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db.processPrompt(req.body.prompt); res.json(result);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//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START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LINK</a:t>
            </a:r>
            <a:endParaRPr sz="1200">
              <a:latin typeface="Calibri"/>
              <a:cs typeface="Calibri"/>
            </a:endParaRPr>
          </a:p>
          <a:p>
            <a:pPr marL="18415" marR="823594">
              <a:lnSpc>
                <a:spcPts val="2470"/>
              </a:lnSpc>
              <a:spcBef>
                <a:spcPts val="240"/>
              </a:spcBef>
              <a:tabLst>
                <a:tab pos="1447800" algn="l"/>
                <a:tab pos="1548130" algn="l"/>
              </a:tabLst>
            </a:pPr>
            <a:r>
              <a:rPr dirty="0" sz="1200" spc="-10">
                <a:latin typeface="Calibri"/>
                <a:cs typeface="Calibri"/>
              </a:rPr>
              <a:t>app.listen(3000,</a:t>
            </a:r>
            <a:r>
              <a:rPr dirty="0" sz="1200">
                <a:latin typeface="Calibri"/>
                <a:cs typeface="Calibri"/>
              </a:rPr>
              <a:t> ()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	</a:t>
            </a:r>
            <a:r>
              <a:rPr dirty="0" sz="1200" spc="-10">
                <a:latin typeface="Calibri"/>
                <a:cs typeface="Calibri"/>
              </a:rPr>
              <a:t>console.log(" </a:t>
            </a:r>
            <a:r>
              <a:rPr dirty="0" sz="1200">
                <a:latin typeface="Calibri"/>
                <a:cs typeface="Calibri"/>
              </a:rPr>
              <a:t>Server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running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at:");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console.log(" </a:t>
            </a:r>
            <a:r>
              <a:rPr dirty="0" sz="1200" spc="-10">
                <a:latin typeface="Calibri"/>
                <a:cs typeface="Calibri"/>
                <a:hlinkClick r:id="rId2"/>
              </a:rPr>
              <a:t>http://localhost:3000</a:t>
            </a:r>
            <a:r>
              <a:rPr dirty="0" sz="1200" spc="-10">
                <a:latin typeface="Calibri"/>
                <a:cs typeface="Calibri"/>
              </a:rPr>
              <a:t>");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b="1">
                <a:latin typeface="Calibri"/>
                <a:cs typeface="Calibri"/>
              </a:rPr>
              <a:t>DB.JS: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function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processPrompt(prompt)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  <a:tabLst>
                <a:tab pos="1248410" algn="l"/>
                <a:tab pos="2209800" algn="l"/>
              </a:tabLst>
            </a:pPr>
            <a:r>
              <a:rPr dirty="0" sz="1200">
                <a:latin typeface="Calibri"/>
                <a:cs typeface="Calibri"/>
              </a:rPr>
              <a:t>let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output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"";</a:t>
            </a:r>
            <a:r>
              <a:rPr dirty="0" sz="1200">
                <a:latin typeface="Calibri"/>
                <a:cs typeface="Calibri"/>
              </a:rPr>
              <a:t>	let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score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25">
                <a:latin typeface="Calibri"/>
                <a:cs typeface="Calibri"/>
              </a:rPr>
              <a:t> 5;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25">
                <a:latin typeface="Calibri"/>
                <a:cs typeface="Calibri"/>
              </a:rPr>
              <a:t>if</a:t>
            </a:r>
            <a:endParaRPr sz="1200">
              <a:latin typeface="Calibri"/>
              <a:cs typeface="Calibri"/>
            </a:endParaRPr>
          </a:p>
          <a:p>
            <a:pPr marL="18415" marR="532765">
              <a:lnSpc>
                <a:spcPts val="2510"/>
              </a:lnSpc>
              <a:spcBef>
                <a:spcPts val="245"/>
              </a:spcBef>
            </a:pPr>
            <a:r>
              <a:rPr dirty="0" sz="1200" spc="-10">
                <a:latin typeface="Calibri"/>
                <a:cs typeface="Calibri"/>
              </a:rPr>
              <a:t>(prompt.toLowerCase().includes("code"))</a:t>
            </a:r>
            <a:r>
              <a:rPr dirty="0" sz="1200" spc="8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>
                <a:latin typeface="Calibri"/>
                <a:cs typeface="Calibri"/>
              </a:rPr>
              <a:t>output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`function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greet()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795"/>
              </a:spcBef>
            </a:pPr>
            <a:r>
              <a:rPr dirty="0" sz="1200" spc="-10">
                <a:latin typeface="Calibri"/>
                <a:cs typeface="Calibri"/>
              </a:rPr>
              <a:t>console.log("Hello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 </a:t>
            </a:r>
            <a:r>
              <a:rPr dirty="0" sz="1200" spc="-10">
                <a:latin typeface="Calibri"/>
                <a:cs typeface="Calibri"/>
              </a:rPr>
              <a:t>AI!");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1581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Calibri"/>
                <a:cs typeface="Calibri"/>
              </a:rPr>
              <a:t>}`;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336868" y="894333"/>
            <a:ext cx="3549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score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92860" y="1211326"/>
            <a:ext cx="3226435" cy="52870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9;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5080" indent="132080">
              <a:lnSpc>
                <a:spcPct val="173300"/>
              </a:lnSpc>
              <a:spcBef>
                <a:spcPts val="10"/>
              </a:spcBef>
            </a:pPr>
            <a:r>
              <a:rPr dirty="0" sz="1200">
                <a:latin typeface="Calibri"/>
                <a:cs typeface="Calibri"/>
              </a:rPr>
              <a:t>else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if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(prompt.toLowerCase().includes("cloud"))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>
                <a:latin typeface="Calibri"/>
                <a:cs typeface="Calibri"/>
              </a:rPr>
              <a:t>output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`AWS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EC2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Config:</a:t>
            </a:r>
            <a:endParaRPr sz="1200">
              <a:latin typeface="Calibri"/>
              <a:cs typeface="Calibri"/>
            </a:endParaRPr>
          </a:p>
          <a:p>
            <a:pPr marL="18415" marR="1929130" indent="-6350">
              <a:lnSpc>
                <a:spcPct val="173300"/>
              </a:lnSpc>
            </a:pPr>
            <a:r>
              <a:rPr dirty="0" sz="1200">
                <a:latin typeface="Calibri"/>
                <a:cs typeface="Calibri"/>
              </a:rPr>
              <a:t>-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Instance: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t2.micro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- </a:t>
            </a:r>
            <a:r>
              <a:rPr dirty="0" sz="1200">
                <a:latin typeface="Calibri"/>
                <a:cs typeface="Calibri"/>
              </a:rPr>
              <a:t>Region:</a:t>
            </a:r>
            <a:r>
              <a:rPr dirty="0" sz="1200" spc="-10">
                <a:latin typeface="Calibri"/>
                <a:cs typeface="Calibri"/>
              </a:rPr>
              <a:t> us-</a:t>
            </a:r>
            <a:r>
              <a:rPr dirty="0" sz="1200" spc="-25">
                <a:latin typeface="Calibri"/>
                <a:cs typeface="Calibri"/>
              </a:rPr>
              <a:t>east-1`;</a:t>
            </a:r>
            <a:endParaRPr sz="1200">
              <a:latin typeface="Calibri"/>
              <a:cs typeface="Calibri"/>
            </a:endParaRPr>
          </a:p>
          <a:p>
            <a:pPr marL="289560">
              <a:lnSpc>
                <a:spcPct val="100000"/>
              </a:lnSpc>
              <a:spcBef>
                <a:spcPts val="1060"/>
              </a:spcBef>
            </a:pPr>
            <a:r>
              <a:rPr dirty="0" sz="1200">
                <a:latin typeface="Calibri"/>
                <a:cs typeface="Calibri"/>
              </a:rPr>
              <a:t>score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8;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60"/>
              </a:spcBef>
            </a:pPr>
            <a:r>
              <a:rPr dirty="0" sz="1200">
                <a:latin typeface="Calibri"/>
                <a:cs typeface="Calibri"/>
              </a:rPr>
              <a:t>else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289560" marR="424815">
              <a:lnSpc>
                <a:spcPts val="2510"/>
              </a:lnSpc>
              <a:spcBef>
                <a:spcPts val="245"/>
              </a:spcBef>
            </a:pPr>
            <a:r>
              <a:rPr dirty="0" sz="1200">
                <a:latin typeface="Calibri"/>
                <a:cs typeface="Calibri"/>
              </a:rPr>
              <a:t>output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"Basic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AI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response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generated."; </a:t>
            </a:r>
            <a:r>
              <a:rPr dirty="0" sz="1200">
                <a:latin typeface="Calibri"/>
                <a:cs typeface="Calibri"/>
              </a:rPr>
              <a:t>score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5;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79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return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{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output,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score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};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module.exports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{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processPrompt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};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 b="1">
                <a:latin typeface="Calibri"/>
                <a:cs typeface="Calibri"/>
              </a:rPr>
              <a:t>OUTPUT: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4223130"/>
            <a:ext cx="5930265" cy="4669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 marR="5080" indent="-6350">
              <a:lnSpc>
                <a:spcPct val="114199"/>
              </a:lnSpc>
              <a:spcBef>
                <a:spcPts val="100"/>
              </a:spcBef>
            </a:pPr>
            <a:r>
              <a:rPr dirty="0" sz="1200" spc="-10" b="1">
                <a:latin typeface="Calibri"/>
                <a:cs typeface="Calibri"/>
              </a:rPr>
              <a:t>RESULT</a:t>
            </a:r>
            <a:r>
              <a:rPr dirty="0" sz="1200" spc="-10">
                <a:latin typeface="Calibri"/>
                <a:cs typeface="Calibri"/>
              </a:rPr>
              <a:t>: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prompt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engineering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application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successfully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developed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generate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evaluate AI-</a:t>
            </a:r>
            <a:r>
              <a:rPr dirty="0" sz="1200">
                <a:latin typeface="Calibri"/>
                <a:cs typeface="Calibri"/>
              </a:rPr>
              <a:t>based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outputs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code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cloud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configurations.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10" b="1">
                <a:latin typeface="Calibri"/>
                <a:cs typeface="Calibri"/>
              </a:rPr>
              <a:t>TASK24: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Vibe</a:t>
            </a:r>
            <a:r>
              <a:rPr dirty="0" sz="1200" spc="-5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Cloud</a:t>
            </a:r>
            <a:r>
              <a:rPr dirty="0" sz="1200" spc="-50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App</a:t>
            </a:r>
            <a:endParaRPr sz="1200">
              <a:latin typeface="Calibri"/>
              <a:cs typeface="Calibri"/>
            </a:endParaRPr>
          </a:p>
          <a:p>
            <a:pPr marL="18415" marR="10160" indent="-6350">
              <a:lnSpc>
                <a:spcPct val="114199"/>
              </a:lnSpc>
              <a:spcBef>
                <a:spcPts val="850"/>
              </a:spcBef>
            </a:pPr>
            <a:r>
              <a:rPr dirty="0" sz="1200" b="1">
                <a:latin typeface="Calibri"/>
                <a:cs typeface="Calibri"/>
              </a:rPr>
              <a:t>AIM: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spc="-6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develop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application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iterative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prompt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engineering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generate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evaluate </a:t>
            </a:r>
            <a:r>
              <a:rPr dirty="0" sz="1200">
                <a:latin typeface="Calibri"/>
                <a:cs typeface="Calibri"/>
              </a:rPr>
              <a:t>REST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APIs,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cloud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deployment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steps,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security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configurations.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 b="1">
                <a:latin typeface="Calibri"/>
                <a:cs typeface="Calibri"/>
              </a:rPr>
              <a:t>ALGORITHM: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Start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program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Create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project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(HTML,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CSS,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JS,</a:t>
            </a:r>
            <a:r>
              <a:rPr dirty="0" sz="1200" spc="-20">
                <a:latin typeface="Calibri"/>
                <a:cs typeface="Calibri"/>
              </a:rPr>
              <a:t> server.js,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db.js)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Design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UI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accept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prompts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Capture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prompt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input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JavaScript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Send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prompt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backend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fetch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API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65"/>
              </a:spcBef>
              <a:buAutoNum type="arabicPeriod"/>
              <a:tabLst>
                <a:tab pos="479425" algn="l"/>
              </a:tabLst>
            </a:pPr>
            <a:r>
              <a:rPr dirty="0" sz="1200" spc="-10">
                <a:latin typeface="Calibri"/>
                <a:cs typeface="Calibri"/>
              </a:rPr>
              <a:t>Receive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prompt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forward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processing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module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Store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prompt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history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version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tracking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479425" algn="l"/>
              </a:tabLst>
            </a:pPr>
            <a:r>
              <a:rPr dirty="0" sz="1200">
                <a:latin typeface="Calibri"/>
                <a:cs typeface="Calibri"/>
              </a:rPr>
              <a:t>Analyze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prompt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type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(REST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API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/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Cloud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/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Security)</a:t>
            </a:r>
            <a:endParaRPr sz="1200">
              <a:latin typeface="Calibri"/>
              <a:cs typeface="Calibri"/>
            </a:endParaRPr>
          </a:p>
          <a:p>
            <a:pPr marL="479425" indent="-229235">
              <a:lnSpc>
                <a:spcPct val="100000"/>
              </a:lnSpc>
              <a:spcBef>
                <a:spcPts val="1065"/>
              </a:spcBef>
              <a:buAutoNum type="arabicPeriod"/>
              <a:tabLst>
                <a:tab pos="479425" algn="l"/>
              </a:tabLst>
            </a:pPr>
            <a:r>
              <a:rPr dirty="0" sz="1200" spc="-10">
                <a:latin typeface="Calibri"/>
                <a:cs typeface="Calibri"/>
              </a:rPr>
              <a:t>Generate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corresponding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output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based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prompt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9960" y="914400"/>
            <a:ext cx="5943599" cy="3264535"/>
          </a:xfrm>
          <a:prstGeom prst="rect">
            <a:avLst/>
          </a:prstGeom>
        </p:spPr>
      </p:pic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4266565" cy="774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77520" indent="-227329">
              <a:lnSpc>
                <a:spcPct val="100000"/>
              </a:lnSpc>
              <a:spcBef>
                <a:spcPts val="100"/>
              </a:spcBef>
              <a:buAutoNum type="arabicPeriod" startAt="10"/>
              <a:tabLst>
                <a:tab pos="477520" algn="l"/>
              </a:tabLst>
            </a:pPr>
            <a:r>
              <a:rPr dirty="0" sz="1200" spc="-10">
                <a:latin typeface="Calibri"/>
                <a:cs typeface="Calibri"/>
              </a:rPr>
              <a:t>Evaluate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output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quality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assign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score</a:t>
            </a:r>
            <a:endParaRPr sz="1200">
              <a:latin typeface="Calibri"/>
              <a:cs typeface="Calibri"/>
            </a:endParaRPr>
          </a:p>
          <a:p>
            <a:pPr marL="477520" indent="-227329">
              <a:lnSpc>
                <a:spcPct val="100000"/>
              </a:lnSpc>
              <a:spcBef>
                <a:spcPts val="1065"/>
              </a:spcBef>
              <a:buAutoNum type="arabicPeriod" startAt="10"/>
              <a:tabLst>
                <a:tab pos="477520" algn="l"/>
              </a:tabLst>
            </a:pPr>
            <a:r>
              <a:rPr dirty="0" sz="1200">
                <a:latin typeface="Calibri"/>
                <a:cs typeface="Calibri"/>
              </a:rPr>
              <a:t>Return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output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score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frontend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display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results</a:t>
            </a:r>
            <a:endParaRPr sz="1200">
              <a:latin typeface="Calibri"/>
              <a:cs typeface="Calibri"/>
            </a:endParaRPr>
          </a:p>
          <a:p>
            <a:pPr marL="477520" indent="-227329">
              <a:lnSpc>
                <a:spcPct val="100000"/>
              </a:lnSpc>
              <a:spcBef>
                <a:spcPts val="1070"/>
              </a:spcBef>
              <a:buAutoNum type="arabicPeriod" startAt="10"/>
              <a:tabLst>
                <a:tab pos="477520" algn="l"/>
              </a:tabLst>
            </a:pPr>
            <a:r>
              <a:rPr dirty="0" sz="1200">
                <a:latin typeface="Calibri"/>
                <a:cs typeface="Calibri"/>
              </a:rPr>
              <a:t>Stop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program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 b="1">
                <a:latin typeface="Calibri"/>
                <a:cs typeface="Calibri"/>
              </a:rPr>
              <a:t>PROGRAM: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1200" spc="-10" b="1">
                <a:latin typeface="Calibri"/>
                <a:cs typeface="Calibri"/>
              </a:rPr>
              <a:t>INDEX.HTML: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&lt;!DOCTYPE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html&gt;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&lt;html&gt;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&lt;head&gt;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&lt;title&gt;Vibe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Coding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App&lt;/title&gt;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&lt;link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rel="stylesheet"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href="style.css"&gt;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&lt;/head&gt;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&lt;body&gt;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&lt;div </a:t>
            </a:r>
            <a:r>
              <a:rPr dirty="0" sz="1200" spc="-10">
                <a:latin typeface="Calibri"/>
                <a:cs typeface="Calibri"/>
              </a:rPr>
              <a:t>class="container"&gt;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&lt;h2&gt;Vibe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Coding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Cloud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Generator&lt;/h2&gt;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&lt;textarea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id="prompt"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placeholder="Enter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prompt..."&gt;&lt;/textarea&gt;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&lt;button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onclick="generate()"&gt;Generate&lt;/button&gt;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&lt;h3&gt;Output&lt;/h3&gt;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&lt;pre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id="output"&gt;&lt;/pre&gt;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&lt;h3&gt;Score&lt;/h3&gt;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65"/>
              </a:spcBef>
            </a:pPr>
            <a:r>
              <a:rPr dirty="0" sz="1200">
                <a:latin typeface="Calibri"/>
                <a:cs typeface="Calibri"/>
              </a:rPr>
              <a:t>&lt;p</a:t>
            </a:r>
            <a:r>
              <a:rPr dirty="0" sz="1200" spc="-10">
                <a:latin typeface="Calibri"/>
                <a:cs typeface="Calibri"/>
              </a:rPr>
              <a:t> id="score"&gt;&lt;/p&gt;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&lt;h3&gt;Prompt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Versions&lt;/h3&gt;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&lt;ul</a:t>
            </a:r>
            <a:r>
              <a:rPr dirty="0" sz="1200" spc="-10">
                <a:latin typeface="Calibri"/>
                <a:cs typeface="Calibri"/>
              </a:rPr>
              <a:t> id="history"&gt;&lt;/ul&gt;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&lt;/div&gt;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&lt;script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src="script.js"&gt;&lt;/script&gt;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&lt;/body&gt;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1570990" cy="52870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&lt;/html&gt;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STYLE.CSS: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body</a:t>
            </a:r>
            <a:endParaRPr sz="1200">
              <a:latin typeface="Calibri"/>
              <a:cs typeface="Calibri"/>
            </a:endParaRPr>
          </a:p>
          <a:p>
            <a:pPr marL="18415" marR="147955">
              <a:lnSpc>
                <a:spcPct val="173300"/>
              </a:lnSpc>
              <a:tabLst>
                <a:tab pos="239395" algn="l"/>
              </a:tabLst>
            </a:pP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20" b="1">
                <a:latin typeface="Calibri"/>
                <a:cs typeface="Calibri"/>
              </a:rPr>
              <a:t>f</a:t>
            </a:r>
            <a:r>
              <a:rPr dirty="0" sz="1200" spc="-20">
                <a:latin typeface="Calibri"/>
                <a:cs typeface="Calibri"/>
              </a:rPr>
              <a:t>ont-</a:t>
            </a:r>
            <a:r>
              <a:rPr dirty="0" sz="1200">
                <a:latin typeface="Calibri"/>
                <a:cs typeface="Calibri"/>
              </a:rPr>
              <a:t>family: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Arial; </a:t>
            </a:r>
            <a:r>
              <a:rPr dirty="0" sz="1200">
                <a:latin typeface="Calibri"/>
                <a:cs typeface="Calibri"/>
              </a:rPr>
              <a:t>background:</a:t>
            </a:r>
            <a:r>
              <a:rPr dirty="0" sz="1200" spc="-7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#b98bdb; </a:t>
            </a:r>
            <a:r>
              <a:rPr dirty="0" sz="1200">
                <a:latin typeface="Calibri"/>
                <a:cs typeface="Calibri"/>
              </a:rPr>
              <a:t>color: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white;</a:t>
            </a:r>
            <a:endParaRPr sz="1200">
              <a:latin typeface="Calibri"/>
              <a:cs typeface="Calibri"/>
            </a:endParaRPr>
          </a:p>
          <a:p>
            <a:pPr marL="18415" marR="74295">
              <a:lnSpc>
                <a:spcPct val="173300"/>
              </a:lnSpc>
              <a:tabLst>
                <a:tab pos="922019" algn="l"/>
                <a:tab pos="1147445" algn="l"/>
              </a:tabLst>
            </a:pPr>
            <a:r>
              <a:rPr dirty="0" sz="1200" spc="-10">
                <a:latin typeface="Calibri"/>
                <a:cs typeface="Calibri"/>
              </a:rPr>
              <a:t>display:flex;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justify- content:center;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align- items:center;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60"/>
              </a:spcBef>
            </a:pPr>
            <a:r>
              <a:rPr dirty="0" sz="1200" spc="-10">
                <a:latin typeface="Calibri"/>
                <a:cs typeface="Calibri"/>
              </a:rPr>
              <a:t>height:100vh;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452755" indent="-6350">
              <a:lnSpc>
                <a:spcPct val="173800"/>
              </a:lnSpc>
              <a:spcBef>
                <a:spcPts val="15"/>
              </a:spcBef>
            </a:pPr>
            <a:r>
              <a:rPr dirty="0" sz="1200">
                <a:latin typeface="Calibri"/>
                <a:cs typeface="Calibri"/>
              </a:rPr>
              <a:t>.container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 width: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400px; </a:t>
            </a:r>
            <a:r>
              <a:rPr dirty="0" sz="1200" spc="-25">
                <a:latin typeface="Calibri"/>
                <a:cs typeface="Calibri"/>
              </a:rPr>
              <a:t>text-</a:t>
            </a:r>
            <a:r>
              <a:rPr dirty="0" sz="1200">
                <a:latin typeface="Calibri"/>
                <a:cs typeface="Calibri"/>
              </a:rPr>
              <a:t>align: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center;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661035" indent="-6350">
              <a:lnSpc>
                <a:spcPct val="173400"/>
              </a:lnSpc>
              <a:spcBef>
                <a:spcPts val="10"/>
              </a:spcBef>
            </a:pPr>
            <a:r>
              <a:rPr dirty="0" sz="1200" spc="-10">
                <a:latin typeface="Calibri"/>
                <a:cs typeface="Calibri"/>
              </a:rPr>
              <a:t>textarea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>
                <a:latin typeface="Calibri"/>
                <a:cs typeface="Calibri"/>
              </a:rPr>
              <a:t>width: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100%; </a:t>
            </a:r>
            <a:r>
              <a:rPr dirty="0" sz="1200">
                <a:latin typeface="Calibri"/>
                <a:cs typeface="Calibri"/>
              </a:rPr>
              <a:t>height: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100px;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92860" y="6292977"/>
            <a:ext cx="5238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button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563369" y="6292977"/>
            <a:ext cx="5676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padding: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92860" y="6609968"/>
            <a:ext cx="1388745" cy="2113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  <a:tabLst>
                <a:tab pos="530225" algn="l"/>
              </a:tabLst>
            </a:pPr>
            <a:r>
              <a:rPr dirty="0" sz="1200" spc="-10">
                <a:latin typeface="Calibri"/>
                <a:cs typeface="Calibri"/>
              </a:rPr>
              <a:t>10px;</a:t>
            </a:r>
            <a:r>
              <a:rPr dirty="0" sz="1200">
                <a:latin typeface="Calibri"/>
                <a:cs typeface="Calibri"/>
              </a:rPr>
              <a:t>	margin: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10px;</a:t>
            </a:r>
            <a:endParaRPr sz="1200">
              <a:latin typeface="Calibri"/>
              <a:cs typeface="Calibri"/>
            </a:endParaRPr>
          </a:p>
          <a:p>
            <a:pPr marL="18415" marR="54610">
              <a:lnSpc>
                <a:spcPct val="173500"/>
              </a:lnSpc>
              <a:spcBef>
                <a:spcPts val="10"/>
              </a:spcBef>
            </a:pPr>
            <a:r>
              <a:rPr dirty="0" sz="1200">
                <a:latin typeface="Calibri"/>
                <a:cs typeface="Calibri"/>
              </a:rPr>
              <a:t>background:</a:t>
            </a:r>
            <a:r>
              <a:rPr dirty="0" sz="1200" spc="-7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#00c6ff; </a:t>
            </a:r>
            <a:r>
              <a:rPr dirty="0" sz="1200">
                <a:latin typeface="Calibri"/>
                <a:cs typeface="Calibri"/>
              </a:rPr>
              <a:t>border: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none;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134620" indent="-6350">
              <a:lnSpc>
                <a:spcPct val="173300"/>
              </a:lnSpc>
              <a:spcBef>
                <a:spcPts val="10"/>
              </a:spcBef>
              <a:tabLst>
                <a:tab pos="474345" algn="l"/>
                <a:tab pos="539750" algn="l"/>
              </a:tabLst>
            </a:pPr>
            <a:r>
              <a:rPr dirty="0" sz="1200">
                <a:latin typeface="Calibri"/>
                <a:cs typeface="Calibri"/>
              </a:rPr>
              <a:t>pre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background: #333;</a:t>
            </a:r>
            <a:r>
              <a:rPr dirty="0" sz="1200">
                <a:latin typeface="Calibri"/>
                <a:cs typeface="Calibri"/>
              </a:rPr>
              <a:t>		</a:t>
            </a:r>
            <a:r>
              <a:rPr dirty="0" sz="1200" spc="-10">
                <a:latin typeface="Calibri"/>
                <a:cs typeface="Calibri"/>
              </a:rPr>
              <a:t>padding: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60"/>
              </a:spcBef>
            </a:pPr>
            <a:r>
              <a:rPr dirty="0" sz="1200" spc="-10">
                <a:latin typeface="Calibri"/>
                <a:cs typeface="Calibri"/>
              </a:rPr>
              <a:t>10px;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1513840" cy="17932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}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li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background: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#444;</a:t>
            </a:r>
            <a:endParaRPr sz="1200">
              <a:latin typeface="Calibri"/>
              <a:cs typeface="Calibri"/>
            </a:endParaRPr>
          </a:p>
          <a:p>
            <a:pPr marL="18415" marR="5080">
              <a:lnSpc>
                <a:spcPct val="173300"/>
              </a:lnSpc>
              <a:tabLst>
                <a:tab pos="960119" algn="l"/>
              </a:tabLst>
            </a:pPr>
            <a:r>
              <a:rPr dirty="0" sz="1200">
                <a:latin typeface="Calibri"/>
                <a:cs typeface="Calibri"/>
              </a:rPr>
              <a:t>margin: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5px;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padding: </a:t>
            </a:r>
            <a:r>
              <a:rPr dirty="0" sz="1200" spc="-20">
                <a:latin typeface="Calibri"/>
                <a:cs typeface="Calibri"/>
              </a:rPr>
              <a:t>5px;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92860" y="3115182"/>
            <a:ext cx="2762250" cy="1476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Calibri"/>
                <a:cs typeface="Calibri"/>
              </a:rPr>
              <a:t>SCRIPT.JS:</a:t>
            </a:r>
            <a:endParaRPr sz="1200">
              <a:latin typeface="Calibri"/>
              <a:cs typeface="Calibri"/>
            </a:endParaRPr>
          </a:p>
          <a:p>
            <a:pPr marL="18415" marR="5080" indent="-6350">
              <a:lnSpc>
                <a:spcPct val="173300"/>
              </a:lnSpc>
              <a:tabLst>
                <a:tab pos="1461770" algn="l"/>
                <a:tab pos="1535430" algn="l"/>
              </a:tabLst>
            </a:pP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generate()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const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prompt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document.getElementById("prompt").value; fetch("/generate",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	method: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"POST",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{"Content-Type":"application/json"},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773551" y="4066159"/>
            <a:ext cx="5619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headers: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92860" y="4809871"/>
            <a:ext cx="4148454" cy="27527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829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body:</a:t>
            </a:r>
            <a:r>
              <a:rPr dirty="0" sz="1200" spc="-10">
                <a:latin typeface="Calibri"/>
                <a:cs typeface="Calibri"/>
              </a:rPr>
              <a:t> JSON.stringify({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prompt </a:t>
            </a: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 spc="-25">
                <a:latin typeface="Calibri"/>
                <a:cs typeface="Calibri"/>
              </a:rPr>
              <a:t>})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65"/>
              </a:spcBef>
              <a:tabLst>
                <a:tab pos="1719580" algn="l"/>
              </a:tabLst>
            </a:pPr>
            <a:r>
              <a:rPr dirty="0" sz="1200" spc="-10">
                <a:latin typeface="Calibri"/>
                <a:cs typeface="Calibri"/>
              </a:rPr>
              <a:t>.then(res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res.json())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.then(data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8415" marR="5080">
              <a:lnSpc>
                <a:spcPct val="173300"/>
              </a:lnSpc>
            </a:pPr>
            <a:r>
              <a:rPr dirty="0" sz="1200" spc="-10">
                <a:latin typeface="Calibri"/>
                <a:cs typeface="Calibri"/>
              </a:rPr>
              <a:t>document.getElementById("output").innerText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data.output; document.getElementById("score").innerText</a:t>
            </a:r>
            <a:r>
              <a:rPr dirty="0" sz="1200">
                <a:latin typeface="Calibri"/>
                <a:cs typeface="Calibri"/>
              </a:rPr>
              <a:t> =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data.score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+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"/10";</a:t>
            </a:r>
            <a:endParaRPr sz="1200">
              <a:latin typeface="Calibri"/>
              <a:cs typeface="Calibri"/>
            </a:endParaRPr>
          </a:p>
          <a:p>
            <a:pPr marL="289560">
              <a:lnSpc>
                <a:spcPct val="100000"/>
              </a:lnSpc>
              <a:spcBef>
                <a:spcPts val="1060"/>
              </a:spcBef>
            </a:pPr>
            <a:r>
              <a:rPr dirty="0" sz="1200" spc="-10">
                <a:latin typeface="Calibri"/>
                <a:cs typeface="Calibri"/>
              </a:rPr>
              <a:t>loadHistory();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65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latin typeface="Calibri"/>
                <a:cs typeface="Calibri"/>
              </a:rPr>
              <a:t>function </a:t>
            </a:r>
            <a:r>
              <a:rPr dirty="0" sz="1200" spc="-10">
                <a:latin typeface="Calibri"/>
                <a:cs typeface="Calibri"/>
              </a:rPr>
              <a:t>loadHistory()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98956" y="7671054"/>
            <a:ext cx="2919730" cy="1476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fetch("/history")</a:t>
            </a:r>
            <a:endParaRPr sz="1200">
              <a:latin typeface="Calibri"/>
              <a:cs typeface="Calibri"/>
            </a:endParaRPr>
          </a:p>
          <a:p>
            <a:pPr marL="12700" marR="245110" indent="132080">
              <a:lnSpc>
                <a:spcPct val="173300"/>
              </a:lnSpc>
              <a:tabLst>
                <a:tab pos="1713230" algn="l"/>
              </a:tabLst>
            </a:pPr>
            <a:r>
              <a:rPr dirty="0" sz="1200" spc="-10">
                <a:latin typeface="Calibri"/>
                <a:cs typeface="Calibri"/>
              </a:rPr>
              <a:t>.then(res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res.json())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.then(data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>
                <a:latin typeface="Calibri"/>
                <a:cs typeface="Calibri"/>
              </a:rPr>
              <a:t>list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document.getElementById("history");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73300"/>
              </a:lnSpc>
              <a:tabLst>
                <a:tab pos="1535430" algn="l"/>
              </a:tabLst>
            </a:pPr>
            <a:r>
              <a:rPr dirty="0" sz="1200" spc="-10">
                <a:latin typeface="Calibri"/>
                <a:cs typeface="Calibri"/>
              </a:rPr>
              <a:t>list.innerHTML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"";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data.forEach((p, </a:t>
            </a:r>
            <a:r>
              <a:rPr dirty="0" sz="1200">
                <a:latin typeface="Calibri"/>
                <a:cs typeface="Calibri"/>
              </a:rPr>
              <a:t>i)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>
                <a:latin typeface="Calibri"/>
                <a:cs typeface="Calibri"/>
              </a:rPr>
              <a:t>let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document.createElement("li");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820795" y="7988045"/>
            <a:ext cx="1866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Calibri"/>
                <a:cs typeface="Calibri"/>
              </a:rPr>
              <a:t>let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860" y="894333"/>
            <a:ext cx="2877820" cy="3496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latin typeface="Calibri"/>
                <a:cs typeface="Calibri"/>
              </a:rPr>
              <a:t>li.innerText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`v${i+1}: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${p.prompt}`;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list.appendChild(li);</a:t>
            </a:r>
            <a:endParaRPr sz="1200">
              <a:latin typeface="Calibri"/>
              <a:cs typeface="Calibri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>
                <a:latin typeface="Calibri"/>
                <a:cs typeface="Calibri"/>
              </a:rPr>
              <a:t>loadHistory();</a:t>
            </a:r>
            <a:endParaRPr sz="1200">
              <a:latin typeface="Calibri"/>
              <a:cs typeface="Calibri"/>
            </a:endParaRPr>
          </a:p>
          <a:p>
            <a:pPr marL="18415" marR="1007744" indent="-6350">
              <a:lnSpc>
                <a:spcPct val="173400"/>
              </a:lnSpc>
              <a:spcBef>
                <a:spcPts val="25"/>
              </a:spcBef>
            </a:pPr>
            <a:r>
              <a:rPr dirty="0" sz="1200" b="1">
                <a:latin typeface="Calibri"/>
                <a:cs typeface="Calibri"/>
              </a:rPr>
              <a:t>SERVER.JS: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express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require("express");</a:t>
            </a:r>
            <a:r>
              <a:rPr dirty="0" sz="1200">
                <a:latin typeface="Calibri"/>
                <a:cs typeface="Calibri"/>
              </a:rPr>
              <a:t> const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db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 </a:t>
            </a:r>
            <a:r>
              <a:rPr dirty="0" sz="1200" spc="-10">
                <a:latin typeface="Calibri"/>
                <a:cs typeface="Calibri"/>
              </a:rPr>
              <a:t>require("./db");</a:t>
            </a:r>
            <a:endParaRPr sz="1200">
              <a:latin typeface="Calibri"/>
              <a:cs typeface="Calibri"/>
            </a:endParaRPr>
          </a:p>
          <a:p>
            <a:pPr marL="18415" marR="5080" indent="-6350">
              <a:lnSpc>
                <a:spcPct val="173300"/>
              </a:lnSpc>
              <a:spcBef>
                <a:spcPts val="860"/>
              </a:spcBef>
            </a:pPr>
            <a:r>
              <a:rPr dirty="0" sz="1200">
                <a:latin typeface="Calibri"/>
                <a:cs typeface="Calibri"/>
              </a:rPr>
              <a:t>const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express();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app.use(express.json()); </a:t>
            </a:r>
            <a:r>
              <a:rPr dirty="0" sz="1200">
                <a:latin typeface="Calibri"/>
                <a:cs typeface="Calibri"/>
              </a:rPr>
              <a:t>app.use(express.static(</a:t>
            </a:r>
            <a:r>
              <a:rPr dirty="0" u="sng" sz="1200" spc="1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1200" spc="-10">
                <a:latin typeface="Calibri"/>
                <a:cs typeface="Calibri"/>
              </a:rPr>
              <a:t>dirname));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98956" y="4498975"/>
            <a:ext cx="22396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app.post("/generate",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(req,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res)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287395" y="4498975"/>
            <a:ext cx="3587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const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92860" y="4815966"/>
            <a:ext cx="4055110" cy="43224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result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db.process(req.body.prompt);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res.json(result);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8415" marR="2011045" indent="-6350">
              <a:lnSpc>
                <a:spcPts val="2510"/>
              </a:lnSpc>
              <a:spcBef>
                <a:spcPts val="250"/>
              </a:spcBef>
            </a:pPr>
            <a:r>
              <a:rPr dirty="0" sz="1200" spc="-10">
                <a:latin typeface="Calibri"/>
                <a:cs typeface="Calibri"/>
              </a:rPr>
              <a:t>app.get("/history",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(req, res)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 spc="-10">
                <a:latin typeface="Calibri"/>
                <a:cs typeface="Calibri"/>
              </a:rPr>
              <a:t>res.json(db.getHistory());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8415" marR="1659255" indent="-6350">
              <a:lnSpc>
                <a:spcPct val="169200"/>
              </a:lnSpc>
              <a:spcBef>
                <a:spcPts val="75"/>
              </a:spcBef>
              <a:tabLst>
                <a:tab pos="1579245" algn="l"/>
              </a:tabLst>
            </a:pPr>
            <a:r>
              <a:rPr dirty="0" sz="1200" spc="-10">
                <a:latin typeface="Calibri"/>
                <a:cs typeface="Calibri"/>
              </a:rPr>
              <a:t>app.listen(3000,</a:t>
            </a:r>
            <a:r>
              <a:rPr dirty="0" sz="1200">
                <a:latin typeface="Calibri"/>
                <a:cs typeface="Calibri"/>
              </a:rPr>
              <a:t> ()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=&gt;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console.log(" </a:t>
            </a:r>
            <a:r>
              <a:rPr dirty="0" sz="1200" spc="-10">
                <a:latin typeface="Calibri"/>
                <a:cs typeface="Calibri"/>
                <a:hlinkClick r:id="rId2"/>
              </a:rPr>
              <a:t>http://localhost:3000</a:t>
            </a:r>
            <a:r>
              <a:rPr dirty="0" sz="1200" spc="-10">
                <a:latin typeface="Calibri"/>
                <a:cs typeface="Calibri"/>
              </a:rPr>
              <a:t>");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dirty="0" sz="1200" spc="-25">
                <a:latin typeface="Calibri"/>
                <a:cs typeface="Calibri"/>
              </a:rPr>
              <a:t>});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 spc="-10" b="1">
                <a:latin typeface="Calibri"/>
                <a:cs typeface="Calibri"/>
              </a:rPr>
              <a:t>DB.JS:</a:t>
            </a:r>
            <a:endParaRPr sz="1200">
              <a:latin typeface="Calibri"/>
              <a:cs typeface="Calibri"/>
            </a:endParaRPr>
          </a:p>
          <a:p>
            <a:pPr marL="18415" marR="5080" indent="-6350">
              <a:lnSpc>
                <a:spcPct val="173300"/>
              </a:lnSpc>
              <a:tabLst>
                <a:tab pos="784860" algn="l"/>
                <a:tab pos="2473960" algn="l"/>
                <a:tab pos="2781935" algn="l"/>
                <a:tab pos="3881120" algn="l"/>
              </a:tabLst>
            </a:pPr>
            <a:r>
              <a:rPr dirty="0" sz="1200">
                <a:latin typeface="Calibri"/>
                <a:cs typeface="Calibri"/>
              </a:rPr>
              <a:t>let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history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[];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process(prompt)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let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output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"";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25">
                <a:latin typeface="Calibri"/>
                <a:cs typeface="Calibri"/>
              </a:rPr>
              <a:t>let </a:t>
            </a:r>
            <a:r>
              <a:rPr dirty="0" sz="1200">
                <a:latin typeface="Calibri"/>
                <a:cs typeface="Calibri"/>
              </a:rPr>
              <a:t>score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5;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history.push({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prompt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});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25">
                <a:latin typeface="Calibri"/>
                <a:cs typeface="Calibri"/>
              </a:rPr>
              <a:t>if</a:t>
            </a:r>
            <a:endParaRPr sz="1200">
              <a:latin typeface="Calibri"/>
              <a:cs typeface="Calibri"/>
            </a:endParaRPr>
          </a:p>
          <a:p>
            <a:pPr marL="18415" marR="541655">
              <a:lnSpc>
                <a:spcPct val="173300"/>
              </a:lnSpc>
              <a:tabLst>
                <a:tab pos="2030730" algn="l"/>
                <a:tab pos="2579370" algn="l"/>
              </a:tabLst>
            </a:pPr>
            <a:r>
              <a:rPr dirty="0" sz="1200" spc="-10">
                <a:latin typeface="Calibri"/>
                <a:cs typeface="Calibri"/>
              </a:rPr>
              <a:t>(prompt.includes("REST"))</a:t>
            </a:r>
            <a:r>
              <a:rPr dirty="0" sz="1200" spc="8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r>
              <a:rPr dirty="0" sz="1200">
                <a:latin typeface="Calibri"/>
                <a:cs typeface="Calibri"/>
              </a:rPr>
              <a:t>	output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10">
                <a:latin typeface="Calibri"/>
                <a:cs typeface="Calibri"/>
              </a:rPr>
              <a:t> `app.get('/api', (req,res)=&gt;res.send('API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running'));`;</a:t>
            </a:r>
            <a:r>
              <a:rPr dirty="0" sz="1200">
                <a:latin typeface="Calibri"/>
                <a:cs typeface="Calibri"/>
              </a:rPr>
              <a:t>	score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7;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8956" y="894333"/>
            <a:ext cx="2293620" cy="21151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478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 marR="5080" indent="132080">
              <a:lnSpc>
                <a:spcPct val="173300"/>
              </a:lnSpc>
              <a:spcBef>
                <a:spcPts val="10"/>
              </a:spcBef>
            </a:pPr>
            <a:r>
              <a:rPr dirty="0" sz="1200">
                <a:latin typeface="Calibri"/>
                <a:cs typeface="Calibri"/>
              </a:rPr>
              <a:t>else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if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(prompt.includes("cloud"))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>
                <a:latin typeface="Calibri"/>
                <a:cs typeface="Calibri"/>
              </a:rPr>
              <a:t>output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`Deploy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AWS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EC2:</a:t>
            </a:r>
            <a:endParaRPr sz="1200">
              <a:latin typeface="Calibri"/>
              <a:cs typeface="Calibri"/>
            </a:endParaRPr>
          </a:p>
          <a:p>
            <a:pPr marL="165735" indent="-150495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165735" algn="l"/>
              </a:tabLst>
            </a:pPr>
            <a:r>
              <a:rPr dirty="0" sz="1200">
                <a:latin typeface="Calibri"/>
                <a:cs typeface="Calibri"/>
              </a:rPr>
              <a:t>Launch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instance</a:t>
            </a:r>
            <a:endParaRPr sz="1200">
              <a:latin typeface="Calibri"/>
              <a:cs typeface="Calibri"/>
            </a:endParaRPr>
          </a:p>
          <a:p>
            <a:pPr marL="165735" indent="-15049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165735" algn="l"/>
              </a:tabLst>
            </a:pPr>
            <a:r>
              <a:rPr dirty="0" sz="1200">
                <a:latin typeface="Calibri"/>
                <a:cs typeface="Calibri"/>
              </a:rPr>
              <a:t>Install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Node.js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3.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Run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app`;</a:t>
            </a:r>
            <a:endParaRPr sz="1200">
              <a:latin typeface="Calibri"/>
              <a:cs typeface="Calibri"/>
            </a:endParaRPr>
          </a:p>
          <a:p>
            <a:pPr marL="283845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score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8;</a:t>
            </a:r>
            <a:endParaRPr sz="1200">
              <a:latin typeface="Calibri"/>
              <a:cs typeface="Calibri"/>
            </a:endParaRPr>
          </a:p>
          <a:p>
            <a:pPr marL="144780">
              <a:lnSpc>
                <a:spcPct val="100000"/>
              </a:lnSpc>
              <a:spcBef>
                <a:spcPts val="107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031544" y="3119755"/>
            <a:ext cx="23088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else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if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(prompt.includes("security"))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628771" y="3119755"/>
            <a:ext cx="13366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output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`Use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HTTPS,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92860" y="3436746"/>
            <a:ext cx="3135630" cy="3066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JWT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authentication,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firewall</a:t>
            </a:r>
            <a:r>
              <a:rPr dirty="0" sz="1200" spc="-10">
                <a:latin typeface="Calibri"/>
                <a:cs typeface="Calibri"/>
              </a:rPr>
              <a:t> rules`;</a:t>
            </a:r>
            <a:endParaRPr sz="1200">
              <a:latin typeface="Calibri"/>
              <a:cs typeface="Calibri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dirty="0" sz="1200">
                <a:latin typeface="Calibri"/>
                <a:cs typeface="Calibri"/>
              </a:rPr>
              <a:t>score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9;</a:t>
            </a:r>
            <a:endParaRPr sz="12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1070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689610" indent="132080">
              <a:lnSpc>
                <a:spcPct val="173300"/>
              </a:lnSpc>
              <a:spcBef>
                <a:spcPts val="10"/>
              </a:spcBef>
            </a:pPr>
            <a:r>
              <a:rPr dirty="0" sz="1200">
                <a:latin typeface="Calibri"/>
                <a:cs typeface="Calibri"/>
              </a:rPr>
              <a:t>score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+=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Math.min(history.length,</a:t>
            </a:r>
            <a:r>
              <a:rPr dirty="0" sz="1200" spc="-25">
                <a:latin typeface="Calibri"/>
                <a:cs typeface="Calibri"/>
              </a:rPr>
              <a:t> 2); </a:t>
            </a:r>
            <a:r>
              <a:rPr dirty="0" sz="1200">
                <a:latin typeface="Calibri"/>
                <a:cs typeface="Calibri"/>
              </a:rPr>
              <a:t>return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{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output,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score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};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8415" marR="1753870" indent="-6350">
              <a:lnSpc>
                <a:spcPct val="173300"/>
              </a:lnSpc>
              <a:spcBef>
                <a:spcPts val="15"/>
              </a:spcBef>
            </a:pPr>
            <a:r>
              <a:rPr dirty="0" sz="1200">
                <a:latin typeface="Calibri"/>
                <a:cs typeface="Calibri"/>
              </a:rPr>
              <a:t>function </a:t>
            </a:r>
            <a:r>
              <a:rPr dirty="0" sz="1200" spc="-10">
                <a:latin typeface="Calibri"/>
                <a:cs typeface="Calibri"/>
              </a:rPr>
              <a:t>getHistory() </a:t>
            </a:r>
            <a:r>
              <a:rPr dirty="0" sz="1200" spc="-50">
                <a:latin typeface="Calibri"/>
                <a:cs typeface="Calibri"/>
              </a:rPr>
              <a:t>{ </a:t>
            </a:r>
            <a:r>
              <a:rPr dirty="0" sz="1200">
                <a:latin typeface="Calibri"/>
                <a:cs typeface="Calibri"/>
              </a:rPr>
              <a:t>return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history;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5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200" spc="-10">
                <a:latin typeface="Calibri"/>
                <a:cs typeface="Calibri"/>
              </a:rPr>
              <a:t>module.exports </a:t>
            </a:r>
            <a:r>
              <a:rPr dirty="0" sz="1200">
                <a:latin typeface="Calibri"/>
                <a:cs typeface="Calibri"/>
              </a:rPr>
              <a:t>= {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process,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getHistory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};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OUTPUT: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92860" y="8669223"/>
            <a:ext cx="6005830" cy="440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 marR="5080" indent="-6350">
              <a:lnSpc>
                <a:spcPct val="113300"/>
              </a:lnSpc>
              <a:spcBef>
                <a:spcPts val="100"/>
              </a:spcBef>
            </a:pPr>
            <a:r>
              <a:rPr dirty="0" sz="1200" spc="-25" b="1">
                <a:latin typeface="Calibri"/>
                <a:cs typeface="Calibri"/>
              </a:rPr>
              <a:t>RESULT: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Vibe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Coding</a:t>
            </a:r>
            <a:r>
              <a:rPr dirty="0" sz="1200" spc="-10">
                <a:latin typeface="Calibri"/>
                <a:cs typeface="Calibri"/>
              </a:rPr>
              <a:t> application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was</a:t>
            </a:r>
            <a:r>
              <a:rPr dirty="0" sz="1200" spc="-10">
                <a:latin typeface="Calibri"/>
                <a:cs typeface="Calibri"/>
              </a:rPr>
              <a:t> successfully developed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generate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refine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cloudbased features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iterative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prompt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engineering.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4405" y="6632447"/>
            <a:ext cx="5003800" cy="1989963"/>
          </a:xfrm>
          <a:prstGeom prst="rect">
            <a:avLst/>
          </a:prstGeom>
        </p:spPr>
      </p:pic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arava bhaskar reddy</dc:creator>
  <dcterms:created xsi:type="dcterms:W3CDTF">2026-05-06T08:46:30Z</dcterms:created>
  <dcterms:modified xsi:type="dcterms:W3CDTF">2026-05-06T08:46:30Z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2026-05-06T00:00:00Z</vt:filetime>
  </property>
  <property fmtid="{D5CDD505-2E9C-101B-9397-08002B2CF9AE}" pid="3" name="Creator">
    <vt:lpwstr>Microsoft® Word 2021</vt:lpwstr>
  </property>
  <property fmtid="{D5CDD505-2E9C-101B-9397-08002B2CF9AE}" pid="4" name="LastSaved">
    <vt:filetime>2026-05-06T00:00:00Z</vt:filetime>
  </property>
  <property fmtid="{D5CDD505-2E9C-101B-9397-08002B2CF9AE}" pid="5" name="Producer">
    <vt:lpwstr>Microsoft® Word 2021</vt:lpwstr>
  </property>
</Properties>
</file>