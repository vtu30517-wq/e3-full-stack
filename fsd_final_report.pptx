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74" r:id="rId10"/>
    <p:sldId id="264" r:id="rId11"/>
    <p:sldId id="266" r:id="rId12"/>
    <p:sldId id="269" r:id="rId13"/>
    <p:sldId id="267" r:id="rId14"/>
    <p:sldId id="268" r:id="rId15"/>
    <p:sldId id="272" r:id="rId16"/>
    <p:sldId id="271" r:id="rId17"/>
    <p:sldId id="273" r:id="rId18"/>
    <p:sldId id="270" r:id="rId19"/>
    <p:sldId id="265" r:id="rId20"/>
  </p:sldIdLst>
  <p:sldSz cx="18288000" cy="10287000"/>
  <p:notesSz cx="6858000" cy="9144000"/>
  <p:embeddedFontLst>
    <p:embeddedFont>
      <p:font typeface="Bookman Old Style" panose="02050604050505020204" pitchFamily="18" charset="0"/>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Cambria" panose="02040503050406030204" pitchFamily="18" charset="0"/>
      <p:regular r:id="rId29"/>
      <p:bold r:id="rId30"/>
      <p:italic r:id="rId31"/>
      <p:boldItalic r:id="rId32"/>
    </p:embeddedFont>
    <p:embeddedFont>
      <p:font typeface="Gotham" panose="020B0604020202020204" charset="0"/>
      <p:regular r:id="rId33"/>
    </p:embeddedFont>
    <p:embeddedFont>
      <p:font typeface="Gotham Bold Italics" panose="020B0604020202020204" charset="0"/>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9" d="100"/>
          <a:sy n="39" d="100"/>
        </p:scale>
        <p:origin x="696" y="88"/>
      </p:cViewPr>
      <p:guideLst>
        <p:guide orient="horz" pos="2092"/>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1981065" y="6057900"/>
            <a:ext cx="15784162" cy="58356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sym typeface="+mn-ea"/>
              </a:rPr>
              <a:t>S</a:t>
            </a:r>
            <a:r>
              <a:rPr lang="en-IN" altLang="en-US" sz="3200" b="1" dirty="0">
                <a:solidFill>
                  <a:srgbClr val="0033CC"/>
                </a:solidFill>
                <a:latin typeface="Times New Roman" panose="02020603050405020304" pitchFamily="18" charset="0"/>
                <a:cs typeface="Times New Roman" panose="02020603050405020304" pitchFamily="18" charset="0"/>
                <a:sym typeface="+mn-ea"/>
              </a:rPr>
              <a:t>m</a:t>
            </a:r>
            <a:r>
              <a:rPr lang="en-US" sz="3200" b="1" dirty="0">
                <a:solidFill>
                  <a:srgbClr val="0033CC"/>
                </a:solidFill>
                <a:latin typeface="Times New Roman" panose="02020603050405020304" pitchFamily="18" charset="0"/>
                <a:cs typeface="Times New Roman" panose="02020603050405020304" pitchFamily="18" charset="0"/>
                <a:sym typeface="+mn-ea"/>
              </a:rPr>
              <a:t>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IN" sz="3000" dirty="0">
                <a:latin typeface="Cambria" panose="02040503050406030204" pitchFamily="18" charset="0"/>
                <a:ea typeface="Cambria" panose="02040503050406030204" pitchFamily="18" charset="0"/>
              </a:rPr>
              <a:t>MINCHALA BHANU PRAKASH</a:t>
            </a:r>
            <a:r>
              <a:rPr lang="en-US" sz="3000" dirty="0">
                <a:latin typeface="Cambria" panose="02040503050406030204" pitchFamily="18" charset="0"/>
                <a:ea typeface="Cambria" panose="02040503050406030204" pitchFamily="18" charset="0"/>
              </a:rPr>
              <a:t> – VTU</a:t>
            </a:r>
            <a:r>
              <a:rPr lang="en-IN" sz="3000" dirty="0">
                <a:latin typeface="Cambria" panose="02040503050406030204" pitchFamily="18" charset="0"/>
                <a:ea typeface="Cambria" panose="02040503050406030204" pitchFamily="18" charset="0"/>
              </a:rPr>
              <a:t>29722</a:t>
            </a:r>
            <a:r>
              <a:rPr lang="en-US" sz="3000" dirty="0">
                <a:latin typeface="Cambria" panose="02040503050406030204" pitchFamily="18" charset="0"/>
                <a:ea typeface="Cambria" panose="02040503050406030204" pitchFamily="18" charset="0"/>
              </a:rPr>
              <a:t> – </a:t>
            </a:r>
            <a:r>
              <a:rPr lang="en-IN" altLang="en-US" sz="3000" dirty="0">
                <a:latin typeface="Cambria" panose="02040503050406030204" pitchFamily="18" charset="0"/>
                <a:ea typeface="Cambria" panose="02040503050406030204" pitchFamily="18" charset="0"/>
              </a:rPr>
              <a:t>23UECS2049</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000" dirty="0" err="1">
                <a:sym typeface="+mn-ea"/>
              </a:rPr>
              <a:t>Dr.</a:t>
            </a:r>
            <a:r>
              <a:rPr lang="en-IN" sz="3000" dirty="0">
                <a:sym typeface="+mn-ea"/>
              </a:rPr>
              <a:t> </a:t>
            </a:r>
            <a:r>
              <a:rPr lang="en-IN" sz="3000" dirty="0" err="1">
                <a:sym typeface="+mn-ea"/>
              </a:rPr>
              <a:t>C.M.Chidambaranathan</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sym typeface="+mn-ea"/>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3969385"/>
          </a:xfrm>
          <a:prstGeom prst="rect">
            <a:avLst/>
          </a:prstGeom>
          <a:noFill/>
        </p:spPr>
        <p:txBody>
          <a:bodyPr wrap="square" rtlCol="0">
            <a:spAutoFit/>
          </a:bodyPr>
          <a:lstStyle/>
          <a:p>
            <a:pPr marL="457200" indent="-457200">
              <a:buFont typeface="Arial" panose="020B0604020202020204" pitchFamily="34" charset="0"/>
              <a:buChar char="•"/>
            </a:pPr>
            <a:r>
              <a:rPr lang="en-US" sz="2800" dirty="0">
                <a:sym typeface="+mn-ea"/>
              </a:rPr>
              <a:t>-</a:t>
            </a:r>
            <a:r>
              <a:rPr lang="en-US" sz="2800" dirty="0">
                <a:latin typeface="Times New Roman" panose="02020603050405020304" pitchFamily="18" charset="0"/>
                <a:cs typeface="Times New Roman" panose="02020603050405020304" pitchFamily="18" charset="0"/>
                <a:sym typeface="+mn-ea"/>
              </a:rPr>
              <a:t>The </a:t>
            </a:r>
            <a:r>
              <a:rPr lang="en-US" sz="2800" b="1" dirty="0">
                <a:latin typeface="Times New Roman" panose="02020603050405020304" pitchFamily="18" charset="0"/>
                <a:cs typeface="Times New Roman" panose="02020603050405020304" pitchFamily="18" charset="0"/>
                <a:sym typeface="+mn-ea"/>
              </a:rPr>
              <a:t>Smart Campus Event Management System</a:t>
            </a:r>
            <a:r>
              <a:rPr lang="en-US" sz="2800" dirty="0">
                <a:latin typeface="Times New Roman" panose="02020603050405020304" pitchFamily="18" charset="0"/>
                <a:cs typeface="Times New Roman" panose="02020603050405020304" pitchFamily="18" charset="0"/>
                <a:sym typeface="+mn-ea"/>
              </a:rPr>
              <a:t> is designed to manage campus events and student registrations through a centralized digital platform.</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It reduces manual work and minimizes errors in handling event-related data.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Students can easily view available events and register online without any hassle.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Event organizers can efficiently create, update, and manage events in real time.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The system improves communication between students and organizers.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It provides a complete solution for event planning, registration, and participation tracking.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Overall, it ensures a smooth, fast, and user-friendly campus event management process. </a:t>
            </a:r>
          </a:p>
          <a:p>
            <a:pPr marL="457200" indent="-457200">
              <a:buFontTx/>
              <a:buChar char="-"/>
            </a:pP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209800" y="2341245"/>
            <a:ext cx="15082520" cy="4335780"/>
          </a:xfrm>
          <a:prstGeom prst="rect">
            <a:avLst/>
          </a:prstGeom>
          <a:noFill/>
        </p:spPr>
        <p:txBody>
          <a:bodyPr wrap="square" rtlCol="0">
            <a:noAutofit/>
          </a:bodyPr>
          <a:lstStyle/>
          <a:p>
            <a:pPr marL="457200" indent="-457200">
              <a:buFontTx/>
              <a:buChar char="-"/>
            </a:pPr>
            <a:r>
              <a:rPr lang="en-GB" sz="2800" dirty="0">
                <a:sym typeface="+mn-ea"/>
              </a:rPr>
              <a:t>Right now, most colleges handle event registrations manually. They use paper forms, put up notices on bulletin boards, or send out long, confusing emails. This old way of doing things causes many problems:</a:t>
            </a:r>
          </a:p>
          <a:p>
            <a:pPr marL="457200" indent="-457200">
              <a:buFontTx/>
              <a:buChar char="-"/>
            </a:pPr>
            <a:r>
              <a:rPr lang="en-GB" sz="2800" b="1" dirty="0">
                <a:sym typeface="+mn-ea"/>
              </a:rPr>
              <a:t>Wasted Time: </a:t>
            </a:r>
            <a:r>
              <a:rPr lang="en-GB" sz="2800" dirty="0">
                <a:sym typeface="+mn-ea"/>
              </a:rPr>
              <a:t>Staff members spend hours collecting paper forms and typing data into Excel sheets.</a:t>
            </a:r>
          </a:p>
          <a:p>
            <a:pPr marL="457200" indent="-457200">
              <a:buFontTx/>
              <a:buChar char="-"/>
            </a:pPr>
            <a:r>
              <a:rPr lang="en-GB" sz="2800" b="1" dirty="0">
                <a:sym typeface="+mn-ea"/>
              </a:rPr>
              <a:t>Lost Information: </a:t>
            </a:r>
            <a:r>
              <a:rPr lang="en-GB" sz="2800" dirty="0">
                <a:sym typeface="+mn-ea"/>
              </a:rPr>
              <a:t>Paper forms can get lost easily, and manual data entry often leads to mistakes like spelling a student's name wrong.</a:t>
            </a:r>
          </a:p>
          <a:p>
            <a:pPr marL="457200" indent="-457200">
              <a:buFontTx/>
              <a:buChar char="-"/>
            </a:pPr>
            <a:r>
              <a:rPr lang="en-GB" sz="2800" b="1" dirty="0">
                <a:sym typeface="+mn-ea"/>
              </a:rPr>
              <a:t>Poor Communication: </a:t>
            </a:r>
            <a:r>
              <a:rPr lang="en-GB" sz="2800" dirty="0">
                <a:sym typeface="+mn-ea"/>
              </a:rPr>
              <a:t>Students might miss important announcements about date changes or venue updates because they didn't check the notice board.</a:t>
            </a:r>
          </a:p>
          <a:p>
            <a:pPr marL="457200" indent="-457200">
              <a:buFontTx/>
              <a:buChar char="-"/>
            </a:pPr>
            <a:r>
              <a:rPr lang="en-GB" sz="2800" b="1" dirty="0">
                <a:sym typeface="+mn-ea"/>
              </a:rPr>
              <a:t>Hard to Track</a:t>
            </a:r>
            <a:r>
              <a:rPr lang="en-GB" sz="2800" dirty="0">
                <a:sym typeface="+mn-ea"/>
              </a:rPr>
              <a:t>: It is very difficult for organizers to know exactly how many people are coming to an event until the very last minute.</a:t>
            </a:r>
          </a:p>
          <a:p>
            <a:pPr marL="457200" indent="-457200">
              <a:buFontTx/>
              <a:buChar char="-"/>
            </a:pPr>
            <a:r>
              <a:rPr lang="en-GB" sz="2800" dirty="0">
                <a:sym typeface="+mn-ea"/>
              </a:rPr>
              <a:t>There is a strong need for a modern, digital solution that replaces paper with a fast, reliable online system.</a:t>
            </a:r>
          </a:p>
          <a:p>
            <a:pPr marL="457200" indent="-457200">
              <a:buFontTx/>
              <a:buChar char="-"/>
            </a:pPr>
            <a:endParaRPr lang="en-GB" sz="2800" dirty="0">
              <a:sym typeface="+mn-ea"/>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5082325" cy="6488828"/>
          </a:xfrm>
          <a:prstGeom prst="rect">
            <a:avLst/>
          </a:prstGeom>
          <a:noFill/>
        </p:spPr>
        <p:txBody>
          <a:bodyPr wrap="square" rtlCol="0">
            <a:spAutoFit/>
          </a:bodyPr>
          <a:lstStyle/>
          <a:p>
            <a:pPr marL="457200" indent="-457200">
              <a:lnSpc>
                <a:spcPct val="150000"/>
              </a:lnSpc>
              <a:buFontTx/>
              <a:buChar char="-"/>
            </a:pPr>
            <a:r>
              <a:rPr lang="en-GB" sz="2800" dirty="0">
                <a:sym typeface="+mn-ea"/>
              </a:rPr>
              <a:t>The main goal of this project is to build a complete and secure website that solves all the problems of manual event management. Specifically, our objectives are:</a:t>
            </a:r>
          </a:p>
          <a:p>
            <a:pPr marL="457200" indent="-457200">
              <a:lnSpc>
                <a:spcPct val="150000"/>
              </a:lnSpc>
              <a:buFontTx/>
              <a:buChar char="-"/>
            </a:pPr>
            <a:r>
              <a:rPr lang="en-GB" sz="2800" b="1" dirty="0">
                <a:sym typeface="+mn-ea"/>
              </a:rPr>
              <a:t>Going Paperless</a:t>
            </a:r>
            <a:r>
              <a:rPr lang="en-GB" sz="2800" dirty="0">
                <a:sym typeface="+mn-ea"/>
              </a:rPr>
              <a:t>: To completely remove the need for paper forms by allowing online registrations.</a:t>
            </a:r>
          </a:p>
          <a:p>
            <a:pPr marL="457200" indent="-457200">
              <a:lnSpc>
                <a:spcPct val="150000"/>
              </a:lnSpc>
              <a:buFontTx/>
              <a:buChar char="-"/>
            </a:pPr>
            <a:r>
              <a:rPr lang="en-GB" sz="2800" b="1" dirty="0">
                <a:sym typeface="+mn-ea"/>
              </a:rPr>
              <a:t>Easy Tools for Staff: </a:t>
            </a:r>
            <a:r>
              <a:rPr lang="en-GB" sz="2800" dirty="0">
                <a:sym typeface="+mn-ea"/>
              </a:rPr>
              <a:t>To give college administrators a simple dashboard where they can add new events, update details, and manage student lists easily.</a:t>
            </a:r>
          </a:p>
          <a:p>
            <a:pPr marL="457200" indent="-457200">
              <a:lnSpc>
                <a:spcPct val="150000"/>
              </a:lnSpc>
              <a:buFontTx/>
              <a:buChar char="-"/>
            </a:pPr>
            <a:r>
              <a:rPr lang="en-GB" sz="2800" b="1" dirty="0">
                <a:sym typeface="+mn-ea"/>
              </a:rPr>
              <a:t>Quick Registration for Students: </a:t>
            </a:r>
            <a:r>
              <a:rPr lang="en-GB" sz="2800" dirty="0">
                <a:sym typeface="+mn-ea"/>
              </a:rPr>
              <a:t>To let students register for any event with just one click, without filling out long forms every time.</a:t>
            </a:r>
          </a:p>
          <a:p>
            <a:pPr marL="457200" indent="-457200">
              <a:lnSpc>
                <a:spcPct val="150000"/>
              </a:lnSpc>
              <a:buFontTx/>
              <a:buChar char="-"/>
            </a:pPr>
            <a:r>
              <a:rPr lang="en-GB" sz="2800" b="1" dirty="0">
                <a:sym typeface="+mn-ea"/>
              </a:rPr>
              <a:t>Automatic Updates</a:t>
            </a:r>
            <a:r>
              <a:rPr lang="en-GB" sz="2800" dirty="0">
                <a:sym typeface="+mn-ea"/>
              </a:rPr>
              <a:t>: To send automatic email confirmations and updates to students so they never miss out on important information.</a:t>
            </a:r>
          </a:p>
          <a:p>
            <a:pPr marL="457200" indent="-457200">
              <a:lnSpc>
                <a:spcPct val="150000"/>
              </a:lnSpc>
              <a:buFontTx/>
              <a:buChar char="-"/>
            </a:pPr>
            <a:r>
              <a:rPr lang="en-GB" sz="2800" b="1" dirty="0">
                <a:sym typeface="+mn-ea"/>
              </a:rPr>
              <a:t>Safe and Secure</a:t>
            </a:r>
            <a:r>
              <a:rPr lang="en-GB" sz="2800" dirty="0">
                <a:sym typeface="+mn-ea"/>
              </a:rPr>
              <a:t>: To protect user passwords and personal data using modern security methods.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526297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GB" altLang="en-US" sz="2800" dirty="0">
                <a:ln>
                  <a:noFill/>
                </a:ln>
                <a:effectLst/>
                <a:latin typeface="Times New Roman" panose="02020603050405020304" pitchFamily="18" charset="0"/>
                <a:cs typeface="Times New Roman" panose="02020603050405020304" pitchFamily="18" charset="0"/>
                <a:sym typeface="+mn-ea"/>
              </a:rPr>
              <a:t>We propose a complete web application divided into two main parts: the "frontend" (what the user sees on their screen) and the "backend" (the hidden engine that does the work). </a:t>
            </a:r>
          </a:p>
          <a:p>
            <a:pPr marL="0" marR="0" lvl="0" indent="0" algn="l" defTabSz="914400" rtl="0" eaLnBrk="0" fontAlgn="base" latinLnBrk="0" hangingPunct="0">
              <a:lnSpc>
                <a:spcPct val="100000"/>
              </a:lnSpc>
              <a:spcBef>
                <a:spcPct val="0"/>
              </a:spcBef>
              <a:spcAft>
                <a:spcPct val="0"/>
              </a:spcAft>
              <a:buClrTx/>
              <a:buSzTx/>
              <a:buFontTx/>
              <a:buChar char="•"/>
            </a:pPr>
            <a:r>
              <a:rPr lang="en-GB" altLang="en-US" sz="2800" b="1" dirty="0">
                <a:ln>
                  <a:noFill/>
                </a:ln>
                <a:effectLst/>
                <a:latin typeface="Times New Roman" panose="02020603050405020304" pitchFamily="18" charset="0"/>
                <a:cs typeface="Times New Roman" panose="02020603050405020304" pitchFamily="18" charset="0"/>
                <a:sym typeface="+mn-ea"/>
              </a:rPr>
              <a:t>The system recognizes two types of users: </a:t>
            </a:r>
            <a:r>
              <a:rPr lang="en-GB" altLang="en-US" sz="2800" dirty="0">
                <a:ln>
                  <a:noFill/>
                </a:ln>
                <a:effectLst/>
                <a:latin typeface="Times New Roman" panose="02020603050405020304" pitchFamily="18" charset="0"/>
                <a:cs typeface="Times New Roman" panose="02020603050405020304" pitchFamily="18" charset="0"/>
                <a:sym typeface="+mn-ea"/>
              </a:rPr>
              <a:t>"Administrators" (like teachers or event heads) and "Students". </a:t>
            </a:r>
          </a:p>
          <a:p>
            <a:pPr marL="0" marR="0" lvl="0" indent="0" algn="l" defTabSz="914400" rtl="0" eaLnBrk="0" fontAlgn="base" latinLnBrk="0" hangingPunct="0">
              <a:lnSpc>
                <a:spcPct val="100000"/>
              </a:lnSpc>
              <a:spcBef>
                <a:spcPct val="0"/>
              </a:spcBef>
              <a:spcAft>
                <a:spcPct val="0"/>
              </a:spcAft>
              <a:buClrTx/>
              <a:buSzTx/>
              <a:buFontTx/>
              <a:buChar char="•"/>
            </a:pPr>
            <a:r>
              <a:rPr lang="en-GB" altLang="en-US" sz="2800" b="1" dirty="0">
                <a:ln>
                  <a:noFill/>
                </a:ln>
                <a:effectLst/>
                <a:latin typeface="Times New Roman" panose="02020603050405020304" pitchFamily="18" charset="0"/>
                <a:cs typeface="Times New Roman" panose="02020603050405020304" pitchFamily="18" charset="0"/>
                <a:sym typeface="+mn-ea"/>
              </a:rPr>
              <a:t>For Students: </a:t>
            </a:r>
            <a:r>
              <a:rPr lang="en-GB" altLang="en-US" sz="2800" dirty="0">
                <a:ln>
                  <a:noFill/>
                </a:ln>
                <a:effectLst/>
                <a:latin typeface="Times New Roman" panose="02020603050405020304" pitchFamily="18" charset="0"/>
                <a:cs typeface="Times New Roman" panose="02020603050405020304" pitchFamily="18" charset="0"/>
                <a:sym typeface="+mn-ea"/>
              </a:rPr>
              <a:t>The system offers a beautiful and simple web page where they can securely log in, view a list of all upcoming college events, and book their spot instantly. If they forget their password, they can easily reset it using a secure code sent to their email.</a:t>
            </a:r>
          </a:p>
          <a:p>
            <a:pPr marL="0" marR="0" lvl="0" indent="0" algn="l" defTabSz="914400" rtl="0" eaLnBrk="0" fontAlgn="base" latinLnBrk="0" hangingPunct="0">
              <a:lnSpc>
                <a:spcPct val="100000"/>
              </a:lnSpc>
              <a:spcBef>
                <a:spcPct val="0"/>
              </a:spcBef>
              <a:spcAft>
                <a:spcPct val="0"/>
              </a:spcAft>
              <a:buClrTx/>
              <a:buSzTx/>
              <a:buFontTx/>
              <a:buChar char="•"/>
            </a:pPr>
            <a:r>
              <a:rPr lang="en-GB" altLang="en-US" sz="2800" b="1" dirty="0">
                <a:ln>
                  <a:noFill/>
                </a:ln>
                <a:effectLst/>
                <a:latin typeface="Times New Roman" panose="02020603050405020304" pitchFamily="18" charset="0"/>
                <a:cs typeface="Times New Roman" panose="02020603050405020304" pitchFamily="18" charset="0"/>
                <a:sym typeface="+mn-ea"/>
              </a:rPr>
              <a:t>For Administrators: </a:t>
            </a:r>
            <a:r>
              <a:rPr lang="en-GB" altLang="en-US" sz="2800" dirty="0">
                <a:ln>
                  <a:noFill/>
                </a:ln>
                <a:effectLst/>
                <a:latin typeface="Times New Roman" panose="02020603050405020304" pitchFamily="18" charset="0"/>
                <a:cs typeface="Times New Roman" panose="02020603050405020304" pitchFamily="18" charset="0"/>
                <a:sym typeface="+mn-ea"/>
              </a:rPr>
              <a:t>The system provides a powerful control panel. They can log in to create new events, set a limit on how many students can join, and watch the registration numbers grow in real-time. </a:t>
            </a:r>
          </a:p>
          <a:p>
            <a:pPr marL="0" marR="0" lvl="0" indent="0" algn="l" defTabSz="914400" rtl="0" eaLnBrk="0" fontAlgn="base" latinLnBrk="0" hangingPunct="0">
              <a:lnSpc>
                <a:spcPct val="100000"/>
              </a:lnSpc>
              <a:spcBef>
                <a:spcPct val="0"/>
              </a:spcBef>
              <a:spcAft>
                <a:spcPct val="0"/>
              </a:spcAft>
              <a:buClrTx/>
              <a:buSzTx/>
              <a:buFontTx/>
              <a:buChar char="•"/>
            </a:pPr>
            <a:r>
              <a:rPr lang="en-GB" altLang="en-US" sz="2800" dirty="0">
                <a:ln>
                  <a:noFill/>
                </a:ln>
                <a:effectLst/>
                <a:latin typeface="Times New Roman" panose="02020603050405020304" pitchFamily="18" charset="0"/>
                <a:cs typeface="Times New Roman" panose="02020603050405020304" pitchFamily="18" charset="0"/>
                <a:sym typeface="+mn-ea"/>
              </a:rPr>
              <a:t>Everything is tied together with an automatic email system that sends welcome emails and booking confirmations in    the background.</a:t>
            </a:r>
            <a:endParaRPr lang="en-IN" sz="2800" dirty="0">
              <a:latin typeface="Times New Roman" panose="02020603050405020304" pitchFamily="18" charset="0"/>
              <a:cs typeface="Times New Roman" panose="02020603050405020304" pitchFamily="18" charset="0"/>
            </a:endParaRPr>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450465" y="8185150"/>
            <a:ext cx="13866495" cy="1755140"/>
          </a:xfrm>
          <a:prstGeom prst="rect">
            <a:avLst/>
          </a:prstGeom>
          <a:noFill/>
        </p:spPr>
        <p:txBody>
          <a:bodyPr wrap="square" rtlCol="0">
            <a:noAutofit/>
          </a:bodyPr>
          <a:lstStyle/>
          <a:p>
            <a:r>
              <a:rPr lang="en-IN" altLang="en-US" sz="2400">
                <a:solidFill>
                  <a:schemeClr val="tx1"/>
                </a:solidFill>
                <a:uFillTx/>
              </a:rPr>
              <a:t>-  </a:t>
            </a:r>
            <a:r>
              <a:rPr lang="en-US" altLang="en-US" sz="2400">
                <a:solidFill>
                  <a:schemeClr val="tx1"/>
                </a:solidFill>
                <a:uFillTx/>
              </a:rPr>
              <a:t>The system is a web application with a frontend (user interface) and backend (processing system), supporting two user roles: Administrators and Students.</a:t>
            </a:r>
          </a:p>
          <a:p>
            <a:r>
              <a:rPr lang="en-IN" altLang="en-US" sz="2400">
                <a:solidFill>
                  <a:schemeClr val="tx1"/>
                </a:solidFill>
                <a:uFillTx/>
              </a:rPr>
              <a:t>-   </a:t>
            </a:r>
            <a:r>
              <a:rPr lang="en-US" altLang="en-US" sz="2400">
                <a:solidFill>
                  <a:schemeClr val="tx1"/>
                </a:solidFill>
                <a:uFillTx/>
              </a:rPr>
              <a:t>Students can log in, view events, register, and reset passwords, while administrators can manage events and monitor registrations, with automated email notifications for users.</a:t>
            </a:r>
          </a:p>
        </p:txBody>
      </p:sp>
      <p:pic>
        <p:nvPicPr>
          <p:cNvPr id="34" name="Picture 33" descr="Screenshot 2026-05-05 231713"/>
          <p:cNvPicPr>
            <a:picLocks noChangeAspect="1"/>
          </p:cNvPicPr>
          <p:nvPr/>
        </p:nvPicPr>
        <p:blipFill>
          <a:blip r:embed="rId2"/>
          <a:stretch>
            <a:fillRect/>
          </a:stretch>
        </p:blipFill>
        <p:spPr>
          <a:xfrm>
            <a:off x="6722110" y="1318260"/>
            <a:ext cx="6614795" cy="6410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6" name="Picture 5">
            <a:extLst>
              <a:ext uri="{FF2B5EF4-FFF2-40B4-BE49-F238E27FC236}">
                <a16:creationId xmlns:a16="http://schemas.microsoft.com/office/drawing/2014/main" id="{C0EE24E9-E04B-CCA2-12F5-A871E95FD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1146935"/>
            <a:ext cx="9296400" cy="86447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 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174115"/>
            <a:ext cx="15082520" cy="9173210"/>
          </a:xfrm>
          <a:prstGeom prst="rect">
            <a:avLst/>
          </a:prstGeom>
          <a:noFill/>
        </p:spPr>
        <p:txBody>
          <a:bodyPr wrap="square" rtlCol="0">
            <a:noAutofit/>
          </a:bodyPr>
          <a:lstStyle/>
          <a:p>
            <a:pPr indent="0">
              <a:buFontTx/>
              <a:buNone/>
            </a:pPr>
            <a:r>
              <a:rPr lang="en-GB" sz="2800" b="1" dirty="0">
                <a:latin typeface="Times New Roman" panose="02020603050405020304" pitchFamily="18" charset="0"/>
                <a:cs typeface="Times New Roman" panose="02020603050405020304" pitchFamily="18" charset="0"/>
                <a:sym typeface="+mn-ea"/>
              </a:rPr>
              <a:t>1.  Account Creation (Sign Up): </a:t>
            </a:r>
            <a:r>
              <a:rPr lang="en-GB" sz="2800" dirty="0">
                <a:latin typeface="Times New Roman" panose="02020603050405020304" pitchFamily="18" charset="0"/>
                <a:cs typeface="Times New Roman" panose="02020603050405020304" pitchFamily="18" charset="0"/>
                <a:sym typeface="+mn-ea"/>
              </a:rPr>
              <a:t>A new student visits the website, enters their details, and creates a secure account.</a:t>
            </a:r>
          </a:p>
          <a:p>
            <a:pPr indent="0">
              <a:buFontTx/>
              <a:buNone/>
            </a:pPr>
            <a:r>
              <a:rPr lang="en-GB" sz="2800" b="1" dirty="0">
                <a:latin typeface="Times New Roman" panose="02020603050405020304" pitchFamily="18" charset="0"/>
                <a:cs typeface="Times New Roman" panose="02020603050405020304" pitchFamily="18" charset="0"/>
                <a:sym typeface="+mn-ea"/>
              </a:rPr>
              <a:t>2.  Logging In</a:t>
            </a:r>
            <a:r>
              <a:rPr lang="en-GB" sz="2800" dirty="0">
                <a:latin typeface="Times New Roman" panose="02020603050405020304" pitchFamily="18" charset="0"/>
                <a:cs typeface="Times New Roman" panose="02020603050405020304" pitchFamily="18" charset="0"/>
                <a:sym typeface="+mn-ea"/>
              </a:rPr>
              <a:t>: The student logs into the platform using their email and password. The system checks their details to keep everything safe.</a:t>
            </a:r>
          </a:p>
          <a:p>
            <a:pPr indent="0">
              <a:buFontTx/>
              <a:buNone/>
            </a:pPr>
            <a:r>
              <a:rPr lang="en-GB" sz="2800" b="1" dirty="0">
                <a:latin typeface="Times New Roman" panose="02020603050405020304" pitchFamily="18" charset="0"/>
                <a:cs typeface="Times New Roman" panose="02020603050405020304" pitchFamily="18" charset="0"/>
                <a:sym typeface="+mn-ea"/>
              </a:rPr>
              <a:t>3.  Creating an Event (Admin Only): </a:t>
            </a:r>
            <a:r>
              <a:rPr lang="en-GB" sz="2800" dirty="0">
                <a:latin typeface="Times New Roman" panose="02020603050405020304" pitchFamily="18" charset="0"/>
                <a:cs typeface="Times New Roman" panose="02020603050405020304" pitchFamily="18" charset="0"/>
                <a:sym typeface="+mn-ea"/>
              </a:rPr>
              <a:t>A college administrator logs into their special dashboard. They click "Create Event" and fill in details like the event name, date, time, location, and the maximum number of seats available.</a:t>
            </a:r>
          </a:p>
          <a:p>
            <a:pPr indent="0">
              <a:buFontTx/>
              <a:buNone/>
            </a:pPr>
            <a:r>
              <a:rPr lang="en-GB" sz="2800" b="1" dirty="0">
                <a:latin typeface="Times New Roman" panose="02020603050405020304" pitchFamily="18" charset="0"/>
                <a:cs typeface="Times New Roman" panose="02020603050405020304" pitchFamily="18" charset="0"/>
                <a:sym typeface="+mn-ea"/>
              </a:rPr>
              <a:t>4.  Browsing Events: </a:t>
            </a:r>
            <a:r>
              <a:rPr lang="en-GB" sz="2800" dirty="0">
                <a:latin typeface="Times New Roman" panose="02020603050405020304" pitchFamily="18" charset="0"/>
                <a:cs typeface="Times New Roman" panose="02020603050405020304" pitchFamily="18" charset="0"/>
                <a:sym typeface="+mn-ea"/>
              </a:rPr>
              <a:t>The student goes to the home page and sees a </a:t>
            </a:r>
            <a:r>
              <a:rPr lang="en-GB" sz="2800" dirty="0" err="1">
                <a:latin typeface="Times New Roman" panose="02020603050405020304" pitchFamily="18" charset="0"/>
                <a:cs typeface="Times New Roman" panose="02020603050405020304" pitchFamily="18" charset="0"/>
                <a:sym typeface="+mn-ea"/>
              </a:rPr>
              <a:t>colorful</a:t>
            </a:r>
            <a:r>
              <a:rPr lang="en-GB" sz="2800" dirty="0">
                <a:latin typeface="Times New Roman" panose="02020603050405020304" pitchFamily="18" charset="0"/>
                <a:cs typeface="Times New Roman" panose="02020603050405020304" pitchFamily="18" charset="0"/>
                <a:sym typeface="+mn-ea"/>
              </a:rPr>
              <a:t>, easy-to-read list of all the events the admin just created.</a:t>
            </a:r>
          </a:p>
          <a:p>
            <a:pPr indent="0">
              <a:buFontTx/>
              <a:buNone/>
            </a:pPr>
            <a:r>
              <a:rPr lang="en-GB" sz="2800" b="1" dirty="0">
                <a:latin typeface="Times New Roman" panose="02020603050405020304" pitchFamily="18" charset="0"/>
                <a:cs typeface="Times New Roman" panose="02020603050405020304" pitchFamily="18" charset="0"/>
                <a:sym typeface="+mn-ea"/>
              </a:rPr>
              <a:t>5.  One-Click Registration: </a:t>
            </a:r>
            <a:r>
              <a:rPr lang="en-GB" sz="2800" dirty="0">
                <a:latin typeface="Times New Roman" panose="02020603050405020304" pitchFamily="18" charset="0"/>
                <a:cs typeface="Times New Roman" panose="02020603050405020304" pitchFamily="18" charset="0"/>
                <a:sym typeface="+mn-ea"/>
              </a:rPr>
              <a:t>The student finds an interesting event and simply clicks the "Register" button. The system immediately saves their spot.</a:t>
            </a:r>
          </a:p>
          <a:p>
            <a:pPr indent="0">
              <a:buFontTx/>
              <a:buNone/>
            </a:pPr>
            <a:r>
              <a:rPr lang="en-GB" sz="2800" b="1" dirty="0">
                <a:latin typeface="Times New Roman" panose="02020603050405020304" pitchFamily="18" charset="0"/>
                <a:cs typeface="Times New Roman" panose="02020603050405020304" pitchFamily="18" charset="0"/>
                <a:sym typeface="+mn-ea"/>
              </a:rPr>
              <a:t>6.  Email </a:t>
            </a:r>
            <a:r>
              <a:rPr lang="en-GB" sz="2800" b="1" dirty="0" err="1">
                <a:latin typeface="Times New Roman" panose="02020603050405020304" pitchFamily="18" charset="0"/>
                <a:cs typeface="Times New Roman" panose="02020603050405020304" pitchFamily="18" charset="0"/>
                <a:sym typeface="+mn-ea"/>
              </a:rPr>
              <a:t>Confirmation</a:t>
            </a:r>
            <a:r>
              <a:rPr lang="en-GB" sz="2800" dirty="0" err="1">
                <a:latin typeface="Times New Roman" panose="02020603050405020304" pitchFamily="18" charset="0"/>
                <a:cs typeface="Times New Roman" panose="02020603050405020304" pitchFamily="18" charset="0"/>
                <a:sym typeface="+mn-ea"/>
              </a:rPr>
              <a:t>:Right</a:t>
            </a:r>
            <a:r>
              <a:rPr lang="en-GB" sz="2800" dirty="0">
                <a:latin typeface="Times New Roman" panose="02020603050405020304" pitchFamily="18" charset="0"/>
                <a:cs typeface="Times New Roman" panose="02020603050405020304" pitchFamily="18" charset="0"/>
                <a:sym typeface="+mn-ea"/>
              </a:rPr>
              <a:t> after clicking register, the system's background email service sends a confirmation email to the student's inbox, thanking them for registering and providing the event details.</a:t>
            </a:r>
          </a:p>
          <a:p>
            <a:pPr indent="0">
              <a:buFontTx/>
              <a:buNone/>
            </a:pPr>
            <a:r>
              <a:rPr lang="en-GB" sz="2800" b="1" dirty="0">
                <a:latin typeface="Times New Roman" panose="02020603050405020304" pitchFamily="18" charset="0"/>
                <a:cs typeface="Times New Roman" panose="02020603050405020304" pitchFamily="18" charset="0"/>
                <a:sym typeface="+mn-ea"/>
              </a:rPr>
              <a:t>7.  Monitoring Progress</a:t>
            </a:r>
            <a:r>
              <a:rPr lang="en-GB" sz="2800" dirty="0">
                <a:latin typeface="Times New Roman" panose="02020603050405020304" pitchFamily="18" charset="0"/>
                <a:cs typeface="Times New Roman" panose="02020603050405020304" pitchFamily="18" charset="0"/>
                <a:sym typeface="+mn-ea"/>
              </a:rPr>
              <a:t>: The administrator can look at their dashboard to see a live count of how many students have registered for their event and view the complete list of names.</a:t>
            </a:r>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174115"/>
            <a:ext cx="15082520" cy="9173210"/>
          </a:xfrm>
          <a:prstGeom prst="rect">
            <a:avLst/>
          </a:prstGeom>
          <a:noFill/>
        </p:spPr>
        <p:txBody>
          <a:bodyPr wrap="square" rtlCol="0">
            <a:noAutofit/>
          </a:bodyPr>
          <a:lstStyle/>
          <a:p>
            <a:pPr indent="0">
              <a:buFontTx/>
              <a:buNone/>
            </a:pPr>
            <a:r>
              <a:rPr lang="en-IN" sz="2800" b="1" dirty="0">
                <a:sym typeface="+mn-ea"/>
              </a:rPr>
              <a:t>1. Frontend:</a:t>
            </a:r>
          </a:p>
          <a:p>
            <a:pPr indent="0">
              <a:buFontTx/>
              <a:buNone/>
            </a:pPr>
            <a:r>
              <a:rPr lang="en-IN" sz="2800" b="1" dirty="0">
                <a:sym typeface="+mn-ea"/>
              </a:rPr>
              <a:t>   </a:t>
            </a:r>
            <a:r>
              <a:rPr lang="en-IN" sz="2800" dirty="0">
                <a:sym typeface="+mn-ea"/>
              </a:rPr>
              <a:t>   The Frontend those are used are</a:t>
            </a:r>
            <a:r>
              <a:rPr lang="en-IN" sz="2800" b="1" dirty="0">
                <a:sym typeface="+mn-ea"/>
              </a:rPr>
              <a:t>:</a:t>
            </a:r>
            <a:endParaRPr lang="en-IN" sz="2800" dirty="0"/>
          </a:p>
          <a:p>
            <a:pPr indent="0">
              <a:buFontTx/>
              <a:buNone/>
            </a:pPr>
            <a:r>
              <a:rPr lang="en-IN" sz="2800" dirty="0">
                <a:sym typeface="+mn-ea"/>
              </a:rPr>
              <a:t>             - React JS</a:t>
            </a:r>
          </a:p>
          <a:p>
            <a:pPr indent="0">
              <a:buFontTx/>
              <a:buNone/>
            </a:pPr>
            <a:r>
              <a:rPr lang="en-IN" sz="2800" dirty="0">
                <a:sym typeface="+mn-ea"/>
              </a:rPr>
              <a:t>             - CSS</a:t>
            </a:r>
          </a:p>
          <a:p>
            <a:pPr indent="0">
              <a:buFontTx/>
              <a:buNone/>
            </a:pPr>
            <a:r>
              <a:rPr lang="en-IN" sz="2800" b="1" dirty="0">
                <a:sym typeface="+mn-ea"/>
              </a:rPr>
              <a:t>2. Backend:</a:t>
            </a:r>
          </a:p>
          <a:p>
            <a:pPr indent="0">
              <a:buFontTx/>
              <a:buNone/>
            </a:pPr>
            <a:r>
              <a:rPr lang="en-IN" sz="2800" dirty="0">
                <a:sym typeface="+mn-ea"/>
              </a:rPr>
              <a:t>      The Backend those are used in these are</a:t>
            </a:r>
            <a:r>
              <a:rPr lang="en-IN" sz="2800" b="1" dirty="0">
                <a:sym typeface="+mn-ea"/>
              </a:rPr>
              <a:t>:</a:t>
            </a:r>
            <a:endParaRPr lang="en-IN" sz="2800" dirty="0"/>
          </a:p>
          <a:p>
            <a:pPr indent="0">
              <a:buFontTx/>
              <a:buNone/>
            </a:pPr>
            <a:r>
              <a:rPr lang="en-IN" sz="2800" dirty="0">
                <a:sym typeface="+mn-ea"/>
              </a:rPr>
              <a:t>             -  Java </a:t>
            </a:r>
          </a:p>
          <a:p>
            <a:pPr indent="0">
              <a:buFontTx/>
              <a:buNone/>
            </a:pPr>
            <a:r>
              <a:rPr lang="en-IN" sz="2800" dirty="0">
                <a:sym typeface="+mn-ea"/>
              </a:rPr>
              <a:t>             -  Spring Boot </a:t>
            </a:r>
          </a:p>
          <a:p>
            <a:pPr indent="0">
              <a:buFontTx/>
              <a:buNone/>
            </a:pPr>
            <a:r>
              <a:rPr lang="en-IN" sz="2800" b="1" dirty="0">
                <a:sym typeface="+mn-ea"/>
              </a:rPr>
              <a:t>3. Database:</a:t>
            </a:r>
            <a:endParaRPr lang="en-IN" sz="2800" dirty="0"/>
          </a:p>
          <a:p>
            <a:pPr indent="0">
              <a:buFontTx/>
              <a:buNone/>
            </a:pPr>
            <a:r>
              <a:rPr lang="en-IN" sz="2800" dirty="0">
                <a:sym typeface="+mn-ea"/>
              </a:rPr>
              <a:t>             -  MySQL </a:t>
            </a:r>
          </a:p>
          <a:p>
            <a:pPr indent="0">
              <a:buFontTx/>
              <a:buNone/>
            </a:pPr>
            <a:r>
              <a:rPr lang="en-IN" sz="2800" b="1" dirty="0">
                <a:sym typeface="+mn-ea"/>
              </a:rPr>
              <a:t>4. Tools:</a:t>
            </a:r>
            <a:endParaRPr lang="en-IN" sz="2800" dirty="0"/>
          </a:p>
          <a:p>
            <a:pPr indent="0">
              <a:buFontTx/>
              <a:buNone/>
            </a:pPr>
            <a:r>
              <a:rPr lang="en-IN" sz="2800" dirty="0">
                <a:sym typeface="+mn-ea"/>
              </a:rPr>
              <a:t>             -  Eclipse IDE</a:t>
            </a:r>
          </a:p>
          <a:p>
            <a:pPr indent="0">
              <a:buFontTx/>
              <a:buNone/>
            </a:pPr>
            <a:r>
              <a:rPr lang="en-IN" altLang="en-US" sz="2800" dirty="0">
                <a:sym typeface="+mn-ea"/>
              </a:rPr>
              <a:t>             -  </a:t>
            </a:r>
            <a:r>
              <a:rPr lang="en-US" sz="2800" dirty="0">
                <a:sym typeface="+mn-ea"/>
              </a:rPr>
              <a:t>VS Code</a:t>
            </a:r>
            <a:r>
              <a:rPr lang="en-IN" altLang="en-US" sz="2800" dirty="0">
                <a:sym typeface="+mn-ea"/>
              </a:rPr>
              <a:t>          </a:t>
            </a:r>
            <a:r>
              <a:rPr lang="en-US" sz="2800" dirty="0">
                <a:sym typeface="+mn-ea"/>
              </a:rPr>
              <a:t> </a:t>
            </a:r>
          </a:p>
          <a:p>
            <a:pPr indent="0">
              <a:buFontTx/>
              <a:buNone/>
            </a:pPr>
            <a:r>
              <a:rPr lang="en-IN" altLang="en-US" sz="2800" b="1" dirty="0">
                <a:sym typeface="+mn-ea"/>
              </a:rPr>
              <a:t>5. </a:t>
            </a:r>
            <a:r>
              <a:rPr lang="en-US" sz="2800" b="1" dirty="0">
                <a:sym typeface="+mn-ea"/>
              </a:rPr>
              <a:t>Other Technologies:</a:t>
            </a:r>
            <a:endParaRPr lang="en-US" sz="2800" dirty="0"/>
          </a:p>
          <a:p>
            <a:pPr indent="0">
              <a:buFontTx/>
              <a:buNone/>
            </a:pPr>
            <a:r>
              <a:rPr lang="en-IN" altLang="en-US" sz="2800" dirty="0">
                <a:sym typeface="+mn-ea"/>
              </a:rPr>
              <a:t>             -  </a:t>
            </a:r>
            <a:r>
              <a:rPr lang="en-US" sz="2800" dirty="0">
                <a:sym typeface="+mn-ea"/>
              </a:rPr>
              <a:t>REST API </a:t>
            </a:r>
          </a:p>
          <a:p>
            <a:pPr indent="0">
              <a:buFontTx/>
              <a:buNone/>
            </a:pPr>
            <a:r>
              <a:rPr lang="en-IN" altLang="en-US" sz="2800" dirty="0">
                <a:sym typeface="+mn-ea"/>
              </a:rPr>
              <a:t>             -  </a:t>
            </a:r>
            <a:r>
              <a:rPr lang="en-US" sz="2800" dirty="0">
                <a:sym typeface="+mn-ea"/>
              </a:rPr>
              <a:t>JSON </a:t>
            </a:r>
          </a:p>
          <a:p>
            <a:pPr indent="0">
              <a:buFontTx/>
              <a:buNone/>
            </a:pPr>
            <a:r>
              <a:rPr lang="en-US" sz="2800" dirty="0">
                <a:sym typeface="+mn-ea"/>
              </a:rPr>
              <a:t>            -Java Mail Sender</a:t>
            </a:r>
          </a:p>
          <a:p>
            <a:pPr indent="0">
              <a:buFontTx/>
              <a:buNone/>
            </a:pPr>
            <a:endParaRPr lang="en-IN"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extLst>
      <p:ext uri="{BB962C8B-B14F-4D97-AF65-F5344CB8AC3E}">
        <p14:creationId xmlns:p14="http://schemas.microsoft.com/office/powerpoint/2010/main" val="2410790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0863580"/>
          </a:xfrm>
          <a:prstGeom prst="rect">
            <a:avLst/>
          </a:prstGeom>
          <a:noFill/>
        </p:spPr>
        <p:txBody>
          <a:bodyPr wrap="square" rtlCol="0">
            <a:spAutoFit/>
          </a:bodyPr>
          <a:lstStyle/>
          <a:p>
            <a:endParaRPr lang="en-IN" sz="2800" b="1" dirty="0"/>
          </a:p>
          <a:p>
            <a:r>
              <a:rPr lang="en-IN" sz="2800" b="1" dirty="0"/>
              <a:t>Module 1: User Management</a:t>
            </a:r>
          </a:p>
          <a:p>
            <a:endParaRPr lang="en-IN" sz="2800" b="1" dirty="0"/>
          </a:p>
          <a:p>
            <a:r>
              <a:rPr lang="en-IN" altLang="en-US" sz="2800" dirty="0"/>
              <a:t>     </a:t>
            </a:r>
            <a:r>
              <a:rPr lang="en-US" altLang="en-US" sz="2800" dirty="0"/>
              <a:t>Handles user operations in the Smart Campus Event Management System:</a:t>
            </a:r>
          </a:p>
          <a:p>
            <a:r>
              <a:rPr lang="en-US" altLang="en-US" sz="2800" dirty="0"/>
              <a:t>* User registration (students admins)</a:t>
            </a:r>
          </a:p>
          <a:p>
            <a:r>
              <a:rPr lang="en-US" altLang="en-US" sz="2800" dirty="0"/>
              <a:t>* Secure login and authentication</a:t>
            </a:r>
          </a:p>
          <a:p>
            <a:r>
              <a:rPr lang="en-US" altLang="en-US" sz="2800" dirty="0"/>
              <a:t>* Role-based access control</a:t>
            </a:r>
          </a:p>
          <a:p>
            <a:r>
              <a:rPr lang="en-US" altLang="en-US" sz="2800" dirty="0"/>
              <a:t>* Profile management</a:t>
            </a:r>
            <a:endParaRPr lang="en-US" altLang="en-US" sz="2800" b="1" dirty="0"/>
          </a:p>
          <a:p>
            <a:r>
              <a:rPr lang="en-US" altLang="en-US" sz="2800" dirty="0"/>
              <a:t>Ensures secure access and proper user role management.</a:t>
            </a:r>
          </a:p>
          <a:p>
            <a:endParaRPr lang="en-US" altLang="en-US" sz="2800" b="1" dirty="0"/>
          </a:p>
          <a:p>
            <a:r>
              <a:rPr lang="en-IN" sz="2800" b="1" dirty="0"/>
              <a:t>Module 2: Core Processing</a:t>
            </a:r>
          </a:p>
          <a:p>
            <a:endParaRPr lang="en-IN" sz="2800" b="1" dirty="0"/>
          </a:p>
          <a:p>
            <a:r>
              <a:rPr lang="en-IN" altLang="en-US" sz="2800" dirty="0"/>
              <a:t>     </a:t>
            </a:r>
            <a:r>
              <a:rPr lang="en-US" altLang="en-US" sz="2800" dirty="0"/>
              <a:t>Manages event-related operations:</a:t>
            </a:r>
          </a:p>
          <a:p>
            <a:r>
              <a:rPr lang="en-US" altLang="en-US" sz="2800" dirty="0"/>
              <a:t>Create, update, or cancel events</a:t>
            </a:r>
          </a:p>
          <a:p>
            <a:r>
              <a:rPr lang="en-US" altLang="en-US" sz="2800" dirty="0"/>
              <a:t>Event details: title, description, date, time, venue, participant limit</a:t>
            </a:r>
          </a:p>
          <a:p>
            <a:r>
              <a:rPr lang="en-US" altLang="en-US" sz="2800" dirty="0"/>
              <a:t>Users can view and search events</a:t>
            </a:r>
          </a:p>
          <a:p>
            <a:r>
              <a:rPr lang="en-US" altLang="en-US" sz="2800" dirty="0"/>
              <a:t>Ensures efficient event planning and scheduling within the campus.</a:t>
            </a:r>
            <a:r>
              <a:rPr lang="en-IN" sz="2800" dirty="0"/>
              <a:t>Manages data storage, retrieval, and ensures data integrity.</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29945"/>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sym typeface="+mn-ea"/>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399915"/>
          </a:xfrm>
          <a:prstGeom prst="rect">
            <a:avLst/>
          </a:prstGeom>
          <a:noFill/>
        </p:spPr>
        <p:txBody>
          <a:bodyPr wrap="square" rtlCol="0">
            <a:spAutoFit/>
          </a:bodyPr>
          <a:lstStyle/>
          <a:p>
            <a:pPr indent="0">
              <a:buFontTx/>
              <a:buNone/>
            </a:pPr>
            <a:r>
              <a:rPr lang="en-IN" altLang="en-US" sz="2800" dirty="0"/>
              <a:t>      </a:t>
            </a:r>
            <a:r>
              <a:rPr lang="en-US" altLang="en-US" sz="2800" b="1" dirty="0"/>
              <a:t>Module 3: Registration and Participation Management</a:t>
            </a:r>
          </a:p>
          <a:p>
            <a:pPr indent="0">
              <a:buFontTx/>
              <a:buNone/>
            </a:pPr>
            <a:endParaRPr lang="en-US" altLang="en-US" sz="2800" dirty="0"/>
          </a:p>
          <a:p>
            <a:pPr indent="0">
              <a:buFontTx/>
              <a:buNone/>
            </a:pPr>
            <a:r>
              <a:rPr lang="en-IN" altLang="en-US" sz="2800" dirty="0"/>
              <a:t>          </a:t>
            </a:r>
            <a:r>
              <a:rPr lang="en-US" altLang="en-US" sz="2800" dirty="0"/>
              <a:t>Handles event registration and participants:</a:t>
            </a:r>
          </a:p>
          <a:p>
            <a:pPr indent="0">
              <a:buFontTx/>
              <a:buNone/>
            </a:pPr>
            <a:r>
              <a:rPr lang="en-IN" altLang="en-US" sz="2800" dirty="0"/>
              <a:t>              </a:t>
            </a:r>
            <a:r>
              <a:rPr lang="en-US" altLang="en-US" sz="2800" dirty="0"/>
              <a:t>* Users can register for events</a:t>
            </a:r>
          </a:p>
          <a:p>
            <a:pPr indent="0">
              <a:buFontTx/>
              <a:buNone/>
            </a:pPr>
            <a:r>
              <a:rPr lang="en-IN" altLang="en-US" sz="2800" dirty="0"/>
              <a:t>              </a:t>
            </a:r>
            <a:r>
              <a:rPr lang="en-US" altLang="en-US" sz="2800" dirty="0"/>
              <a:t>* Stores participant details securely</a:t>
            </a:r>
          </a:p>
          <a:p>
            <a:pPr indent="0">
              <a:buFontTx/>
              <a:buNone/>
            </a:pPr>
            <a:r>
              <a:rPr lang="en-IN" altLang="en-US" sz="2800" dirty="0"/>
              <a:t>              </a:t>
            </a:r>
            <a:r>
              <a:rPr lang="en-US" altLang="en-US" sz="2800" dirty="0"/>
              <a:t>* Organizers can view and manage registrations</a:t>
            </a:r>
          </a:p>
          <a:p>
            <a:pPr indent="0">
              <a:buFontTx/>
              <a:buNone/>
            </a:pPr>
            <a:r>
              <a:rPr lang="en-IN" altLang="en-US" sz="2800" dirty="0"/>
              <a:t>              </a:t>
            </a:r>
            <a:r>
              <a:rPr lang="en-US" altLang="en-US" sz="2800" dirty="0"/>
              <a:t>* Tracks status (Registered, Approved, Cancelled, Attended)</a:t>
            </a:r>
          </a:p>
          <a:p>
            <a:pPr marL="457200" indent="-457200">
              <a:buFontTx/>
              <a:buChar char="-"/>
            </a:pPr>
            <a:endParaRPr lang="en-US" altLang="en-US" sz="2800" dirty="0"/>
          </a:p>
          <a:p>
            <a:pPr indent="0">
              <a:buFontTx/>
              <a:buNone/>
            </a:pPr>
            <a:r>
              <a:rPr lang="en-IN" altLang="en-US" sz="2800" dirty="0"/>
              <a:t>   </a:t>
            </a:r>
            <a:r>
              <a:rPr lang="en-US" altLang="en-US" sz="2800" dirty="0"/>
              <a:t>Ensures smooth coordination between organizers and participants.</a:t>
            </a:r>
          </a:p>
          <a:p>
            <a:pPr marL="457200" indent="-457200">
              <a:buFontTx/>
              <a:buChar char="-"/>
            </a:pPr>
            <a:endParaRPr lang="en-US"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3048635" y="8496935"/>
            <a:ext cx="12716510" cy="777240"/>
          </a:xfrm>
          <a:prstGeom prst="rect">
            <a:avLst/>
          </a:prstGeom>
          <a:noFill/>
        </p:spPr>
        <p:txBody>
          <a:bodyPr wrap="square" rtlCol="0">
            <a:noAutofit/>
          </a:bodyPr>
          <a:lstStyle/>
          <a:p>
            <a:r>
              <a:rPr lang="en-IN" altLang="en-US" sz="3200">
                <a:solidFill>
                  <a:schemeClr val="tx1"/>
                </a:solidFill>
                <a:uFillTx/>
              </a:rPr>
              <a:t>The above diagram shows the details of a person and the details like name of the person/student and their Email, Branch and their Phone number.</a:t>
            </a:r>
          </a:p>
        </p:txBody>
      </p:sp>
      <p:sp>
        <p:nvSpPr>
          <p:cNvPr id="3" name="AutoShape 2">
            <a:extLst>
              <a:ext uri="{FF2B5EF4-FFF2-40B4-BE49-F238E27FC236}">
                <a16:creationId xmlns:a16="http://schemas.microsoft.com/office/drawing/2014/main" id="{5C2DC162-493B-E668-53DD-D2924A951F4F}"/>
              </a:ext>
            </a:extLst>
          </p:cNvPr>
          <p:cNvSpPr>
            <a:spLocks noChangeAspect="1" noChangeArrowheads="1"/>
          </p:cNvSpPr>
          <p:nvPr/>
        </p:nvSpPr>
        <p:spPr bwMode="auto">
          <a:xfrm flipV="1">
            <a:off x="5029200" y="952500"/>
            <a:ext cx="8001000" cy="8001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4" name="Picture 33">
            <a:extLst>
              <a:ext uri="{FF2B5EF4-FFF2-40B4-BE49-F238E27FC236}">
                <a16:creationId xmlns:a16="http://schemas.microsoft.com/office/drawing/2014/main" id="{D7A68191-345D-DCFF-2944-951EBB080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481" y="1581120"/>
            <a:ext cx="12111038" cy="67437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4399915"/>
          </a:xfrm>
          <a:prstGeom prst="rect">
            <a:avLst/>
          </a:prstGeom>
          <a:noFill/>
        </p:spPr>
        <p:txBody>
          <a:bodyPr wrap="square" rtlCol="0">
            <a:spAutoFit/>
          </a:bodyPr>
          <a:lstStyle/>
          <a:p>
            <a:pPr marL="457200" indent="-457200">
              <a:buFontTx/>
              <a:buChar char="-"/>
            </a:pPr>
            <a:endParaRPr lang="en-US" sz="2800" dirty="0"/>
          </a:p>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11441822" y="1697977"/>
            <a:ext cx="5257800" cy="521970"/>
          </a:xfrm>
          <a:prstGeom prst="rect">
            <a:avLst/>
          </a:prstGeom>
          <a:noFill/>
        </p:spPr>
        <p:txBody>
          <a:bodyPr wrap="square" rtlCol="0">
            <a:spAutoFit/>
          </a:bodyPr>
          <a:lstStyle/>
          <a:p>
            <a:pPr marL="457200" indent="-457200">
              <a:buFontTx/>
              <a:buChar char="-"/>
            </a:pPr>
            <a:endParaRPr lang="en-IN" sz="2800" dirty="0"/>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2286000" y="2552700"/>
            <a:ext cx="6103620" cy="5517515"/>
          </a:xfrm>
          <a:prstGeom prst="rect">
            <a:avLst/>
          </a:prstGeom>
        </p:spPr>
      </p:pic>
      <p:pic>
        <p:nvPicPr>
          <p:cNvPr id="4" name="Picture 3"/>
          <p:cNvPicPr>
            <a:picLocks noChangeAspect="1"/>
          </p:cNvPicPr>
          <p:nvPr/>
        </p:nvPicPr>
        <p:blipFill>
          <a:blip r:embed="rId3"/>
          <a:stretch>
            <a:fillRect/>
          </a:stretch>
        </p:blipFill>
        <p:spPr>
          <a:xfrm>
            <a:off x="10591800" y="2475865"/>
            <a:ext cx="6309360" cy="54489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2152650" y="1323975"/>
            <a:ext cx="14161770" cy="6167120"/>
          </a:xfrm>
          <a:prstGeom prst="rect">
            <a:avLst/>
          </a:prstGeom>
        </p:spPr>
      </p:pic>
      <p:sp>
        <p:nvSpPr>
          <p:cNvPr id="4" name="Text Box 3"/>
          <p:cNvSpPr txBox="1"/>
          <p:nvPr/>
        </p:nvSpPr>
        <p:spPr>
          <a:xfrm>
            <a:off x="2173605" y="7902575"/>
            <a:ext cx="15369540" cy="2114550"/>
          </a:xfrm>
          <a:prstGeom prst="rect">
            <a:avLst/>
          </a:prstGeom>
          <a:noFill/>
        </p:spPr>
        <p:txBody>
          <a:bodyPr wrap="square" rtlCol="0">
            <a:noAutofit/>
          </a:bodyPr>
          <a:lstStyle/>
          <a:p>
            <a:r>
              <a:rPr lang="en-IN" altLang="en-US" sz="2800">
                <a:solidFill>
                  <a:schemeClr val="tx1"/>
                </a:solidFill>
                <a:uFillTx/>
              </a:rPr>
              <a:t>           </a:t>
            </a:r>
            <a:r>
              <a:rPr lang="en-US" altLang="en-US" sz="2800">
                <a:solidFill>
                  <a:schemeClr val="tx1"/>
                </a:solidFill>
                <a:uFillTx/>
              </a:rPr>
              <a:t>T</a:t>
            </a:r>
            <a:r>
              <a:rPr lang="en-IN" altLang="en-US" sz="2800">
                <a:solidFill>
                  <a:schemeClr val="tx1"/>
                </a:solidFill>
                <a:uFillTx/>
              </a:rPr>
              <a:t>he Above figure represents t</a:t>
            </a:r>
            <a:r>
              <a:rPr lang="en-US" altLang="en-US" sz="2800">
                <a:solidFill>
                  <a:schemeClr val="tx1"/>
                </a:solidFill>
                <a:uFillTx/>
              </a:rPr>
              <a:t>he Available Events page displays a list of all upcoming events with details such as date,time, venue, and description. It allows users to browse and select events based on their interests. Thispage helps users easily explore and choose events for registration.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p:cNvPicPr>
            <a:picLocks noChangeAspect="1"/>
          </p:cNvPicPr>
          <p:nvPr/>
        </p:nvPicPr>
        <p:blipFill>
          <a:blip r:embed="rId2"/>
          <a:stretch>
            <a:fillRect/>
          </a:stretch>
        </p:blipFill>
        <p:spPr>
          <a:xfrm>
            <a:off x="4810125" y="1638935"/>
            <a:ext cx="9859010" cy="6204585"/>
          </a:xfrm>
          <a:prstGeom prst="rect">
            <a:avLst/>
          </a:prstGeom>
        </p:spPr>
      </p:pic>
      <p:sp>
        <p:nvSpPr>
          <p:cNvPr id="5" name="Text Box 4"/>
          <p:cNvSpPr txBox="1"/>
          <p:nvPr/>
        </p:nvSpPr>
        <p:spPr>
          <a:xfrm>
            <a:off x="2971165" y="8128000"/>
            <a:ext cx="13707745" cy="1454785"/>
          </a:xfrm>
          <a:prstGeom prst="rect">
            <a:avLst/>
          </a:prstGeom>
          <a:noFill/>
        </p:spPr>
        <p:txBody>
          <a:bodyPr wrap="square" rtlCol="0">
            <a:noAutofit/>
          </a:bodyPr>
          <a:lstStyle/>
          <a:p>
            <a:r>
              <a:rPr lang="en-IN" altLang="en-US" sz="2800">
                <a:solidFill>
                  <a:schemeClr val="tx1"/>
                </a:solidFill>
                <a:uFillTx/>
              </a:rPr>
              <a:t>         </a:t>
            </a:r>
            <a:r>
              <a:rPr lang="en-US" altLang="en-US" sz="2800">
                <a:solidFill>
                  <a:schemeClr val="tx1"/>
                </a:solidFill>
                <a:uFillTx/>
              </a:rPr>
              <a:t>This screen displays the user profile in the Smart Campus system, showing personal details like name, role, email, department, and phone number.It allows users to view and manage their information in a clear and organized interface.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r>
              <a:rPr lang="en-US" sz="2800" b="1" dirty="0">
                <a:solidFill>
                  <a:srgbClr val="FF0000"/>
                </a:solidFill>
              </a:rPr>
              <a:t>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6967220" y="1231265"/>
            <a:ext cx="4128135" cy="6607810"/>
          </a:xfrm>
          <a:prstGeom prst="rect">
            <a:avLst/>
          </a:prstGeom>
        </p:spPr>
      </p:pic>
      <p:sp>
        <p:nvSpPr>
          <p:cNvPr id="4" name="Text Box 3"/>
          <p:cNvSpPr txBox="1"/>
          <p:nvPr/>
        </p:nvSpPr>
        <p:spPr>
          <a:xfrm>
            <a:off x="2609850" y="8399145"/>
            <a:ext cx="13849985" cy="1290320"/>
          </a:xfrm>
          <a:prstGeom prst="rect">
            <a:avLst/>
          </a:prstGeom>
          <a:noFill/>
        </p:spPr>
        <p:txBody>
          <a:bodyPr wrap="square" rtlCol="0">
            <a:noAutofit/>
          </a:bodyPr>
          <a:lstStyle/>
          <a:p>
            <a:r>
              <a:rPr lang="en-IN" altLang="en-US" sz="2800">
                <a:solidFill>
                  <a:schemeClr val="tx1"/>
                </a:solidFill>
                <a:uFillTx/>
              </a:rPr>
              <a:t>        An Email message will be sent to your mail if you have registered to any event and also gives you a remainder that you have to attend that particular Event.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3523615" y="1569720"/>
            <a:ext cx="12218035" cy="7734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460375"/>
          </a:xfrm>
          <a:prstGeom prst="rect">
            <a:avLst/>
          </a:prstGeom>
          <a:noFill/>
        </p:spPr>
        <p:txBody>
          <a:bodyPr wrap="square" rtlCol="0">
            <a:spAutoFit/>
          </a:bodyPr>
          <a:lstStyle/>
          <a:p>
            <a:pPr algn="ctr"/>
            <a:r>
              <a:rPr lang="en-US" sz="2400" b="1" dirty="0">
                <a:solidFill>
                  <a:srgbClr val="0033CC"/>
                </a:solidFill>
                <a:uFillTx/>
                <a:latin typeface="Times New Roman" panose="02020603050405020304" pitchFamily="18" charset="0"/>
                <a:cs typeface="Times New Roman" panose="02020603050405020304" pitchFamily="18" charset="0"/>
              </a:rPr>
              <a:t>ADVANTAGES &amp; LIMITATIONS</a:t>
            </a:r>
          </a:p>
        </p:txBody>
      </p:sp>
      <p:sp>
        <p:nvSpPr>
          <p:cNvPr id="3" name="Text Box 2"/>
          <p:cNvSpPr txBox="1"/>
          <p:nvPr/>
        </p:nvSpPr>
        <p:spPr>
          <a:xfrm>
            <a:off x="3704590" y="1730375"/>
            <a:ext cx="10011410" cy="7743825"/>
          </a:xfrm>
          <a:prstGeom prst="rect">
            <a:avLst/>
          </a:prstGeom>
          <a:noFill/>
        </p:spPr>
        <p:txBody>
          <a:bodyPr wrap="square" rtlCol="0" anchor="t">
            <a:noAutofit/>
          </a:bodyPr>
          <a:lstStyle/>
          <a:p>
            <a:pPr>
              <a:buNone/>
            </a:pPr>
            <a:r>
              <a:rPr lang="en-US" sz="2400" b="1" dirty="0">
                <a:solidFill>
                  <a:schemeClr val="tx1"/>
                </a:solidFill>
                <a:uFillTx/>
                <a:sym typeface="+mn-ea"/>
              </a:rPr>
              <a:t>ADVANTAGES</a:t>
            </a:r>
            <a:r>
              <a:rPr lang="en-IN" altLang="en-US" sz="2400" b="1" dirty="0">
                <a:solidFill>
                  <a:schemeClr val="tx1"/>
                </a:solidFill>
                <a:uFillTx/>
                <a:sym typeface="+mn-ea"/>
              </a:rPr>
              <a:t>:</a:t>
            </a:r>
          </a:p>
          <a:p>
            <a:pPr>
              <a:buNone/>
            </a:pPr>
            <a:endParaRPr lang="en-US" sz="2400" b="1" dirty="0">
              <a:solidFill>
                <a:schemeClr val="tx1"/>
              </a:solidFill>
              <a:uFillTx/>
              <a:sym typeface="+mn-ea"/>
            </a:endParaRP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Centralized system </a:t>
            </a: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Saves time </a:t>
            </a: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Easy event management </a:t>
            </a: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Real-time updates </a:t>
            </a: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Reduces paperwork </a:t>
            </a:r>
          </a:p>
          <a:p>
            <a:pPr>
              <a:buFont typeface="Arial" panose="020B0604020202020204" pitchFamily="34" charset="0"/>
              <a:buChar char="•"/>
            </a:pPr>
            <a:r>
              <a:rPr lang="en-IN" altLang="en-US" sz="2400" dirty="0">
                <a:solidFill>
                  <a:schemeClr val="tx1"/>
                </a:solidFill>
                <a:uFillTx/>
                <a:sym typeface="+mn-ea"/>
              </a:rPr>
              <a:t>   </a:t>
            </a:r>
            <a:r>
              <a:rPr lang="en-US" sz="2400" dirty="0">
                <a:solidFill>
                  <a:schemeClr val="tx1"/>
                </a:solidFill>
                <a:uFillTx/>
                <a:sym typeface="+mn-ea"/>
              </a:rPr>
              <a:t>Improves accuracy </a:t>
            </a:r>
          </a:p>
          <a:p>
            <a:r>
              <a:rPr lang="en-IN" altLang="en-US" sz="2400" dirty="0">
                <a:solidFill>
                  <a:schemeClr val="tx1"/>
                </a:solidFill>
                <a:uFillTx/>
                <a:sym typeface="+mn-ea"/>
              </a:rPr>
              <a:t>.   </a:t>
            </a:r>
            <a:r>
              <a:rPr lang="en-US" sz="2400" dirty="0">
                <a:solidFill>
                  <a:schemeClr val="tx1"/>
                </a:solidFill>
                <a:uFillTx/>
                <a:sym typeface="+mn-ea"/>
              </a:rPr>
              <a:t>User-friendly interface     </a:t>
            </a:r>
          </a:p>
          <a:p>
            <a:r>
              <a:rPr lang="en-US" sz="2400" dirty="0">
                <a:solidFill>
                  <a:schemeClr val="tx1"/>
                </a:solidFill>
                <a:uFillTx/>
                <a:sym typeface="+mn-ea"/>
              </a:rPr>
              <a:t>                                  </a:t>
            </a:r>
          </a:p>
          <a:p>
            <a:r>
              <a:rPr lang="en-US" sz="2400" dirty="0">
                <a:solidFill>
                  <a:schemeClr val="tx1"/>
                </a:solidFill>
                <a:uFillTx/>
                <a:sym typeface="+mn-ea"/>
              </a:rPr>
              <a:t>  </a:t>
            </a:r>
            <a:r>
              <a:rPr lang="en-US" sz="2400" b="1" dirty="0">
                <a:solidFill>
                  <a:schemeClr val="tx1"/>
                </a:solidFill>
                <a:uFillTx/>
                <a:sym typeface="+mn-ea"/>
              </a:rPr>
              <a:t>LIMITATIONS</a:t>
            </a:r>
            <a:r>
              <a:rPr lang="en-IN" altLang="en-US" sz="2400" b="1" dirty="0">
                <a:solidFill>
                  <a:schemeClr val="tx1"/>
                </a:solidFill>
                <a:uFillTx/>
                <a:sym typeface="+mn-ea"/>
              </a:rPr>
              <a:t>:</a:t>
            </a:r>
          </a:p>
          <a:p>
            <a:endParaRPr lang="en-US" sz="2400" b="1" dirty="0">
              <a:solidFill>
                <a:schemeClr val="tx1"/>
              </a:solidFill>
              <a:uFillTx/>
              <a:sym typeface="+mn-ea"/>
            </a:endParaRPr>
          </a:p>
          <a:p>
            <a:r>
              <a:rPr lang="en-IN" altLang="en-US" sz="2400" dirty="0">
                <a:solidFill>
                  <a:schemeClr val="tx1"/>
                </a:solidFill>
                <a:uFillTx/>
                <a:sym typeface="+mn-ea"/>
              </a:rPr>
              <a:t>-   </a:t>
            </a:r>
            <a:r>
              <a:rPr lang="en-US" sz="2400" dirty="0">
                <a:solidFill>
                  <a:schemeClr val="tx1"/>
                </a:solidFill>
                <a:uFillTx/>
                <a:sym typeface="+mn-ea"/>
              </a:rPr>
              <a:t>Requires internet connection </a:t>
            </a:r>
          </a:p>
          <a:p>
            <a:r>
              <a:rPr lang="en-IN" altLang="en-US" sz="2400" dirty="0">
                <a:solidFill>
                  <a:schemeClr val="tx1"/>
                </a:solidFill>
                <a:uFillTx/>
                <a:sym typeface="+mn-ea"/>
              </a:rPr>
              <a:t>-   </a:t>
            </a:r>
            <a:r>
              <a:rPr lang="en-US" sz="2400" dirty="0">
                <a:solidFill>
                  <a:schemeClr val="tx1"/>
                </a:solidFill>
                <a:uFillTx/>
                <a:sym typeface="+mn-ea"/>
              </a:rPr>
              <a:t>Security risks if not properly handled </a:t>
            </a:r>
          </a:p>
          <a:p>
            <a:r>
              <a:rPr lang="en-IN" altLang="en-US" sz="2400" dirty="0">
                <a:solidFill>
                  <a:schemeClr val="tx1"/>
                </a:solidFill>
                <a:uFillTx/>
                <a:sym typeface="+mn-ea"/>
              </a:rPr>
              <a:t>-   </a:t>
            </a:r>
            <a:r>
              <a:rPr lang="en-US" sz="2400" dirty="0">
                <a:solidFill>
                  <a:schemeClr val="tx1"/>
                </a:solidFill>
                <a:uFillTx/>
                <a:sym typeface="+mn-ea"/>
              </a:rPr>
              <a:t>Limited features in basic version </a:t>
            </a:r>
          </a:p>
          <a:p>
            <a:r>
              <a:rPr lang="en-IN" altLang="en-US" sz="2400" dirty="0">
                <a:solidFill>
                  <a:schemeClr val="tx1"/>
                </a:solidFill>
                <a:uFillTx/>
                <a:sym typeface="+mn-ea"/>
              </a:rPr>
              <a:t>-   </a:t>
            </a:r>
            <a:r>
              <a:rPr lang="en-US" sz="2400" dirty="0">
                <a:solidFill>
                  <a:schemeClr val="tx1"/>
                </a:solidFill>
                <a:uFillTx/>
                <a:sym typeface="+mn-ea"/>
              </a:rPr>
              <a:t>Needs regular maintenance </a:t>
            </a:r>
          </a:p>
          <a:p>
            <a:r>
              <a:rPr lang="en-IN" altLang="en-US" sz="2400" dirty="0">
                <a:solidFill>
                  <a:schemeClr val="tx1"/>
                </a:solidFill>
                <a:uFillTx/>
                <a:sym typeface="+mn-ea"/>
              </a:rPr>
              <a:t>-   </a:t>
            </a:r>
            <a:r>
              <a:rPr lang="en-US" sz="2400" dirty="0">
                <a:solidFill>
                  <a:schemeClr val="tx1"/>
                </a:solidFill>
                <a:uFillTx/>
                <a:sym typeface="+mn-ea"/>
              </a:rPr>
              <a:t>Scalability issues for large systems </a:t>
            </a:r>
          </a:p>
          <a:p>
            <a:r>
              <a:rPr lang="en-IN" altLang="en-US" sz="2400" dirty="0">
                <a:solidFill>
                  <a:schemeClr val="tx1"/>
                </a:solidFill>
                <a:uFillTx/>
                <a:sym typeface="+mn-ea"/>
              </a:rPr>
              <a:t>-   </a:t>
            </a:r>
            <a:r>
              <a:rPr lang="en-US" sz="2400" dirty="0">
                <a:solidFill>
                  <a:schemeClr val="tx1"/>
                </a:solidFill>
                <a:uFillTx/>
                <a:sym typeface="+mn-ea"/>
              </a:rPr>
              <a:t>Users need basic technical knowledge</a:t>
            </a:r>
          </a:p>
          <a:p>
            <a:pPr>
              <a:buFont typeface="Arial" panose="020B0604020202020204" pitchFamily="34" charset="0"/>
              <a:buChar char="•"/>
            </a:pPr>
            <a:endParaRPr lang="en-US" sz="2400" dirty="0">
              <a:solidFill>
                <a:schemeClr val="tx1"/>
              </a:solidFill>
              <a:uFillTx/>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1593</Words>
  <Application>Microsoft Office PowerPoint</Application>
  <PresentationFormat>Custom</PresentationFormat>
  <Paragraphs>367</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Cambria</vt:lpstr>
      <vt:lpstr>Times New Roman</vt:lpstr>
      <vt:lpstr>Calibri</vt:lpstr>
      <vt:lpstr>Gotham</vt:lpstr>
      <vt:lpstr>Gotham Bold Italics</vt:lpstr>
      <vt:lpstr>Bookman Old Style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Bhanu prakash</dc:creator>
  <cp:lastModifiedBy>Bhanu Prakash Minchala</cp:lastModifiedBy>
  <cp:revision>16</cp:revision>
  <dcterms:created xsi:type="dcterms:W3CDTF">2006-08-16T00:00:00Z</dcterms:created>
  <dcterms:modified xsi:type="dcterms:W3CDTF">2026-05-06T01:39:45Z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9F3C3F9E229642B2BE0FEBE79DB8A21F_13</vt:lpwstr>
  </property>
  <property fmtid="{D5CDD505-2E9C-101B-9397-08002B2CF9AE}" pid="3" name="KSOProductBuildVer">
    <vt:lpwstr>1033-12.1.0.25242</vt:lpwstr>
  </property>
</Properties>
</file>